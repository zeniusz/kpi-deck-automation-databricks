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itle 1"/>
          <p:cNvSpPr>
            <a:spLocks noGrp="1"/>
          </p:cNvSpPr>
          <p:nvPr/>
        </p:nvSpPr>
        <p:spPr>
          <a:xfrm>
            <a:off x="2585803" y="2926802"/>
            <a:ext cx="7511795" cy="2119042"/>
          </a:xfrm>
          <a:prstGeom prst="rect">
            <a:avLst/>
          </a:prstGeom>
        </p:spPr>
        <p:txBody>
          <a:bodyPr/>
          <a:lstStyle/>
          <a:p>
            <a:r>
              <a:rPr lang="en-US" sz="3600">
                <a:solidFill>
                  <a:srgbClr val="F2F3F6"/>
                </a:solidFill>
                <a:ea typeface="+mj-lt"/>
                <a:cs typeface="+mj-lt"/>
              </a:rPr>
              <a:t>Data and AI Analytics KPI Overview</a:t>
            </a:r>
          </a:p>
        </p:txBody>
      </p:sp>
      <p:sp>
        <p:nvSpPr>
          <p:cNvPr id="3" name="kpi:report_month_label"/>
          <p:cNvSpPr>
            <a:spLocks noGrp="1"/>
          </p:cNvSpPr>
          <p:nvPr/>
        </p:nvSpPr>
        <p:spPr>
          <a:xfrm>
            <a:off x="2585804" y="5080769"/>
            <a:ext cx="7511795" cy="350865"/>
          </a:xfrm>
          <a:prstGeom prst="rect">
            <a:avLst/>
          </a:prstGeom>
        </p:spPr>
        <p:txBody>
          <a:bodyPr/>
          <a:lstStyle/>
          <a:p>
            <a:r>
              <a:rPr lang="en-US" sz="1600">
                <a:solidFill>
                  <a:srgbClr val="9aa1b2"/>
                </a:solidFill>
                <a:cs typeface="Roboto Thin"/>
              </a:rPr>
              <a:t>June 2026 Data</a:t>
            </a:r>
            <a:endParaRPr lang="en-US"/>
          </a:p>
        </p:txBody>
      </p:sp>
      <p:sp>
        <p:nvSpPr>
          <p:cNvPr id="4" name="brand bar"/>
          <p:cNvSpPr/>
          <p:nvPr/>
        </p:nvSpPr>
        <p:spPr>
          <a:xfrm>
            <a:off x="0" y="0"/>
            <a:ext cx="420000" cy="6858000"/>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rand"/>
          <p:cNvSpPr txBox="1"/>
          <p:nvPr/>
        </p:nvSpPr>
        <p:spPr>
          <a:xfrm>
            <a:off x="9000000" y="500000"/>
            <a:ext cx="2700000" cy="400000"/>
          </a:xfrm>
          <a:prstGeom prst="rect">
            <a:avLst/>
          </a:prstGeom>
          <a:noFill/>
        </p:spPr>
        <p:txBody>
          <a:bodyPr wrap="none">
            <a:spAutoFit/>
          </a:bodyPr>
          <a:lstStyle/>
          <a:p>
            <a:r>
              <a:rPr sz="1600" b="1">
                <a:solidFill>
                  <a:srgbClr val="E4002B"/>
                </a:solidFill>
              </a:rPr>
              <a:t>CONTOSO GROUP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5" name="Shape 3"/>
          <p:cNvSpPr/>
          <p:nvPr/>
        </p:nvSpPr>
        <p:spPr>
          <a:xfrm>
            <a:off x="841248" y="1700784"/>
            <a:ext cx="10561320" cy="658368"/>
          </a:xfrm>
          <a:prstGeom prst="roundRect">
            <a:avLst>
              <a:gd name="adj" fmla="val 11111"/>
            </a:avLst>
          </a:prstGeom>
          <a:solidFill>
            <a:srgbClr val="F9FAFA"/>
          </a:solidFill>
          <a:ln w="9525">
            <a:solidFill>
              <a:srgbClr val="E1E5E8"/>
            </a:solidFill>
            <a:prstDash val="solid"/>
          </a:ln>
        </p:spPr>
        <p:txBody>
          <a:bodyPr/>
          <a:lstStyle/>
          <a:p>
            <a:endParaRPr lang="de-AT"/>
          </a:p>
        </p:txBody>
      </p:sp>
      <p:sp>
        <p:nvSpPr>
          <p:cNvPr id="6" name="Text 4"/>
          <p:cNvSpPr/>
          <p:nvPr/>
        </p:nvSpPr>
        <p:spPr>
          <a:xfrm>
            <a:off x="1033272" y="1772920"/>
            <a:ext cx="10168128" cy="256032"/>
          </a:xfrm>
          <a:prstGeom prst="rect">
            <a:avLst/>
          </a:prstGeom>
          <a:noFill/>
          <a:ln/>
        </p:spPr>
        <p:txBody>
          <a:bodyPr wrap="square" lIns="381" tIns="381" rIns="381" bIns="381" rtlCol="0" anchor="t">
            <a:noAutofit/>
          </a:bodyPr>
          <a:lstStyle/>
          <a:p>
            <a:pPr marL="0" indent="0" algn="l">
              <a:buNone/>
            </a:pPr>
            <a:r>
              <a:rPr lang="en-US" sz="1400">
                <a:solidFill>
                  <a:srgbClr val="33383B"/>
                </a:solidFill>
                <a:latin typeface="Roboto Light"/>
                <a:ea typeface="Roboto Light"/>
                <a:cs typeface="Roboto Light"/>
              </a:rPr>
              <a:t>This dashboard combines multiple data sources with different reporting cycles. Please consider the source date and update frequency when interpreting KPI results.</a:t>
            </a:r>
            <a:endParaRPr lang="en-US" sz="1400">
              <a:latin typeface="Roboto Light"/>
              <a:ea typeface="Roboto Light"/>
              <a:cs typeface="Roboto Light"/>
            </a:endParaRPr>
          </a:p>
        </p:txBody>
      </p:sp>
      <p:sp>
        <p:nvSpPr>
          <p:cNvPr id="7" name="Shape 5"/>
          <p:cNvSpPr/>
          <p:nvPr/>
        </p:nvSpPr>
        <p:spPr>
          <a:xfrm>
            <a:off x="841248" y="2633472"/>
            <a:ext cx="2468880" cy="1965960"/>
          </a:xfrm>
          <a:prstGeom prst="roundRect">
            <a:avLst>
              <a:gd name="adj" fmla="val 3721"/>
            </a:avLst>
          </a:prstGeom>
          <a:solidFill>
            <a:srgbClr val="F5F6F7"/>
          </a:solidFill>
          <a:ln w="9525">
            <a:solidFill>
              <a:srgbClr val="E2E5E8"/>
            </a:solidFill>
            <a:prstDash val="solid"/>
          </a:ln>
        </p:spPr>
        <p:txBody>
          <a:bodyPr/>
          <a:lstStyle/>
          <a:p>
            <a:endParaRPr lang="de-AT"/>
          </a:p>
        </p:txBody>
      </p:sp>
      <p:sp>
        <p:nvSpPr>
          <p:cNvPr id="8" name="Shape 6"/>
          <p:cNvSpPr/>
          <p:nvPr/>
        </p:nvSpPr>
        <p:spPr>
          <a:xfrm>
            <a:off x="841248" y="2633472"/>
            <a:ext cx="73152" cy="1965960"/>
          </a:xfrm>
          <a:prstGeom prst="rect">
            <a:avLst/>
          </a:prstGeom>
          <a:solidFill>
            <a:srgbClr val="9A1B2F"/>
          </a:solidFill>
          <a:ln w="12700">
            <a:solidFill>
              <a:srgbClr val="9A1B2F">
                <a:alpha val="0"/>
              </a:srgbClr>
            </a:solidFill>
            <a:prstDash val="solid"/>
          </a:ln>
        </p:spPr>
        <p:txBody>
          <a:bodyPr/>
          <a:lstStyle/>
          <a:p>
            <a:endParaRPr lang="de-AT"/>
          </a:p>
        </p:txBody>
      </p:sp>
      <p:sp>
        <p:nvSpPr>
          <p:cNvPr id="9" name="Shape 7"/>
          <p:cNvSpPr/>
          <p:nvPr/>
        </p:nvSpPr>
        <p:spPr>
          <a:xfrm>
            <a:off x="1042416" y="2816352"/>
            <a:ext cx="1033272" cy="237744"/>
          </a:xfrm>
          <a:prstGeom prst="roundRect">
            <a:avLst>
              <a:gd name="adj" fmla="val 30769"/>
            </a:avLst>
          </a:prstGeom>
          <a:solidFill>
            <a:srgbClr val="FFFFFF"/>
          </a:solidFill>
          <a:ln w="12700">
            <a:solidFill>
              <a:srgbClr val="FFFFFF">
                <a:alpha val="0"/>
              </a:srgbClr>
            </a:solidFill>
            <a:prstDash val="solid"/>
          </a:ln>
        </p:spPr>
        <p:txBody>
          <a:bodyPr/>
          <a:lstStyle/>
          <a:p>
            <a:endParaRPr lang="de-AT"/>
          </a:p>
        </p:txBody>
      </p:sp>
      <p:sp>
        <p:nvSpPr>
          <p:cNvPr id="10" name="Text 8"/>
          <p:cNvSpPr/>
          <p:nvPr/>
        </p:nvSpPr>
        <p:spPr>
          <a:xfrm>
            <a:off x="1217168" y="2864757"/>
            <a:ext cx="886968" cy="146304"/>
          </a:xfrm>
          <a:prstGeom prst="rect">
            <a:avLst/>
          </a:prstGeom>
          <a:noFill/>
          <a:ln/>
        </p:spPr>
        <p:txBody>
          <a:bodyPr wrap="square" lIns="381" tIns="381" rIns="381" bIns="381" rtlCol="0" anchor="t">
            <a:normAutofit/>
          </a:bodyPr>
          <a:lstStyle/>
          <a:p>
            <a:pPr marL="0" indent="0" algn="l">
              <a:buNone/>
            </a:pPr>
            <a:r>
              <a:rPr lang="en-US" sz="850" b="1">
                <a:solidFill>
                  <a:srgbClr val="9A1B2F"/>
                </a:solidFill>
                <a:latin typeface="Roboto Light"/>
                <a:ea typeface="Roboto Light"/>
                <a:cs typeface="Roboto Light"/>
              </a:rPr>
              <a:t>People data</a:t>
            </a:r>
            <a:endParaRPr lang="en-US" sz="850">
              <a:latin typeface="Roboto Light"/>
              <a:ea typeface="Roboto Light"/>
              <a:cs typeface="Roboto Light"/>
            </a:endParaRPr>
          </a:p>
        </p:txBody>
      </p:sp>
      <p:sp>
        <p:nvSpPr>
          <p:cNvPr id="11" name="Text 9"/>
          <p:cNvSpPr/>
          <p:nvPr/>
        </p:nvSpPr>
        <p:spPr>
          <a:xfrm>
            <a:off x="1042416" y="3163824"/>
            <a:ext cx="2057400" cy="292608"/>
          </a:xfrm>
          <a:prstGeom prst="rect">
            <a:avLst/>
          </a:prstGeom>
          <a:noFill/>
          <a:ln/>
        </p:spPr>
        <p:txBody>
          <a:bodyPr wrap="square" lIns="381" tIns="381" rIns="381" bIns="381" rtlCol="0" anchor="t">
            <a:normAutofit/>
          </a:bodyPr>
          <a:lstStyle/>
          <a:p>
            <a:pPr marL="0" indent="0" algn="l">
              <a:buNone/>
            </a:pPr>
            <a:r>
              <a:rPr lang="en-US" sz="1550" b="1">
                <a:solidFill>
                  <a:srgbClr val="33383B"/>
                </a:solidFill>
                <a:latin typeface="Roboto Light"/>
                <a:ea typeface="Roboto Light"/>
                <a:cs typeface="Roboto Light"/>
              </a:rPr>
              <a:t>Employee numbers</a:t>
            </a:r>
            <a:endParaRPr lang="en-US" sz="1550">
              <a:latin typeface="Roboto Light"/>
              <a:ea typeface="Roboto Light"/>
              <a:cs typeface="Roboto Light"/>
            </a:endParaRPr>
          </a:p>
        </p:txBody>
      </p:sp>
      <p:sp>
        <p:nvSpPr>
          <p:cNvPr id="12" name="Text 10"/>
          <p:cNvSpPr/>
          <p:nvPr/>
        </p:nvSpPr>
        <p:spPr>
          <a:xfrm>
            <a:off x="1049673" y="3488218"/>
            <a:ext cx="2057400" cy="256032"/>
          </a:xfrm>
          <a:prstGeom prst="rect">
            <a:avLst/>
          </a:prstGeom>
          <a:noFill/>
          <a:ln/>
        </p:spPr>
        <p:txBody>
          <a:bodyPr wrap="square" lIns="381" tIns="381" rIns="381" bIns="381" rtlCol="0" anchor="t">
            <a:normAutofit/>
          </a:bodyPr>
          <a:lstStyle/>
          <a:p>
            <a:pPr marL="0" indent="0" algn="l">
              <a:buNone/>
            </a:pPr>
            <a:r>
              <a:rPr lang="en-US" sz="1200" b="1">
                <a:solidFill>
                  <a:srgbClr val="9A1B2F"/>
                </a:solidFill>
                <a:latin typeface="Roboto Light"/>
                <a:ea typeface="Roboto Light"/>
                <a:cs typeface="Roboto Light"/>
              </a:rPr>
              <a:t>Current basis: 2025 Q4</a:t>
            </a:r>
            <a:endParaRPr lang="en-US" sz="1200">
              <a:latin typeface="Roboto Light"/>
              <a:ea typeface="Roboto Light"/>
              <a:cs typeface="Roboto Light"/>
            </a:endParaRPr>
          </a:p>
        </p:txBody>
      </p:sp>
      <p:sp>
        <p:nvSpPr>
          <p:cNvPr id="13" name="Text 11"/>
          <p:cNvSpPr/>
          <p:nvPr/>
        </p:nvSpPr>
        <p:spPr>
          <a:xfrm>
            <a:off x="1042416" y="3748314"/>
            <a:ext cx="2057400" cy="393192"/>
          </a:xfrm>
          <a:prstGeom prst="rect">
            <a:avLst/>
          </a:prstGeom>
          <a:noFill/>
          <a:ln/>
        </p:spPr>
        <p:txBody>
          <a:bodyPr wrap="square" lIns="381" tIns="381" rIns="381" bIns="381" rtlCol="0" anchor="t">
            <a:normAutofit/>
          </a:bodyPr>
          <a:lstStyle/>
          <a:p>
            <a:pPr marL="0" indent="0" algn="l">
              <a:buNone/>
            </a:pPr>
            <a:r>
              <a:rPr lang="en-US" sz="1120">
                <a:solidFill>
                  <a:srgbClr val="33383B"/>
                </a:solidFill>
                <a:latin typeface="Roboto Light"/>
                <a:ea typeface="Roboto Light"/>
                <a:cs typeface="Roboto Light"/>
              </a:rPr>
              <a:t>Will be updated once new employee data is available.</a:t>
            </a:r>
            <a:endParaRPr lang="en-US" sz="1120">
              <a:latin typeface="Roboto Light"/>
              <a:ea typeface="Roboto Light"/>
              <a:cs typeface="Roboto Light"/>
            </a:endParaRPr>
          </a:p>
        </p:txBody>
      </p:sp>
      <p:sp>
        <p:nvSpPr>
          <p:cNvPr id="14" name="Text 12"/>
          <p:cNvSpPr/>
          <p:nvPr/>
        </p:nvSpPr>
        <p:spPr>
          <a:xfrm>
            <a:off x="1042416" y="4306824"/>
            <a:ext cx="2057400" cy="182880"/>
          </a:xfrm>
          <a:prstGeom prst="rect">
            <a:avLst/>
          </a:prstGeom>
          <a:noFill/>
          <a:ln/>
        </p:spPr>
        <p:txBody>
          <a:bodyPr wrap="square" lIns="381" tIns="381" rIns="381" bIns="381" rtlCol="0" anchor="t">
            <a:normAutofit/>
          </a:bodyPr>
          <a:lstStyle/>
          <a:p>
            <a:pPr marL="0" indent="0" algn="l">
              <a:buNone/>
            </a:pPr>
            <a:r>
              <a:rPr lang="en-US" sz="950" b="1">
                <a:solidFill>
                  <a:srgbClr val="737B7F"/>
                </a:solidFill>
                <a:latin typeface="Roboto Light"/>
                <a:ea typeface="Roboto Light"/>
                <a:cs typeface="Roboto Light"/>
              </a:rPr>
              <a:t>Update: when new data is released</a:t>
            </a:r>
            <a:endParaRPr lang="en-US" sz="950">
              <a:latin typeface="Roboto Light"/>
              <a:ea typeface="Roboto Light"/>
              <a:cs typeface="Roboto Light"/>
            </a:endParaRPr>
          </a:p>
        </p:txBody>
      </p:sp>
      <p:sp>
        <p:nvSpPr>
          <p:cNvPr id="15" name="Shape 13"/>
          <p:cNvSpPr/>
          <p:nvPr/>
        </p:nvSpPr>
        <p:spPr>
          <a:xfrm>
            <a:off x="3538728" y="2633472"/>
            <a:ext cx="2468880" cy="1965960"/>
          </a:xfrm>
          <a:prstGeom prst="roundRect">
            <a:avLst>
              <a:gd name="adj" fmla="val 3721"/>
            </a:avLst>
          </a:prstGeom>
          <a:solidFill>
            <a:srgbClr val="EAF1F7"/>
          </a:solidFill>
          <a:ln w="9525">
            <a:solidFill>
              <a:srgbClr val="E2E5E8"/>
            </a:solidFill>
            <a:prstDash val="solid"/>
          </a:ln>
        </p:spPr>
        <p:txBody>
          <a:bodyPr/>
          <a:lstStyle/>
          <a:p>
            <a:endParaRPr lang="de-AT"/>
          </a:p>
        </p:txBody>
      </p:sp>
      <p:sp>
        <p:nvSpPr>
          <p:cNvPr id="16" name="Shape 14"/>
          <p:cNvSpPr/>
          <p:nvPr/>
        </p:nvSpPr>
        <p:spPr>
          <a:xfrm>
            <a:off x="3538728" y="2633472"/>
            <a:ext cx="73152" cy="1965960"/>
          </a:xfrm>
          <a:prstGeom prst="rect">
            <a:avLst/>
          </a:prstGeom>
          <a:solidFill>
            <a:srgbClr val="9A1B2F"/>
          </a:solidFill>
          <a:ln w="12700">
            <a:solidFill>
              <a:srgbClr val="9A1B2F">
                <a:alpha val="0"/>
              </a:srgbClr>
            </a:solidFill>
            <a:prstDash val="solid"/>
          </a:ln>
        </p:spPr>
        <p:txBody>
          <a:bodyPr/>
          <a:lstStyle/>
          <a:p>
            <a:endParaRPr lang="de-AT"/>
          </a:p>
        </p:txBody>
      </p:sp>
      <p:sp>
        <p:nvSpPr>
          <p:cNvPr id="17" name="Shape 15"/>
          <p:cNvSpPr/>
          <p:nvPr/>
        </p:nvSpPr>
        <p:spPr>
          <a:xfrm>
            <a:off x="3739896" y="2816352"/>
            <a:ext cx="1033272" cy="237744"/>
          </a:xfrm>
          <a:prstGeom prst="roundRect">
            <a:avLst>
              <a:gd name="adj" fmla="val 30769"/>
            </a:avLst>
          </a:prstGeom>
          <a:solidFill>
            <a:srgbClr val="FFFFFF"/>
          </a:solidFill>
          <a:ln w="12700">
            <a:solidFill>
              <a:srgbClr val="FFFFFF">
                <a:alpha val="0"/>
              </a:srgbClr>
            </a:solidFill>
            <a:prstDash val="solid"/>
          </a:ln>
        </p:spPr>
        <p:txBody>
          <a:bodyPr/>
          <a:lstStyle/>
          <a:p>
            <a:endParaRPr lang="de-AT"/>
          </a:p>
        </p:txBody>
      </p:sp>
      <p:sp>
        <p:nvSpPr>
          <p:cNvPr id="18" name="Text 16"/>
          <p:cNvSpPr/>
          <p:nvPr/>
        </p:nvSpPr>
        <p:spPr>
          <a:xfrm>
            <a:off x="3885619" y="2864757"/>
            <a:ext cx="886968" cy="146304"/>
          </a:xfrm>
          <a:prstGeom prst="rect">
            <a:avLst/>
          </a:prstGeom>
          <a:noFill/>
          <a:ln/>
        </p:spPr>
        <p:txBody>
          <a:bodyPr wrap="square" lIns="381" tIns="381" rIns="381" bIns="381" rtlCol="0" anchor="t">
            <a:normAutofit/>
          </a:bodyPr>
          <a:lstStyle/>
          <a:p>
            <a:r>
              <a:rPr lang="en-US" sz="850" b="1">
                <a:solidFill>
                  <a:srgbClr val="9A1B2F"/>
                </a:solidFill>
                <a:latin typeface="Roboto Light"/>
                <a:ea typeface="Roboto Light"/>
                <a:cs typeface="Roboto Light"/>
              </a:rPr>
              <a:t>Databricks data</a:t>
            </a:r>
            <a:endParaRPr lang="en-US" sz="850">
              <a:latin typeface="Roboto Light"/>
              <a:ea typeface="Roboto Light"/>
              <a:cs typeface="Roboto Light"/>
            </a:endParaRPr>
          </a:p>
        </p:txBody>
      </p:sp>
      <p:sp>
        <p:nvSpPr>
          <p:cNvPr id="19" name="Text 17"/>
          <p:cNvSpPr/>
          <p:nvPr/>
        </p:nvSpPr>
        <p:spPr>
          <a:xfrm>
            <a:off x="3739896" y="3163824"/>
            <a:ext cx="2057400" cy="292608"/>
          </a:xfrm>
          <a:prstGeom prst="rect">
            <a:avLst/>
          </a:prstGeom>
          <a:noFill/>
          <a:ln/>
        </p:spPr>
        <p:txBody>
          <a:bodyPr wrap="square" lIns="381" tIns="381" rIns="381" bIns="381" rtlCol="0" anchor="t">
            <a:normAutofit/>
          </a:bodyPr>
          <a:lstStyle/>
          <a:p>
            <a:pPr marL="0" indent="0" algn="l">
              <a:buNone/>
            </a:pPr>
            <a:r>
              <a:rPr lang="en-US" sz="1550" b="1">
                <a:solidFill>
                  <a:srgbClr val="33383B"/>
                </a:solidFill>
                <a:latin typeface="Roboto Light"/>
                <a:ea typeface="Roboto Light"/>
                <a:cs typeface="Roboto Light"/>
              </a:rPr>
              <a:t>Databricks trainings</a:t>
            </a:r>
            <a:endParaRPr lang="en-US" sz="1550">
              <a:latin typeface="Roboto Light"/>
              <a:ea typeface="Roboto Light"/>
              <a:cs typeface="Roboto Light"/>
            </a:endParaRPr>
          </a:p>
        </p:txBody>
      </p:sp>
      <p:sp>
        <p:nvSpPr>
          <p:cNvPr id="20" name="Text 18"/>
          <p:cNvSpPr/>
          <p:nvPr/>
        </p:nvSpPr>
        <p:spPr>
          <a:xfrm>
            <a:off x="3739896" y="3488218"/>
            <a:ext cx="2057400" cy="256032"/>
          </a:xfrm>
          <a:prstGeom prst="rect">
            <a:avLst/>
          </a:prstGeom>
          <a:noFill/>
          <a:ln/>
        </p:spPr>
        <p:txBody>
          <a:bodyPr wrap="square" lIns="381" tIns="381" rIns="381" bIns="381" rtlCol="0" anchor="t">
            <a:normAutofit/>
          </a:bodyPr>
          <a:lstStyle/>
          <a:p>
            <a:pPr marL="0" indent="0" algn="l">
              <a:buNone/>
            </a:pPr>
            <a:r>
              <a:rPr lang="en-US" sz="1230" b="1">
                <a:solidFill>
                  <a:srgbClr val="9A1B2F"/>
                </a:solidFill>
                <a:latin typeface="Roboto Light"/>
                <a:ea typeface="Roboto Light"/>
                <a:cs typeface="Roboto Light"/>
              </a:rPr>
              <a:t>Current data until 2026.06</a:t>
            </a:r>
            <a:endParaRPr lang="en-US" sz="1230">
              <a:latin typeface="Roboto Light"/>
              <a:ea typeface="Roboto Light"/>
              <a:cs typeface="Roboto Light"/>
            </a:endParaRPr>
          </a:p>
        </p:txBody>
      </p:sp>
      <p:sp>
        <p:nvSpPr>
          <p:cNvPr id="21" name="Text 19"/>
          <p:cNvSpPr/>
          <p:nvPr/>
        </p:nvSpPr>
        <p:spPr>
          <a:xfrm>
            <a:off x="3739896" y="3741057"/>
            <a:ext cx="2057400" cy="393192"/>
          </a:xfrm>
          <a:prstGeom prst="rect">
            <a:avLst/>
          </a:prstGeom>
          <a:noFill/>
          <a:ln/>
        </p:spPr>
        <p:txBody>
          <a:bodyPr wrap="square" lIns="381" tIns="381" rIns="381" bIns="381" rtlCol="0" anchor="t">
            <a:noAutofit/>
          </a:bodyPr>
          <a:lstStyle/>
          <a:p>
            <a:pPr marL="0" indent="0" algn="l">
              <a:buNone/>
            </a:pPr>
            <a:r>
              <a:rPr lang="en-US" sz="1100">
                <a:solidFill>
                  <a:srgbClr val="33383B"/>
                </a:solidFill>
                <a:latin typeface="Roboto Light"/>
                <a:ea typeface="Roboto Light"/>
                <a:cs typeface="Roboto Light"/>
              </a:rPr>
              <a:t>Sourced from Beacon and the Group Portal. Training figures include registrations.</a:t>
            </a:r>
            <a:endParaRPr lang="en-US" sz="1100">
              <a:latin typeface="Roboto Light"/>
              <a:ea typeface="Roboto Light"/>
              <a:cs typeface="Roboto Light"/>
            </a:endParaRPr>
          </a:p>
        </p:txBody>
      </p:sp>
      <p:sp>
        <p:nvSpPr>
          <p:cNvPr id="22" name="Text 20"/>
          <p:cNvSpPr/>
          <p:nvPr/>
        </p:nvSpPr>
        <p:spPr>
          <a:xfrm>
            <a:off x="3732639" y="4306824"/>
            <a:ext cx="2057400" cy="182880"/>
          </a:xfrm>
          <a:prstGeom prst="rect">
            <a:avLst/>
          </a:prstGeom>
          <a:noFill/>
          <a:ln/>
        </p:spPr>
        <p:txBody>
          <a:bodyPr wrap="square" lIns="381" tIns="381" rIns="381" bIns="381" rtlCol="0" anchor="t">
            <a:normAutofit/>
          </a:bodyPr>
          <a:lstStyle/>
          <a:p>
            <a:pPr marL="0" indent="0" algn="l">
              <a:buNone/>
            </a:pPr>
            <a:r>
              <a:rPr lang="en-US" sz="980" b="1">
                <a:solidFill>
                  <a:srgbClr val="737B7F"/>
                </a:solidFill>
                <a:latin typeface="Roboto Light"/>
                <a:ea typeface="Roboto Light"/>
                <a:cs typeface="Roboto Light"/>
              </a:rPr>
              <a:t>Update: monthly</a:t>
            </a:r>
            <a:endParaRPr lang="en-US" sz="980">
              <a:latin typeface="Roboto Light"/>
              <a:ea typeface="Roboto Light"/>
              <a:cs typeface="Roboto Light"/>
            </a:endParaRPr>
          </a:p>
        </p:txBody>
      </p:sp>
      <p:sp>
        <p:nvSpPr>
          <p:cNvPr id="23" name="Shape 21"/>
          <p:cNvSpPr/>
          <p:nvPr/>
        </p:nvSpPr>
        <p:spPr>
          <a:xfrm>
            <a:off x="6236208" y="2633472"/>
            <a:ext cx="2468880" cy="1965960"/>
          </a:xfrm>
          <a:prstGeom prst="roundRect">
            <a:avLst>
              <a:gd name="adj" fmla="val 3721"/>
            </a:avLst>
          </a:prstGeom>
          <a:solidFill>
            <a:srgbClr val="EAF3EF"/>
          </a:solidFill>
          <a:ln w="9525">
            <a:solidFill>
              <a:srgbClr val="E2E5E8"/>
            </a:solidFill>
            <a:prstDash val="solid"/>
          </a:ln>
        </p:spPr>
        <p:txBody>
          <a:bodyPr/>
          <a:lstStyle/>
          <a:p>
            <a:endParaRPr lang="de-AT"/>
          </a:p>
        </p:txBody>
      </p:sp>
      <p:sp>
        <p:nvSpPr>
          <p:cNvPr id="24" name="Shape 22"/>
          <p:cNvSpPr/>
          <p:nvPr/>
        </p:nvSpPr>
        <p:spPr>
          <a:xfrm>
            <a:off x="6236208" y="2633472"/>
            <a:ext cx="73152" cy="1965960"/>
          </a:xfrm>
          <a:prstGeom prst="rect">
            <a:avLst/>
          </a:prstGeom>
          <a:solidFill>
            <a:srgbClr val="9A1B2F"/>
          </a:solidFill>
          <a:ln w="12700">
            <a:solidFill>
              <a:srgbClr val="9A1B2F">
                <a:alpha val="0"/>
              </a:srgbClr>
            </a:solidFill>
            <a:prstDash val="solid"/>
          </a:ln>
        </p:spPr>
        <p:txBody>
          <a:bodyPr/>
          <a:lstStyle/>
          <a:p>
            <a:endParaRPr lang="de-AT"/>
          </a:p>
        </p:txBody>
      </p:sp>
      <p:sp>
        <p:nvSpPr>
          <p:cNvPr id="25" name="Shape 23"/>
          <p:cNvSpPr/>
          <p:nvPr/>
        </p:nvSpPr>
        <p:spPr>
          <a:xfrm>
            <a:off x="6437376" y="2816352"/>
            <a:ext cx="1033272" cy="237744"/>
          </a:xfrm>
          <a:prstGeom prst="roundRect">
            <a:avLst>
              <a:gd name="adj" fmla="val 30769"/>
            </a:avLst>
          </a:prstGeom>
          <a:solidFill>
            <a:srgbClr val="FFFFFF"/>
          </a:solidFill>
          <a:ln w="12700">
            <a:solidFill>
              <a:srgbClr val="FFFFFF">
                <a:alpha val="0"/>
              </a:srgbClr>
            </a:solidFill>
            <a:prstDash val="solid"/>
          </a:ln>
        </p:spPr>
        <p:txBody>
          <a:bodyPr/>
          <a:lstStyle/>
          <a:p>
            <a:endParaRPr lang="de-AT"/>
          </a:p>
        </p:txBody>
      </p:sp>
      <p:sp>
        <p:nvSpPr>
          <p:cNvPr id="26" name="Text 24"/>
          <p:cNvSpPr/>
          <p:nvPr/>
        </p:nvSpPr>
        <p:spPr>
          <a:xfrm>
            <a:off x="6510528" y="2864757"/>
            <a:ext cx="886968" cy="146304"/>
          </a:xfrm>
          <a:prstGeom prst="rect">
            <a:avLst/>
          </a:prstGeom>
          <a:noFill/>
          <a:ln/>
        </p:spPr>
        <p:txBody>
          <a:bodyPr wrap="square" lIns="381" tIns="381" rIns="381" bIns="381" rtlCol="0" anchor="t">
            <a:normAutofit/>
          </a:bodyPr>
          <a:lstStyle/>
          <a:p>
            <a:endParaRPr lang="en-US" sz="850" b="1">
              <a:solidFill>
                <a:srgbClr val="9A1B2F"/>
              </a:solidFill>
              <a:latin typeface="Roboto Light"/>
              <a:ea typeface="Roboto Light"/>
              <a:cs typeface="Roboto Light"/>
            </a:endParaRPr>
          </a:p>
        </p:txBody>
      </p:sp>
      <p:sp>
        <p:nvSpPr>
          <p:cNvPr id="27" name="Text 25"/>
          <p:cNvSpPr/>
          <p:nvPr/>
        </p:nvSpPr>
        <p:spPr>
          <a:xfrm>
            <a:off x="6437376" y="3163824"/>
            <a:ext cx="2057400" cy="292608"/>
          </a:xfrm>
          <a:prstGeom prst="rect">
            <a:avLst/>
          </a:prstGeom>
          <a:noFill/>
          <a:ln/>
        </p:spPr>
        <p:txBody>
          <a:bodyPr wrap="square" lIns="381" tIns="381" rIns="381" bIns="381" rtlCol="0" anchor="t">
            <a:normAutofit/>
          </a:bodyPr>
          <a:lstStyle/>
          <a:p>
            <a:pPr marL="0" indent="0" algn="l">
              <a:buNone/>
            </a:pPr>
            <a:r>
              <a:rPr lang="en-US" sz="1550" b="1">
                <a:solidFill>
                  <a:srgbClr val="33383B"/>
                </a:solidFill>
                <a:latin typeface="Roboto Light"/>
                <a:ea typeface="Roboto Light"/>
                <a:cs typeface="Roboto Light"/>
              </a:rPr>
              <a:t>Data &amp; AI Community</a:t>
            </a:r>
            <a:endParaRPr lang="en-US" sz="1550">
              <a:latin typeface="Roboto Light"/>
              <a:ea typeface="Roboto Light"/>
              <a:cs typeface="Roboto Light"/>
            </a:endParaRPr>
          </a:p>
        </p:txBody>
      </p:sp>
      <p:sp>
        <p:nvSpPr>
          <p:cNvPr id="28" name="Text 26"/>
          <p:cNvSpPr/>
          <p:nvPr/>
        </p:nvSpPr>
        <p:spPr>
          <a:xfrm>
            <a:off x="6437376" y="3488218"/>
            <a:ext cx="2057400" cy="256032"/>
          </a:xfrm>
          <a:prstGeom prst="rect">
            <a:avLst/>
          </a:prstGeom>
          <a:noFill/>
          <a:ln/>
        </p:spPr>
        <p:txBody>
          <a:bodyPr wrap="square" lIns="381" tIns="381" rIns="381" bIns="381" rtlCol="0" anchor="t">
            <a:normAutofit/>
          </a:bodyPr>
          <a:lstStyle/>
          <a:p>
            <a:pPr marL="0" indent="0" algn="l">
              <a:buNone/>
            </a:pPr>
            <a:r>
              <a:rPr lang="en-US" sz="1230" b="1">
                <a:solidFill>
                  <a:srgbClr val="9A1B2F"/>
                </a:solidFill>
                <a:latin typeface="Roboto Light"/>
                <a:ea typeface="Roboto Light"/>
                <a:cs typeface="Roboto Light"/>
              </a:rPr>
              <a:t>Current data until 2026.06</a:t>
            </a:r>
            <a:endParaRPr lang="en-US" sz="1230">
              <a:latin typeface="Roboto Light"/>
              <a:ea typeface="Roboto Light"/>
              <a:cs typeface="Roboto Light"/>
            </a:endParaRPr>
          </a:p>
        </p:txBody>
      </p:sp>
      <p:sp>
        <p:nvSpPr>
          <p:cNvPr id="29" name="Text 27"/>
          <p:cNvSpPr/>
          <p:nvPr/>
        </p:nvSpPr>
        <p:spPr>
          <a:xfrm>
            <a:off x="6437376" y="3755571"/>
            <a:ext cx="2057400" cy="393192"/>
          </a:xfrm>
          <a:prstGeom prst="rect">
            <a:avLst/>
          </a:prstGeom>
          <a:noFill/>
          <a:ln/>
        </p:spPr>
        <p:txBody>
          <a:bodyPr wrap="square" lIns="381" tIns="381" rIns="381" bIns="381" rtlCol="0" anchor="t">
            <a:normAutofit fontScale="92500" lnSpcReduction="20000"/>
          </a:bodyPr>
          <a:lstStyle/>
          <a:p>
            <a:pPr marL="0" indent="0" algn="l">
              <a:buNone/>
            </a:pPr>
            <a:r>
              <a:rPr lang="en-US" sz="1120">
                <a:solidFill>
                  <a:srgbClr val="33383B"/>
                </a:solidFill>
                <a:latin typeface="Roboto Light"/>
                <a:ea typeface="Roboto Light"/>
                <a:cs typeface="Roboto Light"/>
              </a:rPr>
              <a:t>Sourced from Beacon and the Group Portal. Community figures include registrations.</a:t>
            </a:r>
            <a:endParaRPr lang="en-US" sz="1120">
              <a:latin typeface="Roboto Light"/>
              <a:ea typeface="Roboto Light"/>
              <a:cs typeface="Roboto Light"/>
            </a:endParaRPr>
          </a:p>
        </p:txBody>
      </p:sp>
      <p:sp>
        <p:nvSpPr>
          <p:cNvPr id="30" name="Text 28"/>
          <p:cNvSpPr/>
          <p:nvPr/>
        </p:nvSpPr>
        <p:spPr>
          <a:xfrm>
            <a:off x="6437376" y="4306824"/>
            <a:ext cx="2057400" cy="182880"/>
          </a:xfrm>
          <a:prstGeom prst="rect">
            <a:avLst/>
          </a:prstGeom>
          <a:noFill/>
          <a:ln/>
        </p:spPr>
        <p:txBody>
          <a:bodyPr wrap="square" lIns="381" tIns="381" rIns="381" bIns="381" rtlCol="0" anchor="t">
            <a:normAutofit/>
          </a:bodyPr>
          <a:lstStyle/>
          <a:p>
            <a:pPr marL="0" indent="0" algn="l">
              <a:buNone/>
            </a:pPr>
            <a:r>
              <a:rPr lang="en-US" sz="980" b="1">
                <a:solidFill>
                  <a:srgbClr val="737B7F"/>
                </a:solidFill>
                <a:latin typeface="Roboto Light"/>
                <a:ea typeface="Roboto Light"/>
                <a:cs typeface="Roboto Light"/>
              </a:rPr>
              <a:t>Update: monthly</a:t>
            </a:r>
            <a:endParaRPr lang="en-US" sz="980">
              <a:latin typeface="Roboto Light"/>
              <a:ea typeface="Roboto Light"/>
              <a:cs typeface="Roboto Light"/>
            </a:endParaRPr>
          </a:p>
        </p:txBody>
      </p:sp>
      <p:sp>
        <p:nvSpPr>
          <p:cNvPr id="31" name="Shape 29"/>
          <p:cNvSpPr/>
          <p:nvPr/>
        </p:nvSpPr>
        <p:spPr>
          <a:xfrm>
            <a:off x="8933688" y="2633472"/>
            <a:ext cx="2468880" cy="1965960"/>
          </a:xfrm>
          <a:prstGeom prst="roundRect">
            <a:avLst>
              <a:gd name="adj" fmla="val 3721"/>
            </a:avLst>
          </a:prstGeom>
          <a:solidFill>
            <a:srgbClr val="F7F2E8"/>
          </a:solidFill>
          <a:ln w="9525">
            <a:solidFill>
              <a:srgbClr val="E2E5E8"/>
            </a:solidFill>
            <a:prstDash val="solid"/>
          </a:ln>
        </p:spPr>
        <p:txBody>
          <a:bodyPr/>
          <a:lstStyle/>
          <a:p>
            <a:endParaRPr lang="de-AT"/>
          </a:p>
        </p:txBody>
      </p:sp>
      <p:sp>
        <p:nvSpPr>
          <p:cNvPr id="32" name="Shape 30"/>
          <p:cNvSpPr/>
          <p:nvPr/>
        </p:nvSpPr>
        <p:spPr>
          <a:xfrm>
            <a:off x="8933688" y="2633472"/>
            <a:ext cx="73152" cy="1965960"/>
          </a:xfrm>
          <a:prstGeom prst="rect">
            <a:avLst/>
          </a:prstGeom>
          <a:solidFill>
            <a:srgbClr val="9A1B2F"/>
          </a:solidFill>
          <a:ln w="12700">
            <a:solidFill>
              <a:srgbClr val="9A1B2F">
                <a:alpha val="0"/>
              </a:srgbClr>
            </a:solidFill>
            <a:prstDash val="solid"/>
          </a:ln>
        </p:spPr>
        <p:txBody>
          <a:bodyPr/>
          <a:lstStyle/>
          <a:p>
            <a:endParaRPr lang="de-AT"/>
          </a:p>
        </p:txBody>
      </p:sp>
      <p:sp>
        <p:nvSpPr>
          <p:cNvPr id="33" name="Shape 31"/>
          <p:cNvSpPr/>
          <p:nvPr/>
        </p:nvSpPr>
        <p:spPr>
          <a:xfrm>
            <a:off x="9134856" y="2816352"/>
            <a:ext cx="1033272" cy="237744"/>
          </a:xfrm>
          <a:prstGeom prst="roundRect">
            <a:avLst>
              <a:gd name="adj" fmla="val 30769"/>
            </a:avLst>
          </a:prstGeom>
          <a:solidFill>
            <a:srgbClr val="FFFFFF"/>
          </a:solidFill>
          <a:ln w="12700">
            <a:solidFill>
              <a:srgbClr val="FFFFFF">
                <a:alpha val="0"/>
              </a:srgbClr>
            </a:solidFill>
            <a:prstDash val="solid"/>
          </a:ln>
        </p:spPr>
        <p:txBody>
          <a:bodyPr/>
          <a:lstStyle/>
          <a:p>
            <a:endParaRPr lang="de-AT"/>
          </a:p>
        </p:txBody>
      </p:sp>
      <p:sp>
        <p:nvSpPr>
          <p:cNvPr id="34" name="Text 32"/>
          <p:cNvSpPr/>
          <p:nvPr/>
        </p:nvSpPr>
        <p:spPr>
          <a:xfrm>
            <a:off x="9273322" y="2864757"/>
            <a:ext cx="886968" cy="146304"/>
          </a:xfrm>
          <a:prstGeom prst="rect">
            <a:avLst/>
          </a:prstGeom>
          <a:noFill/>
          <a:ln/>
        </p:spPr>
        <p:txBody>
          <a:bodyPr wrap="square" lIns="381" tIns="381" rIns="381" bIns="381" rtlCol="0" anchor="t">
            <a:normAutofit/>
          </a:bodyPr>
          <a:lstStyle/>
          <a:p>
            <a:r>
              <a:rPr lang="en-US" sz="850" b="1">
                <a:solidFill>
                  <a:srgbClr val="9A1B2F"/>
                </a:solidFill>
                <a:latin typeface="Roboto Light"/>
                <a:ea typeface="Roboto Light"/>
                <a:cs typeface="Roboto Light"/>
              </a:rPr>
              <a:t>PlanTrack data</a:t>
            </a:r>
            <a:endParaRPr lang="en-US" sz="850">
              <a:latin typeface="Roboto Light"/>
              <a:ea typeface="Roboto Light"/>
              <a:cs typeface="Roboto Light"/>
            </a:endParaRPr>
          </a:p>
        </p:txBody>
      </p:sp>
      <p:sp>
        <p:nvSpPr>
          <p:cNvPr id="35" name="Text 33"/>
          <p:cNvSpPr/>
          <p:nvPr/>
        </p:nvSpPr>
        <p:spPr>
          <a:xfrm>
            <a:off x="9134856" y="3163824"/>
            <a:ext cx="2057400" cy="292608"/>
          </a:xfrm>
          <a:prstGeom prst="rect">
            <a:avLst/>
          </a:prstGeom>
          <a:noFill/>
          <a:ln/>
        </p:spPr>
        <p:txBody>
          <a:bodyPr wrap="square" lIns="381" tIns="381" rIns="381" bIns="381" rtlCol="0" anchor="t">
            <a:normAutofit/>
          </a:bodyPr>
          <a:lstStyle/>
          <a:p>
            <a:pPr marL="0" indent="0" algn="l">
              <a:buNone/>
            </a:pPr>
            <a:r>
              <a:rPr lang="en-US" sz="1550" b="1">
                <a:solidFill>
                  <a:srgbClr val="33383B"/>
                </a:solidFill>
                <a:latin typeface="Roboto Light"/>
                <a:ea typeface="Roboto Light"/>
                <a:cs typeface="Roboto Light"/>
              </a:rPr>
              <a:t>PlanTrack trainings</a:t>
            </a:r>
            <a:endParaRPr lang="en-US" sz="1550">
              <a:latin typeface="Roboto Light"/>
              <a:ea typeface="Roboto Light"/>
              <a:cs typeface="Roboto Light"/>
            </a:endParaRPr>
          </a:p>
        </p:txBody>
      </p:sp>
      <p:sp>
        <p:nvSpPr>
          <p:cNvPr id="36" name="Text 34"/>
          <p:cNvSpPr/>
          <p:nvPr/>
        </p:nvSpPr>
        <p:spPr>
          <a:xfrm>
            <a:off x="9134856" y="3495475"/>
            <a:ext cx="2057400" cy="256032"/>
          </a:xfrm>
          <a:prstGeom prst="rect">
            <a:avLst/>
          </a:prstGeom>
          <a:noFill/>
          <a:ln/>
        </p:spPr>
        <p:txBody>
          <a:bodyPr wrap="square" lIns="381" tIns="381" rIns="381" bIns="381" rtlCol="0" anchor="t">
            <a:normAutofit/>
          </a:bodyPr>
          <a:lstStyle/>
          <a:p>
            <a:pPr marL="0" indent="0" algn="l">
              <a:buNone/>
            </a:pPr>
            <a:r>
              <a:rPr lang="en-US" sz="1230" b="1">
                <a:solidFill>
                  <a:srgbClr val="9A1B2F"/>
                </a:solidFill>
                <a:latin typeface="Roboto Light"/>
                <a:ea typeface="Roboto Light"/>
                <a:cs typeface="Roboto Light"/>
              </a:rPr>
              <a:t>Shows completions only</a:t>
            </a:r>
            <a:endParaRPr lang="en-US" sz="1230">
              <a:latin typeface="Roboto Light"/>
              <a:ea typeface="Roboto Light"/>
              <a:cs typeface="Roboto Light"/>
            </a:endParaRPr>
          </a:p>
        </p:txBody>
      </p:sp>
      <p:sp>
        <p:nvSpPr>
          <p:cNvPr id="37" name="Text 35"/>
          <p:cNvSpPr/>
          <p:nvPr/>
        </p:nvSpPr>
        <p:spPr>
          <a:xfrm>
            <a:off x="9134856" y="3762829"/>
            <a:ext cx="2057400" cy="393192"/>
          </a:xfrm>
          <a:prstGeom prst="rect">
            <a:avLst/>
          </a:prstGeom>
          <a:noFill/>
          <a:ln/>
        </p:spPr>
        <p:txBody>
          <a:bodyPr wrap="square" lIns="381" tIns="381" rIns="381" bIns="381" rtlCol="0" anchor="t">
            <a:normAutofit/>
          </a:bodyPr>
          <a:lstStyle/>
          <a:p>
            <a:pPr marL="0" indent="0" algn="l">
              <a:buNone/>
            </a:pPr>
            <a:r>
              <a:rPr lang="en-US" sz="1120">
                <a:solidFill>
                  <a:srgbClr val="33383B"/>
                </a:solidFill>
                <a:latin typeface="Roboto Light"/>
                <a:ea typeface="Roboto Light"/>
                <a:cs typeface="Roboto Light"/>
              </a:rPr>
              <a:t>Completion data will be received on a quarterly basis.</a:t>
            </a:r>
            <a:endParaRPr lang="en-US" sz="1120">
              <a:latin typeface="Roboto Light"/>
              <a:ea typeface="Roboto Light"/>
              <a:cs typeface="Roboto Light"/>
            </a:endParaRPr>
          </a:p>
        </p:txBody>
      </p:sp>
      <p:sp>
        <p:nvSpPr>
          <p:cNvPr id="38" name="Text 36"/>
          <p:cNvSpPr/>
          <p:nvPr/>
        </p:nvSpPr>
        <p:spPr>
          <a:xfrm>
            <a:off x="9134856" y="4306824"/>
            <a:ext cx="2057400" cy="182880"/>
          </a:xfrm>
          <a:prstGeom prst="rect">
            <a:avLst/>
          </a:prstGeom>
          <a:noFill/>
          <a:ln/>
        </p:spPr>
        <p:txBody>
          <a:bodyPr wrap="square" lIns="381" tIns="381" rIns="381" bIns="381" rtlCol="0" anchor="t">
            <a:normAutofit/>
          </a:bodyPr>
          <a:lstStyle/>
          <a:p>
            <a:pPr marL="0" indent="0" algn="l">
              <a:buNone/>
            </a:pPr>
            <a:r>
              <a:rPr lang="en-US" sz="980" b="1">
                <a:solidFill>
                  <a:srgbClr val="737B7F"/>
                </a:solidFill>
                <a:latin typeface="Roboto Light"/>
                <a:ea typeface="Roboto Light"/>
                <a:cs typeface="Roboto Light"/>
              </a:rPr>
              <a:t>Update: quarterly</a:t>
            </a:r>
            <a:endParaRPr lang="en-US" sz="980">
              <a:latin typeface="Roboto Light"/>
              <a:ea typeface="Roboto Light"/>
              <a:cs typeface="Roboto Light"/>
            </a:endParaRPr>
          </a:p>
        </p:txBody>
      </p:sp>
      <p:sp>
        <p:nvSpPr>
          <p:cNvPr id="39" name="Shape 37"/>
          <p:cNvSpPr/>
          <p:nvPr/>
        </p:nvSpPr>
        <p:spPr>
          <a:xfrm>
            <a:off x="841248" y="4800600"/>
            <a:ext cx="10561320" cy="932688"/>
          </a:xfrm>
          <a:prstGeom prst="roundRect">
            <a:avLst>
              <a:gd name="adj" fmla="val 7843"/>
            </a:avLst>
          </a:prstGeom>
          <a:solidFill>
            <a:srgbClr val="FFFFFF"/>
          </a:solidFill>
          <a:ln w="9525">
            <a:solidFill>
              <a:srgbClr val="D9DEE1"/>
            </a:solidFill>
            <a:prstDash val="solid"/>
          </a:ln>
        </p:spPr>
        <p:txBody>
          <a:bodyPr/>
          <a:lstStyle/>
          <a:p>
            <a:endParaRPr lang="de-AT"/>
          </a:p>
        </p:txBody>
      </p:sp>
      <p:sp>
        <p:nvSpPr>
          <p:cNvPr id="40" name="Shape 38"/>
          <p:cNvSpPr/>
          <p:nvPr/>
        </p:nvSpPr>
        <p:spPr>
          <a:xfrm>
            <a:off x="841248" y="4800600"/>
            <a:ext cx="73152" cy="932688"/>
          </a:xfrm>
          <a:prstGeom prst="rect">
            <a:avLst/>
          </a:prstGeom>
          <a:solidFill>
            <a:srgbClr val="B03A4A"/>
          </a:solidFill>
          <a:ln w="12700">
            <a:solidFill>
              <a:srgbClr val="B03A4A">
                <a:alpha val="0"/>
              </a:srgbClr>
            </a:solidFill>
            <a:prstDash val="solid"/>
          </a:ln>
        </p:spPr>
        <p:txBody>
          <a:bodyPr/>
          <a:lstStyle/>
          <a:p>
            <a:endParaRPr lang="de-AT"/>
          </a:p>
        </p:txBody>
      </p:sp>
      <p:sp>
        <p:nvSpPr>
          <p:cNvPr id="41" name="Text 39"/>
          <p:cNvSpPr/>
          <p:nvPr/>
        </p:nvSpPr>
        <p:spPr>
          <a:xfrm>
            <a:off x="1033272" y="4937760"/>
            <a:ext cx="2834640" cy="182880"/>
          </a:xfrm>
          <a:prstGeom prst="rect">
            <a:avLst/>
          </a:prstGeom>
          <a:noFill/>
          <a:ln/>
        </p:spPr>
        <p:txBody>
          <a:bodyPr wrap="square" lIns="381" tIns="381" rIns="381" bIns="381" rtlCol="0" anchor="t">
            <a:normAutofit/>
          </a:bodyPr>
          <a:lstStyle/>
          <a:p>
            <a:pPr marL="0" indent="0" algn="l">
              <a:buNone/>
            </a:pPr>
            <a:r>
              <a:rPr lang="en-US" sz="1150" b="1">
                <a:solidFill>
                  <a:srgbClr val="9A1B2F"/>
                </a:solidFill>
                <a:latin typeface="Roboto Light"/>
                <a:ea typeface="Roboto Light"/>
                <a:cs typeface="Roboto Light"/>
              </a:rPr>
              <a:t>Important interpretation notes</a:t>
            </a:r>
            <a:endParaRPr lang="en-US" sz="1150">
              <a:latin typeface="Roboto Light"/>
              <a:ea typeface="Roboto Light"/>
              <a:cs typeface="Roboto Light"/>
            </a:endParaRPr>
          </a:p>
        </p:txBody>
      </p:sp>
      <p:sp>
        <p:nvSpPr>
          <p:cNvPr id="42" name="Text 40"/>
          <p:cNvSpPr/>
          <p:nvPr/>
        </p:nvSpPr>
        <p:spPr>
          <a:xfrm>
            <a:off x="1214701" y="5248366"/>
            <a:ext cx="1234440" cy="164592"/>
          </a:xfrm>
          <a:prstGeom prst="rect">
            <a:avLst/>
          </a:prstGeom>
          <a:noFill/>
          <a:ln/>
        </p:spPr>
        <p:txBody>
          <a:bodyPr wrap="square" lIns="381" tIns="381" rIns="381" bIns="381" rtlCol="0" anchor="t">
            <a:normAutofit/>
          </a:bodyPr>
          <a:lstStyle/>
          <a:p>
            <a:pPr marL="0" indent="0" algn="l">
              <a:buNone/>
            </a:pPr>
            <a:r>
              <a:rPr lang="en-US" sz="1020" b="1">
                <a:solidFill>
                  <a:srgbClr val="737B7F"/>
                </a:solidFill>
                <a:latin typeface="Roboto Light"/>
                <a:ea typeface="Roboto Light"/>
                <a:cs typeface="Roboto Light"/>
              </a:rPr>
              <a:t>Source refresh</a:t>
            </a:r>
            <a:endParaRPr lang="en-US" sz="1020">
              <a:latin typeface="Roboto Light"/>
              <a:ea typeface="Roboto Light"/>
              <a:cs typeface="Roboto Light"/>
            </a:endParaRPr>
          </a:p>
        </p:txBody>
      </p:sp>
      <p:sp>
        <p:nvSpPr>
          <p:cNvPr id="43" name="Text 41"/>
          <p:cNvSpPr/>
          <p:nvPr/>
        </p:nvSpPr>
        <p:spPr>
          <a:xfrm>
            <a:off x="2359152" y="5193792"/>
            <a:ext cx="3429000" cy="347472"/>
          </a:xfrm>
          <a:prstGeom prst="rect">
            <a:avLst/>
          </a:prstGeom>
          <a:noFill/>
          <a:ln/>
        </p:spPr>
        <p:txBody>
          <a:bodyPr wrap="square" lIns="381" tIns="381" rIns="381" bIns="381" rtlCol="0" anchor="t">
            <a:normAutofit/>
          </a:bodyPr>
          <a:lstStyle/>
          <a:p>
            <a:pPr marL="0" indent="0" algn="ctr">
              <a:buNone/>
            </a:pPr>
            <a:r>
              <a:rPr lang="en-US" sz="1020">
                <a:solidFill>
                  <a:srgbClr val="33383B"/>
                </a:solidFill>
                <a:latin typeface="Roboto Light"/>
                <a:ea typeface="Roboto Light"/>
                <a:cs typeface="Roboto Light"/>
              </a:rPr>
              <a:t>Not all KPIs may reflect the exact same reporting period because source systems are refreshed at different intervals.</a:t>
            </a:r>
            <a:endParaRPr lang="en-US" sz="1020">
              <a:latin typeface="Roboto Light"/>
              <a:ea typeface="Roboto Light"/>
              <a:cs typeface="Roboto Light"/>
            </a:endParaRPr>
          </a:p>
        </p:txBody>
      </p:sp>
      <p:sp>
        <p:nvSpPr>
          <p:cNvPr id="44" name="Shape 42"/>
          <p:cNvSpPr/>
          <p:nvPr/>
        </p:nvSpPr>
        <p:spPr>
          <a:xfrm>
            <a:off x="5989320" y="4956048"/>
            <a:ext cx="0" cy="603504"/>
          </a:xfrm>
          <a:prstGeom prst="line">
            <a:avLst/>
          </a:prstGeom>
          <a:noFill/>
          <a:ln w="10160">
            <a:solidFill>
              <a:srgbClr val="D9DEE1"/>
            </a:solidFill>
            <a:prstDash val="solid"/>
          </a:ln>
        </p:spPr>
        <p:txBody>
          <a:bodyPr/>
          <a:lstStyle/>
          <a:p>
            <a:endParaRPr lang="de-AT"/>
          </a:p>
        </p:txBody>
      </p:sp>
      <p:sp>
        <p:nvSpPr>
          <p:cNvPr id="45" name="Text 43"/>
          <p:cNvSpPr/>
          <p:nvPr/>
        </p:nvSpPr>
        <p:spPr>
          <a:xfrm>
            <a:off x="6236208" y="5162731"/>
            <a:ext cx="1965960" cy="182880"/>
          </a:xfrm>
          <a:prstGeom prst="rect">
            <a:avLst/>
          </a:prstGeom>
          <a:noFill/>
          <a:ln/>
        </p:spPr>
        <p:txBody>
          <a:bodyPr wrap="square" lIns="381" tIns="381" rIns="381" bIns="381" rtlCol="0" anchor="t">
            <a:normAutofit/>
          </a:bodyPr>
          <a:lstStyle/>
          <a:p>
            <a:pPr marL="0" indent="0" algn="l">
              <a:buNone/>
            </a:pPr>
            <a:r>
              <a:rPr lang="en-US" sz="1020" b="1">
                <a:solidFill>
                  <a:srgbClr val="737B7F"/>
                </a:solidFill>
                <a:latin typeface="Roboto Light"/>
                <a:ea typeface="Roboto Light"/>
                <a:cs typeface="Roboto Light"/>
              </a:rPr>
              <a:t>Teams members vs. registrations</a:t>
            </a:r>
            <a:endParaRPr lang="en-US" sz="1020">
              <a:latin typeface="Roboto Light"/>
              <a:ea typeface="Roboto Light"/>
              <a:cs typeface="Roboto Light"/>
            </a:endParaRPr>
          </a:p>
        </p:txBody>
      </p:sp>
      <p:sp>
        <p:nvSpPr>
          <p:cNvPr id="46" name="Text 44"/>
          <p:cNvSpPr/>
          <p:nvPr/>
        </p:nvSpPr>
        <p:spPr>
          <a:xfrm>
            <a:off x="8368066" y="4932099"/>
            <a:ext cx="2967445" cy="798866"/>
          </a:xfrm>
          <a:prstGeom prst="rect">
            <a:avLst/>
          </a:prstGeom>
          <a:noFill/>
          <a:ln/>
        </p:spPr>
        <p:txBody>
          <a:bodyPr wrap="square" lIns="381" tIns="381" rIns="381" bIns="381" rtlCol="0" anchor="t">
            <a:normAutofit lnSpcReduction="10000"/>
          </a:bodyPr>
          <a:lstStyle/>
          <a:p>
            <a:pPr marL="0" indent="0" algn="ctr">
              <a:buNone/>
            </a:pPr>
            <a:r>
              <a:rPr lang="en-US" sz="960">
                <a:solidFill>
                  <a:srgbClr val="33383B"/>
                </a:solidFill>
                <a:latin typeface="Roboto Light"/>
                <a:ea typeface="Roboto Light"/>
                <a:cs typeface="Roboto Light"/>
              </a:rPr>
              <a:t>Some views show Teams listings / current members, while others show registrations for Community or Databricks trainings. These numbers can differ when people leave a community, duplicate entries are cleaned, or registrations do not equal active membership.</a:t>
            </a:r>
            <a:endParaRPr lang="en-US" sz="960">
              <a:latin typeface="Roboto Light"/>
              <a:ea typeface="Roboto Light"/>
              <a:cs typeface="Roboto Light"/>
            </a:endParaRPr>
          </a:p>
        </p:txBody>
      </p:sp>
      <p:sp>
        <p:nvSpPr>
          <p:cNvPr id="48" name="Text 46"/>
          <p:cNvSpPr/>
          <p:nvPr/>
        </p:nvSpPr>
        <p:spPr>
          <a:xfrm>
            <a:off x="841248" y="6199632"/>
            <a:ext cx="6675120" cy="146304"/>
          </a:xfrm>
          <a:prstGeom prst="rect">
            <a:avLst/>
          </a:prstGeom>
          <a:noFill/>
          <a:ln/>
        </p:spPr>
        <p:txBody>
          <a:bodyPr wrap="square" lIns="381" tIns="381" rIns="381" bIns="381" rtlCol="0" anchor="t">
            <a:normAutofit/>
          </a:bodyPr>
          <a:lstStyle/>
          <a:p>
            <a:pPr marL="0" indent="0" algn="l">
              <a:buNone/>
            </a:pPr>
            <a:endParaRPr lang="en-US" sz="750">
              <a:solidFill>
                <a:srgbClr val="8B9296"/>
              </a:solidFill>
              <a:latin typeface="Aptos"/>
            </a:endParaRPr>
          </a:p>
        </p:txBody>
      </p:sp>
      <p:sp>
        <p:nvSpPr>
          <p:cNvPr id="49" name="Text 47"/>
          <p:cNvSpPr/>
          <p:nvPr/>
        </p:nvSpPr>
        <p:spPr>
          <a:xfrm>
            <a:off x="841248" y="6053328"/>
            <a:ext cx="6309360" cy="146304"/>
          </a:xfrm>
          <a:prstGeom prst="rect">
            <a:avLst/>
          </a:prstGeom>
          <a:noFill/>
          <a:ln/>
        </p:spPr>
        <p:txBody>
          <a:bodyPr wrap="square" lIns="381" tIns="381" rIns="381" bIns="381" rtlCol="0" anchor="t">
            <a:normAutofit/>
          </a:bodyPr>
          <a:lstStyle/>
          <a:p>
            <a:pPr marL="0" indent="0" algn="l">
              <a:buNone/>
            </a:pPr>
            <a:endParaRPr lang="en-US" sz="750">
              <a:solidFill>
                <a:srgbClr val="8B9296"/>
              </a:solidFill>
              <a:latin typeface="Aptos"/>
            </a:endParaRPr>
          </a:p>
        </p:txBody>
      </p:sp>
      <p:sp>
        <p:nvSpPr>
          <p:cNvPr id="52" name="Title 51"/>
          <p:cNvSpPr>
            <a:spLocks noGrp="1"/>
          </p:cNvSpPr>
          <p:nvPr/>
        </p:nvSpPr>
        <p:spPr>
          <a:xfrm>
            <a:off x="803503" y="669454"/>
            <a:ext cx="10528526" cy="405297"/>
          </a:xfrm>
          <a:prstGeom prst="rect">
            <a:avLst/>
          </a:prstGeom>
        </p:spPr>
        <p:txBody>
          <a:bodyPr/>
          <a:lstStyle/>
          <a:p>
            <a:r>
              <a:rPr lang="en-US" sz="2600">
                <a:solidFill>
                  <a:srgbClr val="F2F3F6"/>
                </a:solidFill>
              </a:rPr>
              <a:t>Read Me</a:t>
            </a:r>
            <a:br>
              <a:rPr lang="en-US">
                <a:solidFill>
                  <a:srgbClr val="E8ECF4"/>
                </a:solidFill>
              </a:rPr>
            </a:br>
            <a:r>
              <a:rPr lang="en-US" sz="1400">
                <a:solidFill>
                  <a:srgbClr val="737B7F"/>
                </a:solidFill>
                <a:latin typeface="Aptos"/>
              </a:rPr>
              <a:t>Data scope, freshness, and update rhythm</a:t>
            </a:r>
            <a:endParaRPr lang="en-US" sz="1400">
              <a:solidFill>
                <a:srgbClr val="E8ECF4"/>
              </a:solidFill>
              <a:latin typeface="Aptos"/>
            </a:endParaRPr>
          </a:p>
          <a:p>
            <a:endParaRPr lang="en-US"/>
          </a:p>
        </p:txBody>
      </p:sp>
      <p:sp>
        <p:nvSpPr>
          <p:cNvPr id="55" name="Text 16"/>
          <p:cNvSpPr/>
          <p:nvPr/>
        </p:nvSpPr>
        <p:spPr>
          <a:xfrm>
            <a:off x="6628818" y="2864756"/>
            <a:ext cx="886968" cy="146304"/>
          </a:xfrm>
          <a:prstGeom prst="rect">
            <a:avLst/>
          </a:prstGeom>
          <a:noFill/>
          <a:ln/>
        </p:spPr>
        <p:txBody>
          <a:bodyPr wrap="square" lIns="381" tIns="381" rIns="381" bIns="381" rtlCol="0" anchor="t">
            <a:normAutofit/>
          </a:bodyPr>
          <a:lstStyle/>
          <a:p>
            <a:r>
              <a:rPr lang="en-US" sz="850" b="1">
                <a:solidFill>
                  <a:srgbClr val="9A1B2F"/>
                </a:solidFill>
                <a:latin typeface="Roboto Light"/>
                <a:ea typeface="Roboto Light"/>
                <a:cs typeface="Roboto Light"/>
              </a:rPr>
              <a:t>Data &amp; AI data</a:t>
            </a:r>
            <a:endParaRPr lang="en-US" sz="850">
              <a:latin typeface="Roboto Light"/>
              <a:ea typeface="Roboto Light"/>
              <a:cs typeface="Roboto Light"/>
            </a:endParaRPr>
          </a:p>
        </p:txBody>
      </p:sp>
      <p:sp>
        <p:nvSpPr>
          <p:cNvPr id="56"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8" name="Titel 27"/>
          <p:cNvSpPr>
            <a:spLocks noGrp="1"/>
          </p:cNvSpPr>
          <p:nvPr/>
        </p:nvSpPr>
        <p:spPr>
          <a:xfrm>
            <a:off x="839788" y="654939"/>
            <a:ext cx="10514012" cy="941796"/>
          </a:xfrm>
          <a:prstGeom prst="rect">
            <a:avLst/>
          </a:prstGeom>
        </p:spPr>
        <p:txBody>
          <a:bodyPr/>
          <a:lstStyle/>
          <a:p>
            <a:r>
              <a:rPr lang="en-US" sz="3600">
                <a:solidFill>
                  <a:srgbClr val="F2F3F6"/>
                </a:solidFill>
              </a:rPr>
              <a:t>Activating Data &amp; AI communities </a:t>
            </a:r>
            <a:br>
              <a:rPr lang="en-US" sz="3600">
                <a:solidFill>
                  <a:srgbClr val="E8ECF4"/>
                </a:solidFill>
              </a:rPr>
            </a:br>
            <a:r>
              <a:rPr lang="en-US" sz="3600">
                <a:solidFill>
                  <a:srgbClr val="F2F3F6"/>
                </a:solidFill>
              </a:rPr>
              <a:t>at scale</a:t>
            </a:r>
            <a:endParaRPr lang="en-US" sz="3600" noProof="0"/>
          </a:p>
        </p:txBody>
      </p:sp>
      <p:grpSp>
        <p:nvGrpSpPr>
          <p:cNvPr id="4" name="Gruppieren 3"/>
          <p:cNvGrpSpPr/>
          <p:nvPr/>
        </p:nvGrpSpPr>
        <p:grpSpPr>
          <a:xfrm>
            <a:off x="647999" y="1728000"/>
            <a:ext cx="8101545" cy="4279100"/>
            <a:chOff x="613196" y="1979365"/>
            <a:chExt cx="7188930" cy="3598475"/>
          </a:xfrm>
        </p:grpSpPr>
        <p:sp>
          <p:nvSpPr>
            <p:cNvPr id="5" name="Rechteck: abgerundete Ecken 12"/>
            <p:cNvSpPr/>
            <p:nvPr/>
          </p:nvSpPr>
          <p:spPr>
            <a:xfrm>
              <a:off x="1034938" y="2550124"/>
              <a:ext cx="6767188" cy="892098"/>
            </a:xfrm>
            <a:prstGeom prst="roundRect">
              <a:avLst>
                <a:gd name="adj" fmla="val 50000"/>
              </a:avLst>
            </a:prstGeom>
            <a:solidFill>
              <a:srgbClr val="007B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rPr>
                <a:t>Data &amp; AI Community</a:t>
              </a:r>
            </a:p>
          </p:txBody>
        </p:sp>
        <p:cxnSp>
          <p:nvCxnSpPr>
            <p:cNvPr id="6" name="Gerade Verbindung mit Pfeil 21"/>
            <p:cNvCxnSpPr>
              <a:cxnSpLocks/>
            </p:cNvCxnSpPr>
            <p:nvPr/>
          </p:nvCxnSpPr>
          <p:spPr>
            <a:xfrm>
              <a:off x="903857" y="1979365"/>
              <a:ext cx="0" cy="3598475"/>
            </a:xfrm>
            <a:prstGeom prst="straightConnector1">
              <a:avLst/>
            </a:prstGeom>
            <a:ln>
              <a:solidFill>
                <a:srgbClr val="A6ADAF"/>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Textfeld 22"/>
            <p:cNvSpPr txBox="1"/>
            <p:nvPr/>
          </p:nvSpPr>
          <p:spPr>
            <a:xfrm rot="16200000">
              <a:off x="413523" y="4545072"/>
              <a:ext cx="725908" cy="278694"/>
            </a:xfrm>
            <a:prstGeom prst="rect">
              <a:avLst/>
            </a:prstGeom>
            <a:noFill/>
          </p:spPr>
          <p:txBody>
            <a:bodyPr wrap="square" rtlCol="0" anchor="ctr">
              <a:spAutoFit/>
            </a:bodyPr>
            <a:lstStyle>
              <a:defPPr>
                <a:defRPr lang="de-DE"/>
              </a:defPPr>
              <a:lvl1pPr>
                <a:defRPr sz="1200"/>
              </a:lvl1pPr>
            </a:lstStyle>
            <a:p>
              <a:pPr algn="ctr"/>
              <a:r>
                <a:rPr lang="en-US" noProof="0" err="1">
                  <a:solidFill>
                    <a:srgbClr val="7E8587"/>
                  </a:solidFill>
                </a:rPr>
                <a:t>specifc</a:t>
              </a:r>
              <a:endParaRPr lang="en-US" noProof="0">
                <a:solidFill>
                  <a:srgbClr val="7E8587"/>
                </a:solidFill>
              </a:endParaRPr>
            </a:p>
          </p:txBody>
        </p:sp>
        <p:sp>
          <p:nvSpPr>
            <p:cNvPr id="8" name="Textfeld 23"/>
            <p:cNvSpPr txBox="1"/>
            <p:nvPr/>
          </p:nvSpPr>
          <p:spPr>
            <a:xfrm rot="16200000">
              <a:off x="389589" y="2202972"/>
              <a:ext cx="725908" cy="278694"/>
            </a:xfrm>
            <a:prstGeom prst="rect">
              <a:avLst/>
            </a:prstGeom>
            <a:noFill/>
          </p:spPr>
          <p:txBody>
            <a:bodyPr wrap="square" rtlCol="0" anchor="ctr">
              <a:spAutoFit/>
            </a:bodyPr>
            <a:lstStyle/>
            <a:p>
              <a:pPr algn="ctr"/>
              <a:r>
                <a:rPr lang="en-US" sz="1200" noProof="0">
                  <a:solidFill>
                    <a:srgbClr val="7E8587"/>
                  </a:solidFill>
                </a:rPr>
                <a:t>general</a:t>
              </a:r>
            </a:p>
          </p:txBody>
        </p:sp>
        <p:pic>
          <p:nvPicPr>
            <p:cNvPr id="9" name="Grafik 56"/>
            <p:cNvPicPr>
              <a:picLocks noChangeAspect="1"/>
            </p:cNvPicPr>
            <p:nvPr/>
          </p:nvPicPr>
          <p:blipFill>
            <a:blip r:embed="rId2"/>
            <a:stretch>
              <a:fillRect/>
            </a:stretch>
          </p:blipFill>
          <p:spPr>
            <a:xfrm rot="2940117">
              <a:off x="1054482" y="2566181"/>
              <a:ext cx="852008" cy="879673"/>
            </a:xfrm>
            <a:prstGeom prst="rect">
              <a:avLst/>
            </a:prstGeom>
            <a:ln>
              <a:noFill/>
            </a:ln>
            <a:effectLst>
              <a:outerShdw blurRad="292100" dist="139700" dir="2700000" algn="tl" rotWithShape="0">
                <a:srgbClr val="333333">
                  <a:alpha val="65000"/>
                </a:srgbClr>
              </a:outerShdw>
            </a:effectLst>
          </p:spPr>
        </p:pic>
        <p:sp>
          <p:nvSpPr>
            <p:cNvPr id="10" name="Rechteck: abgerundete Ecken 12"/>
            <p:cNvSpPr/>
            <p:nvPr/>
          </p:nvSpPr>
          <p:spPr>
            <a:xfrm>
              <a:off x="1044029" y="2005137"/>
              <a:ext cx="6749007" cy="422121"/>
            </a:xfrm>
            <a:prstGeom prst="roundRect">
              <a:avLst>
                <a:gd name="adj" fmla="val 50000"/>
              </a:avLst>
            </a:prstGeom>
            <a:solidFill>
              <a:srgbClr val="E4E7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a:solidFill>
                    <a:schemeClr val="tx1"/>
                  </a:solidFill>
                </a:rPr>
                <a:t>Connect Channel</a:t>
              </a:r>
            </a:p>
          </p:txBody>
        </p:sp>
        <p:sp>
          <p:nvSpPr>
            <p:cNvPr id="11" name="Rectangle: Rounded Corners 8"/>
            <p:cNvSpPr/>
            <p:nvPr/>
          </p:nvSpPr>
          <p:spPr>
            <a:xfrm>
              <a:off x="1034938" y="3551886"/>
              <a:ext cx="6767188" cy="2025954"/>
            </a:xfrm>
            <a:prstGeom prst="roundRect">
              <a:avLst>
                <a:gd name="adj" fmla="val 12779"/>
              </a:avLst>
            </a:prstGeom>
            <a:solidFill>
              <a:srgbClr val="E9EFE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noProof="0">
                <a:solidFill>
                  <a:schemeClr val="tx1"/>
                </a:solidFill>
              </a:endParaRPr>
            </a:p>
          </p:txBody>
        </p:sp>
        <p:grpSp>
          <p:nvGrpSpPr>
            <p:cNvPr id="12" name="Gruppieren 7"/>
            <p:cNvGrpSpPr/>
            <p:nvPr/>
          </p:nvGrpSpPr>
          <p:grpSpPr>
            <a:xfrm>
              <a:off x="1146617" y="3647089"/>
              <a:ext cx="6543830" cy="922234"/>
              <a:chOff x="1462550" y="2746604"/>
              <a:chExt cx="8323263" cy="892098"/>
            </a:xfrm>
          </p:grpSpPr>
          <p:sp>
            <p:nvSpPr>
              <p:cNvPr id="16" name="Rechteck: abgerundete Ecken 24"/>
              <p:cNvSpPr/>
              <p:nvPr/>
            </p:nvSpPr>
            <p:spPr>
              <a:xfrm>
                <a:off x="1462550" y="2746604"/>
                <a:ext cx="2340000" cy="892098"/>
              </a:xfrm>
              <a:prstGeom prst="roundRect">
                <a:avLst>
                  <a:gd name="adj" fmla="val 19514"/>
                </a:avLst>
              </a:prstGeom>
              <a:solidFill>
                <a:srgbClr val="E16257"/>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noProof="0">
                    <a:solidFill>
                      <a:schemeClr val="bg1"/>
                    </a:solidFill>
                  </a:rPr>
                  <a:t>Databricks </a:t>
                </a:r>
                <a:br>
                  <a:rPr lang="en-US" sz="1600" noProof="0">
                    <a:solidFill>
                      <a:schemeClr val="bg1"/>
                    </a:solidFill>
                  </a:rPr>
                </a:br>
                <a:r>
                  <a:rPr lang="en-US" sz="1600" noProof="0">
                    <a:solidFill>
                      <a:schemeClr val="bg1"/>
                    </a:solidFill>
                  </a:rPr>
                  <a:t>Guild</a:t>
                </a:r>
              </a:p>
            </p:txBody>
          </p:sp>
          <p:sp>
            <p:nvSpPr>
              <p:cNvPr id="17" name="Rechteck: abgerundete Ecken 5"/>
              <p:cNvSpPr/>
              <p:nvPr/>
            </p:nvSpPr>
            <p:spPr>
              <a:xfrm>
                <a:off x="7445813" y="2746604"/>
                <a:ext cx="2340000" cy="892098"/>
              </a:xfrm>
              <a:prstGeom prst="roundRect">
                <a:avLst/>
              </a:prstGeom>
              <a:solidFill>
                <a:srgbClr val="C5CA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noProof="0">
                    <a:solidFill>
                      <a:schemeClr val="bg1"/>
                    </a:solidFill>
                  </a:rPr>
                  <a:t>Data Governance Guild</a:t>
                </a:r>
              </a:p>
            </p:txBody>
          </p:sp>
          <p:sp>
            <p:nvSpPr>
              <p:cNvPr id="18" name="Rechteck: abgerundete Ecken 6"/>
              <p:cNvSpPr/>
              <p:nvPr/>
            </p:nvSpPr>
            <p:spPr>
              <a:xfrm>
                <a:off x="4454182" y="2746604"/>
                <a:ext cx="2340000" cy="892098"/>
              </a:xfrm>
              <a:prstGeom prst="roundRect">
                <a:avLst>
                  <a:gd name="adj" fmla="val 20084"/>
                </a:avLst>
              </a:prstGeom>
              <a:solidFill>
                <a:srgbClr val="A6ADA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noProof="0">
                    <a:solidFill>
                      <a:schemeClr val="bg1"/>
                    </a:solidFill>
                  </a:rPr>
                  <a:t>AI Governance </a:t>
                </a:r>
                <a:br>
                  <a:rPr lang="en-US" sz="1600" noProof="0">
                    <a:solidFill>
                      <a:schemeClr val="bg1"/>
                    </a:solidFill>
                  </a:rPr>
                </a:br>
                <a:r>
                  <a:rPr lang="en-US" sz="1600" noProof="0">
                    <a:solidFill>
                      <a:schemeClr val="bg1"/>
                    </a:solidFill>
                  </a:rPr>
                  <a:t>Guild</a:t>
                </a:r>
              </a:p>
            </p:txBody>
          </p:sp>
        </p:grpSp>
        <p:sp>
          <p:nvSpPr>
            <p:cNvPr id="13" name="Rechteck: abgerundete Ecken 26"/>
            <p:cNvSpPr/>
            <p:nvPr/>
          </p:nvSpPr>
          <p:spPr>
            <a:xfrm>
              <a:off x="3801603" y="4698222"/>
              <a:ext cx="1233858" cy="748695"/>
            </a:xfrm>
            <a:prstGeom prst="roundRect">
              <a:avLst/>
            </a:prstGeom>
            <a:solidFill>
              <a:srgbClr val="CDD0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noProof="0">
                  <a:solidFill>
                    <a:schemeClr val="bg1"/>
                  </a:solidFill>
                </a:rPr>
                <a:t>AI Responsible Person Network</a:t>
              </a:r>
            </a:p>
          </p:txBody>
        </p:sp>
        <p:sp>
          <p:nvSpPr>
            <p:cNvPr id="14" name="Rechteck: abgerundete Ecken 27"/>
            <p:cNvSpPr/>
            <p:nvPr/>
          </p:nvSpPr>
          <p:spPr>
            <a:xfrm>
              <a:off x="1678634" y="4698222"/>
              <a:ext cx="858614" cy="748695"/>
            </a:xfrm>
            <a:prstGeom prst="roundRect">
              <a:avLst/>
            </a:prstGeom>
            <a:solidFill>
              <a:srgbClr val="EC9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noProof="0">
                  <a:solidFill>
                    <a:schemeClr val="bg1"/>
                  </a:solidFill>
                </a:rPr>
                <a:t>Use Case Working Groups</a:t>
              </a:r>
            </a:p>
          </p:txBody>
        </p:sp>
        <p:sp>
          <p:nvSpPr>
            <p:cNvPr id="15" name="Rechteck: abgerundete Ecken 11"/>
            <p:cNvSpPr/>
            <p:nvPr/>
          </p:nvSpPr>
          <p:spPr>
            <a:xfrm>
              <a:off x="6084943" y="4511315"/>
              <a:ext cx="1371275" cy="226736"/>
            </a:xfrm>
            <a:prstGeom prst="roundRect">
              <a:avLst>
                <a:gd name="adj" fmla="val 28740"/>
              </a:avLst>
            </a:prstGeom>
            <a:solidFill>
              <a:schemeClr val="accent3"/>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noProof="0">
                  <a:solidFill>
                    <a:schemeClr val="tx1"/>
                  </a:solidFill>
                </a:rPr>
                <a:t>Coming soon</a:t>
              </a:r>
            </a:p>
          </p:txBody>
        </p:sp>
      </p:grpSp>
      <p:sp>
        <p:nvSpPr>
          <p:cNvPr id="19" name="Rechteck 18"/>
          <p:cNvSpPr/>
          <p:nvPr/>
        </p:nvSpPr>
        <p:spPr>
          <a:xfrm>
            <a:off x="9030233" y="2018785"/>
            <a:ext cx="2754858" cy="3682933"/>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16000" lvl="1" indent="-216000">
              <a:lnSpc>
                <a:spcPct val="95000"/>
              </a:lnSpc>
              <a:spcBef>
                <a:spcPts val="600"/>
              </a:spcBef>
              <a:buClr>
                <a:srgbClr val="E4002B"/>
              </a:buClr>
              <a:buSzPct val="80000"/>
              <a:buChar char="•"/>
              <a:defRPr/>
            </a:pPr>
            <a:r>
              <a:rPr lang="en-US">
                <a:solidFill>
                  <a:srgbClr val="E8ECF4"/>
                </a:solidFill>
              </a:rPr>
              <a:t>Data &amp; AI Community reached 766 members from 30 companies across 22 countries​</a:t>
            </a:r>
          </a:p>
          <a:p>
            <a:pPr marL="216000" lvl="1" indent="-216000">
              <a:lnSpc>
                <a:spcPct val="95000"/>
              </a:lnSpc>
              <a:spcBef>
                <a:spcPts val="600"/>
              </a:spcBef>
              <a:buClr>
                <a:srgbClr val="E4002B"/>
              </a:buClr>
              <a:buSzPct val="80000"/>
              <a:buChar char="•"/>
              <a:defRPr/>
            </a:pPr>
            <a:r>
              <a:rPr lang="en-US">
                <a:solidFill>
                  <a:srgbClr val="E8ECF4"/>
                </a:solidFill>
              </a:rPr>
              <a:t>Lakehouse Guild launched to enable platform use</a:t>
            </a:r>
          </a:p>
          <a:p>
            <a:pPr marL="216000" lvl="1" indent="-216000">
              <a:lnSpc>
                <a:spcPct val="95000"/>
              </a:lnSpc>
              <a:spcBef>
                <a:spcPts val="600"/>
              </a:spcBef>
              <a:buClr>
                <a:srgbClr val="E4002B"/>
              </a:buClr>
              <a:buSzPct val="80000"/>
              <a:buChar char="•"/>
              <a:defRPr/>
            </a:pPr>
            <a:r>
              <a:rPr lang="en-US">
                <a:solidFill>
                  <a:srgbClr val="E8ECF4"/>
                </a:solidFill>
              </a:rPr>
              <a:t>4 community events delivered, each engaging 185–238 participants across the Group​</a:t>
            </a:r>
          </a:p>
        </p:txBody>
      </p:sp>
      <p:cxnSp>
        <p:nvCxnSpPr>
          <p:cNvPr id="20" name="Gerader Verbinder 19"/>
          <p:cNvCxnSpPr>
            <a:cxnSpLocks/>
          </p:cNvCxnSpPr>
          <p:nvPr/>
        </p:nvCxnSpPr>
        <p:spPr>
          <a:xfrm>
            <a:off x="8964277" y="2086325"/>
            <a:ext cx="0" cy="4172970"/>
          </a:xfrm>
          <a:prstGeom prst="line">
            <a:avLst/>
          </a:prstGeom>
          <a:ln w="6350"/>
        </p:spPr>
        <p:style>
          <a:lnRef idx="1">
            <a:schemeClr val="accent2"/>
          </a:lnRef>
          <a:fillRef idx="0">
            <a:schemeClr val="accent2"/>
          </a:fillRef>
          <a:effectRef idx="0">
            <a:schemeClr val="accent2"/>
          </a:effectRef>
          <a:fontRef idx="minor">
            <a:schemeClr val="tx1"/>
          </a:fontRef>
        </p:style>
      </p:cxnSp>
      <p:sp>
        <p:nvSpPr>
          <p:cNvPr id="29"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3" name="Text Placeholder 2"/>
          <p:cNvSpPr>
            <a:spLocks noGrp="1"/>
          </p:cNvSpPr>
          <p:nvPr/>
        </p:nvSpPr>
        <p:spPr>
          <a:xfrm>
            <a:off x="839788" y="6138665"/>
            <a:ext cx="10514012" cy="263149"/>
          </a:xfrm>
          <a:prstGeom prst="rect">
            <a:avLst/>
          </a:prstGeom>
        </p:spPr>
        <p:txBody>
          <a:bodyPr/>
          <a:lstStyle/>
          <a:p>
            <a:endParaRPr lang="de-AT"/>
          </a:p>
        </p:txBody>
      </p:sp>
      <p:sp>
        <p:nvSpPr>
          <p:cNvPr id="4" name="Title 3"/>
          <p:cNvSpPr>
            <a:spLocks noGrp="1"/>
          </p:cNvSpPr>
          <p:nvPr/>
        </p:nvSpPr>
        <p:spPr>
          <a:xfrm>
            <a:off x="854302" y="393682"/>
            <a:ext cx="10514012" cy="1726627"/>
          </a:xfrm>
          <a:prstGeom prst="rect">
            <a:avLst/>
          </a:prstGeom>
        </p:spPr>
        <p:txBody>
          <a:bodyPr/>
          <a:lstStyle/>
          <a:p>
            <a:r>
              <a:rPr lang="en-US" sz="2600">
                <a:solidFill>
                  <a:srgbClr val="F2F3F6"/>
                </a:solidFill>
                <a:ea typeface="+mj-lt"/>
                <a:cs typeface="+mj-lt"/>
              </a:rPr>
              <a:t>Learning continues to grow across countries</a:t>
            </a:r>
            <a:br>
              <a:rPr lang="en-US">
                <a:solidFill>
                  <a:srgbClr val="E8ECF4"/>
                </a:solidFill>
              </a:rPr>
            </a:br>
            <a:r>
              <a:rPr lang="en-US" sz="2200">
                <a:solidFill>
                  <a:srgbClr val="F2F3F6"/>
                </a:solidFill>
                <a:ea typeface="+mj-lt"/>
                <a:cs typeface="+mj-lt"/>
              </a:rPr>
              <a:t>Growth is accelerating across the Group</a:t>
            </a:r>
            <a:br>
              <a:rPr lang="en-US" sz="2200">
                <a:solidFill>
                  <a:srgbClr val="E8ECF4"/>
                </a:solidFill>
              </a:rPr>
            </a:br>
            <a:endParaRPr lang="de-AT" sz="2200"/>
          </a:p>
        </p:txBody>
      </p:sp>
      <p:sp>
        <p:nvSpPr>
          <p:cNvPr id="5" name="Date Placeholder 4"/>
          <p:cNvSpPr>
            <a:spLocks noGrp="1"/>
          </p:cNvSpPr>
          <p:nvPr/>
        </p:nvSpPr>
        <p:spPr>
          <a:xfrm>
            <a:off x="11063125" y="181996"/>
            <a:ext cx="873637" cy="153888"/>
          </a:xfrm>
          <a:prstGeom prst="rect">
            <a:avLst/>
          </a:prstGeom>
        </p:spPr>
        <p:txBody>
          <a:bodyPr/>
          <a:lstStyle/>
          <a:p>
            <a:r>
              <a:rPr lang="de-DE" sz="900">
                <a:solidFill>
                  <a:srgbClr val="9aa1b2"/>
                </a:solidFill>
              </a:rPr>
              <a:t>Demo data</a:t>
            </a:r>
            <a:endParaRPr lang="en-GB"/>
          </a:p>
        </p:txBody>
      </p:sp>
      <p:sp>
        <p:nvSpPr>
          <p:cNvPr id="6" name="Footer Placeholder 5"/>
          <p:cNvSpPr>
            <a:spLocks noGrp="1"/>
          </p:cNvSpPr>
          <p:nvPr/>
        </p:nvSpPr>
        <p:spPr>
          <a:xfrm>
            <a:off x="1466850" y="6587737"/>
            <a:ext cx="6953250" cy="184666"/>
          </a:xfrm>
          <a:prstGeom prst="rect">
            <a:avLst/>
          </a:prstGeom>
        </p:spPr>
        <p:txBody>
          <a:bodyPr/>
          <a:lstStyle/>
          <a:p>
            <a:r>
              <a:rPr lang="en-GB" sz="900">
                <a:solidFill>
                  <a:srgbClr val="9aa1b2"/>
                </a:solidFill>
              </a:rPr>
              <a:t>Contoso template</a:t>
            </a:r>
          </a:p>
        </p:txBody>
      </p:sp>
      <p:sp>
        <p:nvSpPr>
          <p:cNvPr id="7" name="Slide Number Placeholder 6"/>
          <p:cNvSpPr>
            <a:spLocks noGrp="1"/>
          </p:cNvSpPr>
          <p:nvPr/>
        </p:nvSpPr>
        <p:spPr>
          <a:xfrm>
            <a:off x="839788" y="6587737"/>
            <a:ext cx="347662" cy="184666"/>
          </a:xfrm>
          <a:prstGeom prst="rect">
            <a:avLst/>
          </a:prstGeom>
        </p:spPr>
        <p:txBody>
          <a:bodyPr/>
          <a:lstStyle/>
          <a:p>
            <a:pPr algn="l"/>
            <a:fld id="{64E38502-06D2-4E51-82FE-464E052045F9}" type="slidenum">
              <a:rPr lang="en-GB" smtClean="0">
                <a:solidFill>
                  <a:srgbClr val="E8ECF4"/>
                </a:solidFill>
              </a:rPr>
              <a:pPr algn="l"/>
              <a:t>4</a:t>
            </a:fld>
            <a:endParaRPr lang="en-GB"/>
          </a:p>
        </p:txBody>
      </p:sp>
      <p:sp>
        <p:nvSpPr>
          <p:cNvPr id="55" name="Rounded Rectangle 13"/>
          <p:cNvSpPr/>
          <p:nvPr/>
        </p:nvSpPr>
        <p:spPr>
          <a:xfrm>
            <a:off x="1012772" y="2132875"/>
            <a:ext cx="4684993" cy="2883408"/>
          </a:xfrm>
          <a:prstGeom prst="roundRect">
            <a:avLst/>
          </a:prstGeom>
          <a:solidFill>
            <a:srgbClr val="FFFFFF"/>
          </a:solidFill>
          <a:ln w="8890">
            <a:solidFill>
              <a:srgbClr val="DE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585504" y="2229989"/>
            <a:ext cx="4311831" cy="221599"/>
          </a:xfrm>
          <a:prstGeom prst="rect">
            <a:avLst/>
          </a:prstGeom>
          <a:noFill/>
        </p:spPr>
        <p:txBody>
          <a:bodyPr wrap="square" lIns="18288" tIns="18288" rIns="18288" bIns="18288" anchor="t">
            <a:spAutoFit/>
          </a:bodyPr>
          <a:lstStyle/>
          <a:p>
            <a:pPr>
              <a:defRPr sz="900" b="1">
                <a:solidFill>
                  <a:srgbClr val="2D3234"/>
                </a:solidFill>
                <a:latin typeface="Arial"/>
              </a:defRPr>
            </a:pPr>
            <a:r>
              <a:rPr lang="en-US" sz="1200"/>
              <a:t>Learning By Country</a:t>
            </a:r>
            <a:endParaRPr lang="en-US" sz="1200">
              <a:cs typeface="Arial"/>
            </a:endParaRPr>
          </a:p>
        </p:txBody>
      </p:sp>
      <p:pic>
        <p:nvPicPr>
          <p:cNvPr id="9" name="chart:learning_by_country"/>
          <p:cNvPicPr>
            <a:picLocks noChangeAspect="1"/>
          </p:cNvPicPr>
          <p:nvPr/>
        </p:nvPicPr>
        <p:blipFill>
          <a:blip r:embed="rId2"/>
          <a:stretch>
            <a:fillRect/>
          </a:stretch>
        </p:blipFill>
        <p:spPr>
          <a:xfrm>
            <a:off x="1469572" y="2462895"/>
            <a:ext cx="3795492" cy="2493388"/>
          </a:xfrm>
          <a:prstGeom prst="rect">
            <a:avLst/>
          </a:prstGeom>
        </p:spPr>
      </p:pic>
      <p:sp>
        <p:nvSpPr>
          <p:cNvPr id="11" name="Shape 13"/>
          <p:cNvSpPr/>
          <p:nvPr/>
        </p:nvSpPr>
        <p:spPr>
          <a:xfrm>
            <a:off x="5677186" y="5137144"/>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3" name="kpi:learning_enrolled"/>
          <p:cNvSpPr/>
          <p:nvPr/>
        </p:nvSpPr>
        <p:spPr>
          <a:xfrm>
            <a:off x="5822183" y="5261677"/>
            <a:ext cx="1737360" cy="310896"/>
          </a:xfrm>
          <a:prstGeom prst="rect">
            <a:avLst/>
          </a:prstGeom>
          <a:noFill/>
          <a:ln/>
        </p:spPr>
        <p:txBody>
          <a:bodyPr wrap="square" lIns="0" tIns="0" rIns="0" bIns="0" rtlCol="0" anchor="ctr">
            <a:normAutofit/>
          </a:bodyPr>
          <a:lstStyle/>
          <a:p>
            <a:pPr marL="0" indent="0" algn="ctr">
              <a:buNone/>
            </a:pPr>
            <a:r>
              <a:rPr lang="en-US" sz="2000" b="1">
                <a:solidFill>
                  <a:srgbClr val="29856F"/>
                </a:solidFill>
                <a:ea typeface="Roboto Light"/>
                <a:cs typeface="Roboto Light"/>
              </a:rPr>
              <a:t>8</a:t>
            </a:r>
          </a:p>
        </p:txBody>
      </p:sp>
      <p:sp>
        <p:nvSpPr>
          <p:cNvPr id="15" name="Text 15"/>
          <p:cNvSpPr/>
          <p:nvPr/>
        </p:nvSpPr>
        <p:spPr>
          <a:xfrm>
            <a:off x="5750338" y="5571266"/>
            <a:ext cx="1865376" cy="182880"/>
          </a:xfrm>
          <a:prstGeom prst="rect">
            <a:avLst/>
          </a:prstGeom>
          <a:noFill/>
          <a:ln/>
        </p:spPr>
        <p:txBody>
          <a:bodyPr wrap="square" lIns="0" tIns="0" rIns="0" bIns="0" rtlCol="0" anchor="ctr">
            <a:normAutofit/>
          </a:bodyPr>
          <a:lstStyle/>
          <a:p>
            <a:pPr marL="0" indent="0" algn="ctr">
              <a:buNone/>
            </a:pPr>
            <a:r>
              <a:rPr lang="en-US" sz="950" b="1">
                <a:ea typeface="Roboto Light"/>
                <a:cs typeface="Roboto Light"/>
              </a:rPr>
              <a:t>Enrolled</a:t>
            </a:r>
          </a:p>
        </p:txBody>
      </p:sp>
      <p:sp>
        <p:nvSpPr>
          <p:cNvPr id="17" name="Shape 13"/>
          <p:cNvSpPr/>
          <p:nvPr/>
        </p:nvSpPr>
        <p:spPr>
          <a:xfrm>
            <a:off x="7847652" y="5137144"/>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9" name="kpi:learning_in_progress"/>
          <p:cNvSpPr/>
          <p:nvPr/>
        </p:nvSpPr>
        <p:spPr>
          <a:xfrm>
            <a:off x="7984812" y="5261677"/>
            <a:ext cx="1737360" cy="310896"/>
          </a:xfrm>
          <a:prstGeom prst="rect">
            <a:avLst/>
          </a:prstGeom>
          <a:noFill/>
          <a:ln/>
        </p:spPr>
        <p:txBody>
          <a:bodyPr wrap="square" lIns="0" tIns="0" rIns="0" bIns="0" rtlCol="0" anchor="ctr">
            <a:normAutofit/>
          </a:bodyPr>
          <a:lstStyle/>
          <a:p>
            <a:pPr marL="0" indent="0" algn="ctr">
              <a:buNone/>
            </a:pPr>
            <a:r>
              <a:rPr lang="en-US" sz="2000" b="1">
                <a:solidFill>
                  <a:srgbClr val="29856F"/>
                </a:solidFill>
                <a:ea typeface="Roboto Light"/>
                <a:cs typeface="Roboto Light"/>
              </a:rPr>
              <a:t>160</a:t>
            </a:r>
          </a:p>
        </p:txBody>
      </p:sp>
      <p:sp>
        <p:nvSpPr>
          <p:cNvPr id="21" name="Text 15"/>
          <p:cNvSpPr/>
          <p:nvPr/>
        </p:nvSpPr>
        <p:spPr>
          <a:xfrm>
            <a:off x="7920804" y="5571266"/>
            <a:ext cx="1865376" cy="182880"/>
          </a:xfrm>
          <a:prstGeom prst="rect">
            <a:avLst/>
          </a:prstGeom>
          <a:noFill/>
          <a:ln/>
        </p:spPr>
        <p:txBody>
          <a:bodyPr wrap="square" lIns="0" tIns="0" rIns="0" bIns="0" rtlCol="0" anchor="ctr">
            <a:normAutofit/>
          </a:bodyPr>
          <a:lstStyle/>
          <a:p>
            <a:pPr algn="ctr"/>
            <a:r>
              <a:rPr lang="en-US" sz="950" b="1">
                <a:ea typeface="Roboto Light"/>
                <a:cs typeface="Roboto Light"/>
              </a:rPr>
              <a:t>In Progress</a:t>
            </a:r>
          </a:p>
        </p:txBody>
      </p:sp>
      <p:sp>
        <p:nvSpPr>
          <p:cNvPr id="22" name="Rounded Rectangle 13"/>
          <p:cNvSpPr/>
          <p:nvPr/>
        </p:nvSpPr>
        <p:spPr>
          <a:xfrm>
            <a:off x="6034713" y="2125618"/>
            <a:ext cx="4692250" cy="2890665"/>
          </a:xfrm>
          <a:prstGeom prst="roundRect">
            <a:avLst/>
          </a:prstGeom>
          <a:solidFill>
            <a:srgbClr val="FFFFFF"/>
          </a:solidFill>
          <a:ln w="8890">
            <a:solidFill>
              <a:srgbClr val="DE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59104" y="2346102"/>
            <a:ext cx="4311831" cy="221599"/>
          </a:xfrm>
          <a:prstGeom prst="rect">
            <a:avLst/>
          </a:prstGeom>
          <a:noFill/>
        </p:spPr>
        <p:txBody>
          <a:bodyPr wrap="square" lIns="18288" tIns="18288" rIns="18288" bIns="18288" anchor="t">
            <a:spAutoFit/>
          </a:bodyPr>
          <a:lstStyle/>
          <a:p>
            <a:pPr>
              <a:defRPr sz="900" b="1">
                <a:solidFill>
                  <a:srgbClr val="2D3234"/>
                </a:solidFill>
                <a:latin typeface="Arial"/>
              </a:defRPr>
            </a:pPr>
            <a:r>
              <a:rPr lang="en-US" sz="1200"/>
              <a:t>Learning By Module</a:t>
            </a:r>
            <a:endParaRPr lang="en-US" sz="1200">
              <a:cs typeface="Arial"/>
            </a:endParaRPr>
          </a:p>
        </p:txBody>
      </p:sp>
      <p:sp>
        <p:nvSpPr>
          <p:cNvPr id="26" name="Shape 23"/>
          <p:cNvSpPr/>
          <p:nvPr/>
        </p:nvSpPr>
        <p:spPr>
          <a:xfrm>
            <a:off x="863213" y="5804443"/>
            <a:ext cx="4476536" cy="296597"/>
          </a:xfrm>
          <a:prstGeom prst="roundRect">
            <a:avLst>
              <a:gd name="adj" fmla="val 25862"/>
            </a:avLst>
          </a:prstGeom>
          <a:solidFill>
            <a:srgbClr val="FFFFFF"/>
          </a:solidFill>
          <a:ln w="10160">
            <a:solidFill>
              <a:srgbClr val="DDE4E6"/>
            </a:solidFill>
            <a:prstDash val="solid"/>
          </a:ln>
        </p:spPr>
        <p:txBody>
          <a:bodyPr lIns="91440" tIns="45720" rIns="91440" bIns="45720" anchor="t"/>
          <a:lstStyle/>
          <a:p>
            <a:r>
              <a:rPr lang="de-AT" sz="1100">
                <a:ea typeface="+mn-lt"/>
                <a:cs typeface="+mn-lt"/>
              </a:rPr>
              <a:t>Strong </a:t>
            </a:r>
            <a:r>
              <a:rPr lang="de-AT" sz="1100" err="1">
                <a:ea typeface="+mn-lt"/>
                <a:cs typeface="+mn-lt"/>
              </a:rPr>
              <a:t>engagement</a:t>
            </a:r>
            <a:r>
              <a:rPr lang="de-AT" sz="1100">
                <a:ea typeface="+mn-lt"/>
                <a:cs typeface="+mn-lt"/>
              </a:rPr>
              <a:t> </a:t>
            </a:r>
            <a:r>
              <a:rPr lang="de-AT" sz="1100" err="1">
                <a:ea typeface="+mn-lt"/>
                <a:cs typeface="+mn-lt"/>
              </a:rPr>
              <a:t>creates</a:t>
            </a:r>
            <a:r>
              <a:rPr lang="de-AT" sz="1100">
                <a:ea typeface="+mn-lt"/>
                <a:cs typeface="+mn-lt"/>
              </a:rPr>
              <a:t> a solid </a:t>
            </a:r>
            <a:r>
              <a:rPr lang="de-AT" sz="1100" err="1">
                <a:ea typeface="+mn-lt"/>
                <a:cs typeface="+mn-lt"/>
              </a:rPr>
              <a:t>base</a:t>
            </a:r>
            <a:r>
              <a:rPr lang="de-AT" sz="1100">
                <a:ea typeface="+mn-lt"/>
                <a:cs typeface="+mn-lt"/>
              </a:rPr>
              <a:t> </a:t>
            </a:r>
            <a:r>
              <a:rPr lang="de-AT" sz="1100" err="1">
                <a:ea typeface="+mn-lt"/>
                <a:cs typeface="+mn-lt"/>
              </a:rPr>
              <a:t>to</a:t>
            </a:r>
            <a:r>
              <a:rPr lang="de-AT" sz="1100">
                <a:ea typeface="+mn-lt"/>
                <a:cs typeface="+mn-lt"/>
              </a:rPr>
              <a:t> </a:t>
            </a:r>
            <a:r>
              <a:rPr lang="de-AT" sz="1100" err="1">
                <a:ea typeface="+mn-lt"/>
                <a:cs typeface="+mn-lt"/>
              </a:rPr>
              <a:t>expand</a:t>
            </a:r>
            <a:r>
              <a:rPr lang="de-AT" sz="1100">
                <a:ea typeface="+mn-lt"/>
                <a:cs typeface="+mn-lt"/>
              </a:rPr>
              <a:t> </a:t>
            </a:r>
            <a:r>
              <a:rPr lang="de-AT" sz="1100" err="1">
                <a:ea typeface="+mn-lt"/>
                <a:cs typeface="+mn-lt"/>
              </a:rPr>
              <a:t>learning</a:t>
            </a:r>
            <a:r>
              <a:rPr lang="de-AT" sz="1100">
                <a:ea typeface="+mn-lt"/>
                <a:cs typeface="+mn-lt"/>
              </a:rPr>
              <a:t> </a:t>
            </a:r>
            <a:r>
              <a:rPr lang="de-AT" sz="1100" err="1">
                <a:ea typeface="+mn-lt"/>
                <a:cs typeface="+mn-lt"/>
              </a:rPr>
              <a:t>further</a:t>
            </a:r>
            <a:r>
              <a:rPr lang="de-AT" sz="1100">
                <a:ea typeface="+mn-lt"/>
                <a:cs typeface="+mn-lt"/>
              </a:rPr>
              <a:t>.</a:t>
            </a:r>
            <a:endParaRPr lang="en-US" sz="1100"/>
          </a:p>
        </p:txBody>
      </p:sp>
      <p:sp>
        <p:nvSpPr>
          <p:cNvPr id="28" name="Shape 24"/>
          <p:cNvSpPr/>
          <p:nvPr/>
        </p:nvSpPr>
        <p:spPr>
          <a:xfrm>
            <a:off x="863213" y="5797217"/>
            <a:ext cx="58539" cy="296597"/>
          </a:xfrm>
          <a:prstGeom prst="rect">
            <a:avLst/>
          </a:prstGeom>
          <a:solidFill>
            <a:srgbClr val="E4002B"/>
          </a:solidFill>
          <a:ln w="12700">
            <a:solidFill>
              <a:srgbClr val="E4002B"/>
            </a:solidFill>
            <a:prstDash val="solid"/>
          </a:ln>
        </p:spPr>
        <p:txBody>
          <a:bodyPr/>
          <a:lstStyle/>
          <a:p>
            <a:endParaRPr lang="de-AT"/>
          </a:p>
        </p:txBody>
      </p:sp>
      <p:pic>
        <p:nvPicPr>
          <p:cNvPr id="2" name="chart:learning_by_module"/>
          <p:cNvPicPr>
            <a:picLocks noChangeAspect="1"/>
          </p:cNvPicPr>
          <p:nvPr/>
        </p:nvPicPr>
        <p:blipFill>
          <a:blip r:embed="rId3"/>
          <a:stretch>
            <a:fillRect/>
          </a:stretch>
        </p:blipFill>
        <p:spPr>
          <a:xfrm>
            <a:off x="6099629" y="2613478"/>
            <a:ext cx="4467616" cy="2227700"/>
          </a:xfrm>
          <a:prstGeom prst="rect">
            <a:avLst/>
          </a:prstGeom>
        </p:spPr>
      </p:pic>
      <p:sp>
        <p:nvSpPr>
          <p:cNvPr id="65"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3" name="Text Placeholder 2"/>
          <p:cNvSpPr>
            <a:spLocks noGrp="1"/>
          </p:cNvSpPr>
          <p:nvPr/>
        </p:nvSpPr>
        <p:spPr>
          <a:xfrm>
            <a:off x="839788" y="6138665"/>
            <a:ext cx="10514012" cy="263149"/>
          </a:xfrm>
          <a:prstGeom prst="rect">
            <a:avLst/>
          </a:prstGeom>
        </p:spPr>
        <p:txBody>
          <a:bodyPr/>
          <a:lstStyle/>
          <a:p>
            <a:endParaRPr lang="de-AT"/>
          </a:p>
        </p:txBody>
      </p:sp>
      <p:sp>
        <p:nvSpPr>
          <p:cNvPr id="4" name="Title 3"/>
          <p:cNvSpPr>
            <a:spLocks noGrp="1"/>
          </p:cNvSpPr>
          <p:nvPr/>
        </p:nvSpPr>
        <p:spPr>
          <a:xfrm>
            <a:off x="854302" y="393682"/>
            <a:ext cx="10514012" cy="1752788"/>
          </a:xfrm>
          <a:prstGeom prst="rect">
            <a:avLst/>
          </a:prstGeom>
        </p:spPr>
        <p:txBody>
          <a:bodyPr/>
          <a:lstStyle/>
          <a:p>
            <a:r>
              <a:rPr lang="en-US" sz="2600">
                <a:solidFill>
                  <a:srgbClr val="F2F3F6"/>
                </a:solidFill>
                <a:ea typeface="+mj-lt"/>
                <a:cs typeface="+mj-lt"/>
              </a:rPr>
              <a:t>Learning continues to grow across countries</a:t>
            </a:r>
            <a:br>
              <a:rPr lang="en-US">
                <a:solidFill>
                  <a:srgbClr val="E8ECF4"/>
                </a:solidFill>
              </a:rPr>
            </a:br>
            <a:r>
              <a:rPr lang="en-US" sz="2200">
                <a:solidFill>
                  <a:srgbClr val="F2F3F6"/>
                </a:solidFill>
              </a:rPr>
              <a:t>Employee engagement by country and learning module</a:t>
            </a:r>
            <a:br>
              <a:rPr lang="en-US" sz="2200">
                <a:solidFill>
                  <a:srgbClr val="E8ECF4"/>
                </a:solidFill>
              </a:rPr>
            </a:br>
            <a:endParaRPr lang="de-AT" sz="2200"/>
          </a:p>
        </p:txBody>
      </p:sp>
      <p:sp>
        <p:nvSpPr>
          <p:cNvPr id="5" name="Date Placeholder 4"/>
          <p:cNvSpPr>
            <a:spLocks noGrp="1"/>
          </p:cNvSpPr>
          <p:nvPr/>
        </p:nvSpPr>
        <p:spPr>
          <a:xfrm>
            <a:off x="11063125" y="181996"/>
            <a:ext cx="873637" cy="153888"/>
          </a:xfrm>
          <a:prstGeom prst="rect">
            <a:avLst/>
          </a:prstGeom>
        </p:spPr>
        <p:txBody>
          <a:bodyPr/>
          <a:lstStyle/>
          <a:p>
            <a:r>
              <a:rPr lang="de-DE" sz="900">
                <a:solidFill>
                  <a:srgbClr val="9aa1b2"/>
                </a:solidFill>
              </a:rPr>
              <a:t>Demo data</a:t>
            </a:r>
            <a:endParaRPr lang="en-GB"/>
          </a:p>
        </p:txBody>
      </p:sp>
      <p:sp>
        <p:nvSpPr>
          <p:cNvPr id="6" name="Footer Placeholder 5"/>
          <p:cNvSpPr>
            <a:spLocks noGrp="1"/>
          </p:cNvSpPr>
          <p:nvPr/>
        </p:nvSpPr>
        <p:spPr>
          <a:xfrm>
            <a:off x="1466850" y="6587737"/>
            <a:ext cx="6953250" cy="184666"/>
          </a:xfrm>
          <a:prstGeom prst="rect">
            <a:avLst/>
          </a:prstGeom>
        </p:spPr>
        <p:txBody>
          <a:bodyPr/>
          <a:lstStyle/>
          <a:p>
            <a:r>
              <a:rPr lang="en-GB" sz="900">
                <a:solidFill>
                  <a:srgbClr val="9aa1b2"/>
                </a:solidFill>
              </a:rPr>
              <a:t>Contoso template</a:t>
            </a:r>
          </a:p>
        </p:txBody>
      </p:sp>
      <p:sp>
        <p:nvSpPr>
          <p:cNvPr id="7" name="kpi:learning_enrolled"/>
          <p:cNvSpPr>
            <a:spLocks noGrp="1"/>
          </p:cNvSpPr>
          <p:nvPr/>
        </p:nvSpPr>
        <p:spPr>
          <a:xfrm>
            <a:off x="839788" y="6587737"/>
            <a:ext cx="347662" cy="184666"/>
          </a:xfrm>
          <a:prstGeom prst="rect">
            <a:avLst/>
          </a:prstGeom>
        </p:spPr>
        <p:txBody>
          <a:bodyPr/>
          <a:lstStyle/>
          <a:p>
            <a:pPr algn="l"/>
            <a:fld id="{64E38502-06D2-4E51-82FE-464E052045F9}" type="slidenum">
              <a:rPr lang="en-GB" smtClean="0">
                <a:solidFill>
                  <a:srgbClr val="E8ECF4"/>
                </a:solidFill>
              </a:rPr>
              <a:pPr algn="l"/>
              <a:t>5</a:t>
            </a:fld>
            <a:endParaRPr lang="en-GB"/>
          </a:p>
        </p:txBody>
      </p:sp>
      <p:sp>
        <p:nvSpPr>
          <p:cNvPr id="55" name="Rounded Rectangle 13"/>
          <p:cNvSpPr/>
          <p:nvPr/>
        </p:nvSpPr>
        <p:spPr>
          <a:xfrm>
            <a:off x="1012772" y="2132875"/>
            <a:ext cx="4684993" cy="2883408"/>
          </a:xfrm>
          <a:prstGeom prst="roundRect">
            <a:avLst/>
          </a:prstGeom>
          <a:solidFill>
            <a:srgbClr val="FFFFFF"/>
          </a:solidFill>
          <a:ln w="8890">
            <a:solidFill>
              <a:srgbClr val="DE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585504" y="2229989"/>
            <a:ext cx="4311831" cy="221599"/>
          </a:xfrm>
          <a:prstGeom prst="rect">
            <a:avLst/>
          </a:prstGeom>
          <a:noFill/>
        </p:spPr>
        <p:txBody>
          <a:bodyPr wrap="square" lIns="18288" tIns="18288" rIns="18288" bIns="18288" anchor="t">
            <a:spAutoFit/>
          </a:bodyPr>
          <a:lstStyle/>
          <a:p>
            <a:pPr>
              <a:defRPr sz="900" b="1">
                <a:solidFill>
                  <a:srgbClr val="2D3234"/>
                </a:solidFill>
                <a:latin typeface="Arial"/>
              </a:defRPr>
            </a:pPr>
            <a:r>
              <a:rPr lang="en-US" sz="1200"/>
              <a:t>Learning By Country</a:t>
            </a:r>
            <a:endParaRPr lang="en-US" sz="1200">
              <a:cs typeface="Arial"/>
            </a:endParaRPr>
          </a:p>
        </p:txBody>
      </p:sp>
      <p:sp>
        <p:nvSpPr>
          <p:cNvPr id="11" name="Shape 13"/>
          <p:cNvSpPr/>
          <p:nvPr/>
        </p:nvSpPr>
        <p:spPr>
          <a:xfrm>
            <a:off x="5677186" y="5137144"/>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3" name="Text 14"/>
          <p:cNvSpPr/>
          <p:nvPr/>
        </p:nvSpPr>
        <p:spPr>
          <a:xfrm>
            <a:off x="5822183" y="5261677"/>
            <a:ext cx="1737360" cy="310896"/>
          </a:xfrm>
          <a:prstGeom prst="rect">
            <a:avLst/>
          </a:prstGeom>
          <a:noFill/>
          <a:ln/>
        </p:spPr>
        <p:txBody>
          <a:bodyPr wrap="square" lIns="0" tIns="0" rIns="0" bIns="0" rtlCol="0" anchor="ctr">
            <a:normAutofit/>
          </a:bodyPr>
          <a:lstStyle/>
          <a:p>
            <a:pPr marL="0" indent="0" algn="ctr">
              <a:buNone/>
            </a:pPr>
            <a:r>
              <a:rPr lang="en-US" sz="2000" b="1">
                <a:solidFill>
                  <a:srgbClr val="29856F"/>
                </a:solidFill>
                <a:ea typeface="Roboto Light"/>
                <a:cs typeface="Roboto Light"/>
              </a:rPr>
              <a:t>8</a:t>
            </a:r>
          </a:p>
        </p:txBody>
      </p:sp>
      <p:sp>
        <p:nvSpPr>
          <p:cNvPr id="15" name="Text 15"/>
          <p:cNvSpPr/>
          <p:nvPr/>
        </p:nvSpPr>
        <p:spPr>
          <a:xfrm>
            <a:off x="5750338" y="5571266"/>
            <a:ext cx="1865376" cy="182880"/>
          </a:xfrm>
          <a:prstGeom prst="rect">
            <a:avLst/>
          </a:prstGeom>
          <a:noFill/>
          <a:ln/>
        </p:spPr>
        <p:txBody>
          <a:bodyPr wrap="square" lIns="0" tIns="0" rIns="0" bIns="0" rtlCol="0" anchor="ctr">
            <a:normAutofit/>
          </a:bodyPr>
          <a:lstStyle/>
          <a:p>
            <a:pPr marL="0" indent="0" algn="ctr">
              <a:buNone/>
            </a:pPr>
            <a:r>
              <a:rPr lang="en-US" sz="950" b="1">
                <a:ea typeface="Roboto Light"/>
                <a:cs typeface="Roboto Light"/>
              </a:rPr>
              <a:t>Enrolled</a:t>
            </a:r>
          </a:p>
        </p:txBody>
      </p:sp>
      <p:sp>
        <p:nvSpPr>
          <p:cNvPr id="17" name="Shape 13"/>
          <p:cNvSpPr/>
          <p:nvPr/>
        </p:nvSpPr>
        <p:spPr>
          <a:xfrm>
            <a:off x="7847652" y="5137144"/>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9" name="kpi:learning_in_progress"/>
          <p:cNvSpPr/>
          <p:nvPr/>
        </p:nvSpPr>
        <p:spPr>
          <a:xfrm>
            <a:off x="7984812" y="5261677"/>
            <a:ext cx="1737360" cy="310896"/>
          </a:xfrm>
          <a:prstGeom prst="rect">
            <a:avLst/>
          </a:prstGeom>
          <a:noFill/>
          <a:ln/>
        </p:spPr>
        <p:txBody>
          <a:bodyPr wrap="square" lIns="0" tIns="0" rIns="0" bIns="0" rtlCol="0" anchor="ctr">
            <a:normAutofit/>
          </a:bodyPr>
          <a:lstStyle/>
          <a:p>
            <a:pPr marL="0" indent="0" algn="ctr">
              <a:buNone/>
            </a:pPr>
            <a:r>
              <a:rPr lang="en-US" sz="2000" b="1">
                <a:solidFill>
                  <a:srgbClr val="29856F"/>
                </a:solidFill>
                <a:ea typeface="Roboto Light"/>
                <a:cs typeface="Roboto Light"/>
              </a:rPr>
              <a:t>192</a:t>
            </a:r>
          </a:p>
        </p:txBody>
      </p:sp>
      <p:sp>
        <p:nvSpPr>
          <p:cNvPr id="21" name="Text 15"/>
          <p:cNvSpPr/>
          <p:nvPr/>
        </p:nvSpPr>
        <p:spPr>
          <a:xfrm>
            <a:off x="7920804" y="5571266"/>
            <a:ext cx="1865376" cy="182880"/>
          </a:xfrm>
          <a:prstGeom prst="rect">
            <a:avLst/>
          </a:prstGeom>
          <a:noFill/>
          <a:ln/>
        </p:spPr>
        <p:txBody>
          <a:bodyPr wrap="square" lIns="0" tIns="0" rIns="0" bIns="0" rtlCol="0" anchor="ctr">
            <a:normAutofit/>
          </a:bodyPr>
          <a:lstStyle/>
          <a:p>
            <a:pPr algn="ctr"/>
            <a:r>
              <a:rPr lang="en-US" sz="950" b="1">
                <a:ea typeface="Roboto Light"/>
                <a:cs typeface="Roboto Light"/>
              </a:rPr>
              <a:t>In Progress</a:t>
            </a:r>
          </a:p>
        </p:txBody>
      </p:sp>
      <p:sp>
        <p:nvSpPr>
          <p:cNvPr id="22" name="Rounded Rectangle 13"/>
          <p:cNvSpPr/>
          <p:nvPr/>
        </p:nvSpPr>
        <p:spPr>
          <a:xfrm>
            <a:off x="6034713" y="2125618"/>
            <a:ext cx="4692250" cy="2890665"/>
          </a:xfrm>
          <a:prstGeom prst="roundRect">
            <a:avLst/>
          </a:prstGeom>
          <a:solidFill>
            <a:srgbClr val="FFFFFF"/>
          </a:solidFill>
          <a:ln w="8890">
            <a:solidFill>
              <a:srgbClr val="DE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59104" y="2346102"/>
            <a:ext cx="4311831" cy="221599"/>
          </a:xfrm>
          <a:prstGeom prst="rect">
            <a:avLst/>
          </a:prstGeom>
          <a:noFill/>
        </p:spPr>
        <p:txBody>
          <a:bodyPr wrap="square" lIns="18288" tIns="18288" rIns="18288" bIns="18288" anchor="t">
            <a:spAutoFit/>
          </a:bodyPr>
          <a:lstStyle/>
          <a:p>
            <a:pPr>
              <a:defRPr sz="900" b="1">
                <a:solidFill>
                  <a:srgbClr val="2D3234"/>
                </a:solidFill>
                <a:latin typeface="Arial"/>
              </a:defRPr>
            </a:pPr>
            <a:r>
              <a:rPr lang="en-US" sz="1200"/>
              <a:t>Learning By Module</a:t>
            </a:r>
            <a:endParaRPr lang="en-US" sz="1200">
              <a:cs typeface="Arial"/>
            </a:endParaRPr>
          </a:p>
        </p:txBody>
      </p:sp>
      <p:sp>
        <p:nvSpPr>
          <p:cNvPr id="26" name="Shape 23"/>
          <p:cNvSpPr/>
          <p:nvPr/>
        </p:nvSpPr>
        <p:spPr>
          <a:xfrm>
            <a:off x="863213" y="5804443"/>
            <a:ext cx="4476536" cy="296597"/>
          </a:xfrm>
          <a:prstGeom prst="roundRect">
            <a:avLst>
              <a:gd name="adj" fmla="val 25862"/>
            </a:avLst>
          </a:prstGeom>
          <a:solidFill>
            <a:srgbClr val="FFFFFF"/>
          </a:solidFill>
          <a:ln w="10160">
            <a:solidFill>
              <a:srgbClr val="DDE4E6"/>
            </a:solidFill>
            <a:prstDash val="solid"/>
          </a:ln>
        </p:spPr>
        <p:txBody>
          <a:bodyPr lIns="91440" tIns="45720" rIns="91440" bIns="45720" anchor="t"/>
          <a:lstStyle/>
          <a:p>
            <a:r>
              <a:rPr lang="de-AT" sz="1100">
                <a:ea typeface="+mn-lt"/>
                <a:cs typeface="+mn-lt"/>
              </a:rPr>
              <a:t>Strong </a:t>
            </a:r>
            <a:r>
              <a:rPr lang="de-AT" sz="1100" err="1">
                <a:ea typeface="+mn-lt"/>
                <a:cs typeface="+mn-lt"/>
              </a:rPr>
              <a:t>engagement</a:t>
            </a:r>
            <a:r>
              <a:rPr lang="de-AT" sz="1100">
                <a:ea typeface="+mn-lt"/>
                <a:cs typeface="+mn-lt"/>
              </a:rPr>
              <a:t> </a:t>
            </a:r>
            <a:r>
              <a:rPr lang="de-AT" sz="1100" err="1">
                <a:ea typeface="+mn-lt"/>
                <a:cs typeface="+mn-lt"/>
              </a:rPr>
              <a:t>creates</a:t>
            </a:r>
            <a:r>
              <a:rPr lang="de-AT" sz="1100">
                <a:ea typeface="+mn-lt"/>
                <a:cs typeface="+mn-lt"/>
              </a:rPr>
              <a:t> a solid </a:t>
            </a:r>
            <a:r>
              <a:rPr lang="de-AT" sz="1100" err="1">
                <a:ea typeface="+mn-lt"/>
                <a:cs typeface="+mn-lt"/>
              </a:rPr>
              <a:t>base</a:t>
            </a:r>
            <a:r>
              <a:rPr lang="de-AT" sz="1100">
                <a:ea typeface="+mn-lt"/>
                <a:cs typeface="+mn-lt"/>
              </a:rPr>
              <a:t> </a:t>
            </a:r>
            <a:r>
              <a:rPr lang="de-AT" sz="1100" err="1">
                <a:ea typeface="+mn-lt"/>
                <a:cs typeface="+mn-lt"/>
              </a:rPr>
              <a:t>to</a:t>
            </a:r>
            <a:r>
              <a:rPr lang="de-AT" sz="1100">
                <a:ea typeface="+mn-lt"/>
                <a:cs typeface="+mn-lt"/>
              </a:rPr>
              <a:t> </a:t>
            </a:r>
            <a:r>
              <a:rPr lang="de-AT" sz="1100" err="1">
                <a:ea typeface="+mn-lt"/>
                <a:cs typeface="+mn-lt"/>
              </a:rPr>
              <a:t>expand</a:t>
            </a:r>
            <a:r>
              <a:rPr lang="de-AT" sz="1100">
                <a:ea typeface="+mn-lt"/>
                <a:cs typeface="+mn-lt"/>
              </a:rPr>
              <a:t> </a:t>
            </a:r>
            <a:r>
              <a:rPr lang="de-AT" sz="1100" err="1">
                <a:ea typeface="+mn-lt"/>
                <a:cs typeface="+mn-lt"/>
              </a:rPr>
              <a:t>learning</a:t>
            </a:r>
            <a:r>
              <a:rPr lang="de-AT" sz="1100">
                <a:ea typeface="+mn-lt"/>
                <a:cs typeface="+mn-lt"/>
              </a:rPr>
              <a:t> </a:t>
            </a:r>
            <a:r>
              <a:rPr lang="de-AT" sz="1100" err="1">
                <a:ea typeface="+mn-lt"/>
                <a:cs typeface="+mn-lt"/>
              </a:rPr>
              <a:t>further</a:t>
            </a:r>
            <a:r>
              <a:rPr lang="de-AT" sz="1100">
                <a:ea typeface="+mn-lt"/>
                <a:cs typeface="+mn-lt"/>
              </a:rPr>
              <a:t>.</a:t>
            </a:r>
            <a:endParaRPr lang="en-US" sz="1100"/>
          </a:p>
        </p:txBody>
      </p:sp>
      <p:sp>
        <p:nvSpPr>
          <p:cNvPr id="28" name="Shape 24"/>
          <p:cNvSpPr/>
          <p:nvPr/>
        </p:nvSpPr>
        <p:spPr>
          <a:xfrm>
            <a:off x="863213" y="5797217"/>
            <a:ext cx="58539" cy="296597"/>
          </a:xfrm>
          <a:prstGeom prst="rect">
            <a:avLst/>
          </a:prstGeom>
          <a:solidFill>
            <a:srgbClr val="E4002B"/>
          </a:solidFill>
          <a:ln w="12700">
            <a:solidFill>
              <a:srgbClr val="E4002B"/>
            </a:solidFill>
            <a:prstDash val="solid"/>
          </a:ln>
        </p:spPr>
        <p:txBody>
          <a:bodyPr/>
          <a:lstStyle/>
          <a:p>
            <a:endParaRPr lang="de-AT"/>
          </a:p>
        </p:txBody>
      </p:sp>
      <p:pic>
        <p:nvPicPr>
          <p:cNvPr id="14" name="chart:learning_reach_by_country"/>
          <p:cNvPicPr>
            <a:picLocks noChangeAspect="1"/>
          </p:cNvPicPr>
          <p:nvPr/>
        </p:nvPicPr>
        <p:blipFill>
          <a:blip r:embed="rId2"/>
          <a:stretch>
            <a:fillRect/>
          </a:stretch>
        </p:blipFill>
        <p:spPr>
          <a:xfrm>
            <a:off x="1381002" y="2548702"/>
            <a:ext cx="3948532" cy="2293509"/>
          </a:xfrm>
          <a:prstGeom prst="rect">
            <a:avLst/>
          </a:prstGeom>
        </p:spPr>
      </p:pic>
      <p:pic>
        <p:nvPicPr>
          <p:cNvPr id="2" name="chart:learning_reach_by_module"/>
          <p:cNvPicPr>
            <a:picLocks noChangeAspect="1"/>
          </p:cNvPicPr>
          <p:nvPr/>
        </p:nvPicPr>
        <p:blipFill>
          <a:blip r:embed="rId3"/>
          <a:stretch>
            <a:fillRect/>
          </a:stretch>
        </p:blipFill>
        <p:spPr>
          <a:xfrm>
            <a:off x="6259285" y="2574471"/>
            <a:ext cx="3945100" cy="2344376"/>
          </a:xfrm>
          <a:prstGeom prst="rect">
            <a:avLst/>
          </a:prstGeom>
        </p:spPr>
      </p:pic>
      <p:sp>
        <p:nvSpPr>
          <p:cNvPr id="65"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3" name="Text Placeholder 2"/>
          <p:cNvSpPr>
            <a:spLocks noGrp="1"/>
          </p:cNvSpPr>
          <p:nvPr/>
        </p:nvSpPr>
        <p:spPr>
          <a:xfrm>
            <a:off x="839788" y="6138665"/>
            <a:ext cx="10514012" cy="263149"/>
          </a:xfrm>
          <a:prstGeom prst="rect">
            <a:avLst/>
          </a:prstGeom>
        </p:spPr>
        <p:txBody>
          <a:bodyPr/>
          <a:lstStyle/>
          <a:p>
            <a:endParaRPr lang="de-AT"/>
          </a:p>
        </p:txBody>
      </p:sp>
      <p:sp>
        <p:nvSpPr>
          <p:cNvPr id="4" name="Title 3"/>
          <p:cNvSpPr>
            <a:spLocks noGrp="1"/>
          </p:cNvSpPr>
          <p:nvPr/>
        </p:nvSpPr>
        <p:spPr>
          <a:xfrm>
            <a:off x="839788" y="854700"/>
            <a:ext cx="10514012" cy="1386533"/>
          </a:xfrm>
          <a:prstGeom prst="rect">
            <a:avLst/>
          </a:prstGeom>
        </p:spPr>
        <p:txBody>
          <a:bodyPr/>
          <a:lstStyle/>
          <a:p>
            <a:r>
              <a:rPr lang="en-US" sz="3600">
                <a:solidFill>
                  <a:srgbClr val="F2F3F6"/>
                </a:solidFill>
              </a:rPr>
              <a:t>Databricks Trainings </a:t>
            </a:r>
            <a:r>
              <a:rPr lang="en-US" sz="3600">
                <a:solidFill>
                  <a:srgbClr val="7A8285"/>
                </a:solidFill>
                <a:ea typeface="Aptos Display" pitchFamily="34" charset="-122"/>
              </a:rPr>
              <a:t>A</a:t>
            </a:r>
            <a:r>
              <a:rPr lang="en-US" sz="3600">
                <a:solidFill>
                  <a:srgbClr val="7A8285"/>
                </a:solidFill>
                <a:ea typeface="Aptos Display" pitchFamily="34" charset="-122"/>
                <a:cs typeface="Aptos Display" pitchFamily="34" charset="-120"/>
              </a:rPr>
              <a:t>cross the Group</a:t>
            </a:r>
            <a:br>
              <a:rPr lang="en-US">
                <a:solidFill>
                  <a:srgbClr val="7A8285"/>
                </a:solidFill>
                <a:ea typeface="Aptos Display" pitchFamily="34" charset="-122"/>
                <a:cs typeface="Aptos Display" pitchFamily="34" charset="-120"/>
              </a:rPr>
            </a:br>
            <a:r>
              <a:rPr lang="en-US" sz="2200">
                <a:solidFill>
                  <a:srgbClr val="9AA2A5"/>
                </a:solidFill>
                <a:ea typeface="Aptos" pitchFamily="34" charset="-122"/>
                <a:cs typeface="Aptos Display" pitchFamily="34" charset="-120"/>
              </a:rPr>
              <a:t>S</a:t>
            </a:r>
            <a:r>
              <a:rPr lang="en-US" sz="2200">
                <a:solidFill>
                  <a:srgbClr val="9AA2A5"/>
                </a:solidFill>
                <a:ea typeface="Aptos" pitchFamily="34" charset="-122"/>
                <a:cs typeface="Aptos" pitchFamily="34" charset="-120"/>
              </a:rPr>
              <a:t>hows that interest is converting into completed learning</a:t>
            </a:r>
            <a:br>
              <a:rPr lang="en-US" sz="2400">
                <a:solidFill>
                  <a:srgbClr val="E8ECF4"/>
                </a:solidFill>
              </a:rPr>
            </a:br>
            <a:br>
              <a:rPr lang="en-US" sz="2400">
                <a:solidFill>
                  <a:srgbClr val="E8ECF4"/>
                </a:solidFill>
              </a:rPr>
            </a:br>
            <a:endParaRPr lang="de-AT" sz="2400"/>
          </a:p>
        </p:txBody>
      </p:sp>
      <p:sp>
        <p:nvSpPr>
          <p:cNvPr id="5" name="Date Placeholder 4"/>
          <p:cNvSpPr>
            <a:spLocks noGrp="1"/>
          </p:cNvSpPr>
          <p:nvPr/>
        </p:nvSpPr>
        <p:spPr>
          <a:xfrm>
            <a:off x="11063125" y="181996"/>
            <a:ext cx="873637" cy="153888"/>
          </a:xfrm>
          <a:prstGeom prst="rect">
            <a:avLst/>
          </a:prstGeom>
        </p:spPr>
        <p:txBody>
          <a:bodyPr/>
          <a:lstStyle/>
          <a:p>
            <a:r>
              <a:rPr lang="de-DE" sz="900">
                <a:solidFill>
                  <a:srgbClr val="9aa1b2"/>
                </a:solidFill>
              </a:rPr>
              <a:t>Demo data</a:t>
            </a:r>
            <a:endParaRPr lang="en-GB"/>
          </a:p>
        </p:txBody>
      </p:sp>
      <p:sp>
        <p:nvSpPr>
          <p:cNvPr id="6" name="Footer Placeholder 5"/>
          <p:cNvSpPr>
            <a:spLocks noGrp="1"/>
          </p:cNvSpPr>
          <p:nvPr/>
        </p:nvSpPr>
        <p:spPr>
          <a:xfrm>
            <a:off x="1466850" y="6587737"/>
            <a:ext cx="6953250" cy="184666"/>
          </a:xfrm>
          <a:prstGeom prst="rect">
            <a:avLst/>
          </a:prstGeom>
        </p:spPr>
        <p:txBody>
          <a:bodyPr/>
          <a:lstStyle/>
          <a:p>
            <a:r>
              <a:rPr lang="en-GB" sz="900">
                <a:solidFill>
                  <a:srgbClr val="9aa1b2"/>
                </a:solidFill>
              </a:rPr>
              <a:t>Contoso template</a:t>
            </a:r>
          </a:p>
        </p:txBody>
      </p:sp>
      <p:sp>
        <p:nvSpPr>
          <p:cNvPr id="7" name="Slide Number Placeholder 6"/>
          <p:cNvSpPr>
            <a:spLocks noGrp="1"/>
          </p:cNvSpPr>
          <p:nvPr/>
        </p:nvSpPr>
        <p:spPr>
          <a:xfrm>
            <a:off x="839788" y="6587737"/>
            <a:ext cx="347662" cy="184666"/>
          </a:xfrm>
          <a:prstGeom prst="rect">
            <a:avLst/>
          </a:prstGeom>
        </p:spPr>
        <p:txBody>
          <a:bodyPr/>
          <a:lstStyle/>
          <a:p>
            <a:pPr algn="l"/>
            <a:fld id="{64E38502-06D2-4E51-82FE-464E052045F9}" type="slidenum">
              <a:rPr lang="en-GB" smtClean="0">
                <a:solidFill>
                  <a:srgbClr val="E8ECF4"/>
                </a:solidFill>
              </a:rPr>
              <a:pPr algn="l"/>
              <a:t>6</a:t>
            </a:fld>
            <a:endParaRPr lang="en-GB"/>
          </a:p>
        </p:txBody>
      </p:sp>
      <p:sp>
        <p:nvSpPr>
          <p:cNvPr id="33" name="Shape 23"/>
          <p:cNvSpPr/>
          <p:nvPr/>
        </p:nvSpPr>
        <p:spPr>
          <a:xfrm>
            <a:off x="867395" y="5804443"/>
            <a:ext cx="6313706" cy="332882"/>
          </a:xfrm>
          <a:prstGeom prst="roundRect">
            <a:avLst>
              <a:gd name="adj" fmla="val 25862"/>
            </a:avLst>
          </a:prstGeom>
          <a:solidFill>
            <a:srgbClr val="FFFFFF"/>
          </a:solidFill>
          <a:ln w="10160">
            <a:solidFill>
              <a:srgbClr val="DDE4E6"/>
            </a:solidFill>
            <a:prstDash val="solid"/>
          </a:ln>
        </p:spPr>
        <p:txBody>
          <a:bodyPr/>
          <a:lstStyle/>
          <a:p>
            <a:endParaRPr lang="de-AT"/>
          </a:p>
        </p:txBody>
      </p:sp>
      <p:sp>
        <p:nvSpPr>
          <p:cNvPr id="34" name="Shape 24"/>
          <p:cNvSpPr/>
          <p:nvPr/>
        </p:nvSpPr>
        <p:spPr>
          <a:xfrm>
            <a:off x="839788" y="5804443"/>
            <a:ext cx="73053" cy="296597"/>
          </a:xfrm>
          <a:prstGeom prst="rect">
            <a:avLst/>
          </a:prstGeom>
          <a:solidFill>
            <a:srgbClr val="E4002B"/>
          </a:solidFill>
          <a:ln w="12700">
            <a:solidFill>
              <a:srgbClr val="E4002B"/>
            </a:solidFill>
            <a:prstDash val="solid"/>
          </a:ln>
        </p:spPr>
        <p:txBody>
          <a:bodyPr/>
          <a:lstStyle/>
          <a:p>
            <a:endParaRPr lang="de-AT"/>
          </a:p>
        </p:txBody>
      </p:sp>
      <p:sp>
        <p:nvSpPr>
          <p:cNvPr id="35" name="Text 25"/>
          <p:cNvSpPr/>
          <p:nvPr/>
        </p:nvSpPr>
        <p:spPr>
          <a:xfrm>
            <a:off x="1015902" y="5664981"/>
            <a:ext cx="6862102" cy="612385"/>
          </a:xfrm>
          <a:prstGeom prst="rect">
            <a:avLst/>
          </a:prstGeom>
          <a:noFill/>
          <a:ln/>
        </p:spPr>
        <p:txBody>
          <a:bodyPr wrap="square" lIns="0" tIns="0" rIns="0" bIns="0" rtlCol="0" anchor="ctr">
            <a:noAutofit/>
          </a:bodyPr>
          <a:lstStyle/>
          <a:p>
            <a:r>
              <a:rPr lang="en-US" sz="1100"/>
              <a:t>Ignite &amp; Learn levels completions across 24 companies show scalable Data &amp; AI capability building.</a:t>
            </a:r>
          </a:p>
        </p:txBody>
      </p:sp>
      <p:grpSp>
        <p:nvGrpSpPr>
          <p:cNvPr id="2" name="Group 1"/>
          <p:cNvGrpSpPr/>
          <p:nvPr/>
        </p:nvGrpSpPr>
        <p:grpSpPr>
          <a:xfrm>
            <a:off x="5623025" y="1795279"/>
            <a:ext cx="5454917" cy="3783246"/>
            <a:chOff x="1006362" y="2328856"/>
            <a:chExt cx="5454917" cy="3225617"/>
          </a:xfrm>
        </p:grpSpPr>
        <p:sp>
          <p:nvSpPr>
            <p:cNvPr id="36" name="Shape 19"/>
            <p:cNvSpPr/>
            <p:nvPr/>
          </p:nvSpPr>
          <p:spPr>
            <a:xfrm>
              <a:off x="1006362" y="2328856"/>
              <a:ext cx="5263856" cy="3225617"/>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37" name="Text 20"/>
            <p:cNvSpPr/>
            <p:nvPr/>
          </p:nvSpPr>
          <p:spPr>
            <a:xfrm>
              <a:off x="1395503" y="2559687"/>
              <a:ext cx="5065776" cy="201168"/>
            </a:xfrm>
            <a:prstGeom prst="rect">
              <a:avLst/>
            </a:prstGeom>
            <a:noFill/>
            <a:ln/>
          </p:spPr>
          <p:txBody>
            <a:bodyPr wrap="square" lIns="0" tIns="0" rIns="0" bIns="0" rtlCol="0" anchor="ctr"/>
            <a:lstStyle/>
            <a:p>
              <a:pPr marL="0" indent="0">
                <a:buNone/>
              </a:pPr>
              <a:r>
                <a:rPr lang="en-US" sz="1200" b="1"/>
                <a:t>Completions By Company</a:t>
              </a:r>
            </a:p>
          </p:txBody>
        </p:sp>
      </p:grpSp>
      <p:grpSp>
        <p:nvGrpSpPr>
          <p:cNvPr id="58" name="Group 57"/>
          <p:cNvGrpSpPr/>
          <p:nvPr/>
        </p:nvGrpSpPr>
        <p:grpSpPr>
          <a:xfrm>
            <a:off x="1013619" y="1821053"/>
            <a:ext cx="3931920" cy="2468880"/>
            <a:chOff x="-267475" y="4968706"/>
            <a:chExt cx="3931920" cy="2468880"/>
          </a:xfrm>
        </p:grpSpPr>
        <p:sp>
          <p:nvSpPr>
            <p:cNvPr id="42" name="Shape 4"/>
            <p:cNvSpPr/>
            <p:nvPr/>
          </p:nvSpPr>
          <p:spPr>
            <a:xfrm>
              <a:off x="-267475" y="4968706"/>
              <a:ext cx="3931920" cy="1097280"/>
            </a:xfrm>
            <a:prstGeom prst="roundRect">
              <a:avLst>
                <a:gd name="adj" fmla="val 13333"/>
              </a:avLst>
            </a:prstGeom>
            <a:solidFill>
              <a:srgbClr val="FFFFFF"/>
            </a:solidFill>
            <a:ln w="10160">
              <a:solidFill>
                <a:srgbClr val="E3E7EA"/>
              </a:solidFill>
              <a:prstDash val="solid"/>
            </a:ln>
            <a:effectLst>
              <a:outerShdw blurRad="16510" dist="50800" dir="2700000" algn="bl" rotWithShape="0">
                <a:srgbClr val="B6BDC1">
                  <a:alpha val="15000"/>
                </a:srgbClr>
              </a:outerShdw>
            </a:effectLst>
          </p:spPr>
          <p:txBody>
            <a:bodyPr/>
            <a:lstStyle/>
            <a:p>
              <a:endParaRPr lang="de-AT"/>
            </a:p>
          </p:txBody>
        </p:sp>
        <p:sp>
          <p:nvSpPr>
            <p:cNvPr id="43" name="kpi:db_participants"/>
            <p:cNvSpPr/>
            <p:nvPr/>
          </p:nvSpPr>
          <p:spPr>
            <a:xfrm>
              <a:off x="-29731" y="5281250"/>
              <a:ext cx="1554480" cy="438912"/>
            </a:xfrm>
            <a:prstGeom prst="rect">
              <a:avLst/>
            </a:prstGeom>
            <a:noFill/>
            <a:ln/>
          </p:spPr>
          <p:txBody>
            <a:bodyPr wrap="square" lIns="0" tIns="0" rIns="0" bIns="0" rtlCol="0" anchor="ctr"/>
            <a:lstStyle/>
            <a:p>
              <a:pPr marL="0" indent="0" algn="ctr">
                <a:buNone/>
              </a:pPr>
              <a:r>
                <a:rPr lang="en-US" sz="3000" b="1">
                  <a:solidFill>
                    <a:srgbClr val="007D8C"/>
                  </a:solidFill>
                </a:rPr>
                <a:t>139</a:t>
              </a:r>
              <a:endParaRPr lang="en-US" sz="3000" b="1"/>
            </a:p>
          </p:txBody>
        </p:sp>
        <p:sp>
          <p:nvSpPr>
            <p:cNvPr id="44" name="Shape 6"/>
            <p:cNvSpPr/>
            <p:nvPr/>
          </p:nvSpPr>
          <p:spPr>
            <a:xfrm>
              <a:off x="1607045" y="5179018"/>
              <a:ext cx="0" cy="685800"/>
            </a:xfrm>
            <a:prstGeom prst="line">
              <a:avLst/>
            </a:prstGeom>
            <a:noFill/>
            <a:ln w="12700">
              <a:solidFill>
                <a:srgbClr val="DDE4E6"/>
              </a:solidFill>
              <a:prstDash val="solid"/>
            </a:ln>
          </p:spPr>
          <p:txBody>
            <a:bodyPr/>
            <a:lstStyle/>
            <a:p>
              <a:endParaRPr lang="de-AT"/>
            </a:p>
          </p:txBody>
        </p:sp>
        <p:sp>
          <p:nvSpPr>
            <p:cNvPr id="45" name="Text 7"/>
            <p:cNvSpPr/>
            <p:nvPr/>
          </p:nvSpPr>
          <p:spPr>
            <a:xfrm>
              <a:off x="1815387" y="5416762"/>
              <a:ext cx="1554480" cy="201168"/>
            </a:xfrm>
            <a:prstGeom prst="rect">
              <a:avLst/>
            </a:prstGeom>
            <a:noFill/>
            <a:ln/>
          </p:spPr>
          <p:txBody>
            <a:bodyPr wrap="square" lIns="0" tIns="0" rIns="0" bIns="0" rtlCol="0" anchor="ctr">
              <a:normAutofit lnSpcReduction="10000"/>
            </a:bodyPr>
            <a:lstStyle/>
            <a:p>
              <a:pPr marL="0" indent="0">
                <a:buNone/>
              </a:pPr>
              <a:r>
                <a:rPr lang="en-US" sz="1400">
                  <a:solidFill>
                    <a:srgbClr val="7A8285"/>
                  </a:solidFill>
                  <a:ea typeface="Aptos" pitchFamily="34" charset="-122"/>
                  <a:cs typeface="Aptos" pitchFamily="34" charset="-120"/>
                </a:rPr>
                <a:t>participants</a:t>
              </a:r>
              <a:endParaRPr lang="en-US" sz="1400"/>
            </a:p>
          </p:txBody>
        </p:sp>
        <p:sp>
          <p:nvSpPr>
            <p:cNvPr id="46" name="Shape 8"/>
            <p:cNvSpPr/>
            <p:nvPr/>
          </p:nvSpPr>
          <p:spPr>
            <a:xfrm>
              <a:off x="-267475" y="6340306"/>
              <a:ext cx="3931920" cy="1097280"/>
            </a:xfrm>
            <a:prstGeom prst="roundRect">
              <a:avLst>
                <a:gd name="adj" fmla="val 13333"/>
              </a:avLst>
            </a:prstGeom>
            <a:solidFill>
              <a:srgbClr val="FFFFFF"/>
            </a:solidFill>
            <a:ln w="10160">
              <a:solidFill>
                <a:srgbClr val="E3E7EA"/>
              </a:solidFill>
              <a:prstDash val="solid"/>
            </a:ln>
            <a:effectLst>
              <a:outerShdw blurRad="16510" dist="50800" dir="2700000" algn="bl" rotWithShape="0">
                <a:srgbClr val="B6BDC1">
                  <a:alpha val="15000"/>
                </a:srgbClr>
              </a:outerShdw>
            </a:effectLst>
          </p:spPr>
          <p:txBody>
            <a:bodyPr/>
            <a:lstStyle/>
            <a:p>
              <a:endParaRPr lang="de-AT"/>
            </a:p>
          </p:txBody>
        </p:sp>
        <p:sp>
          <p:nvSpPr>
            <p:cNvPr id="47" name="kpi:db_companies"/>
            <p:cNvSpPr/>
            <p:nvPr/>
          </p:nvSpPr>
          <p:spPr>
            <a:xfrm>
              <a:off x="-29731" y="6638938"/>
              <a:ext cx="1554480" cy="438912"/>
            </a:xfrm>
            <a:prstGeom prst="rect">
              <a:avLst/>
            </a:prstGeom>
            <a:noFill/>
            <a:ln/>
          </p:spPr>
          <p:txBody>
            <a:bodyPr wrap="square" lIns="0" tIns="0" rIns="0" bIns="0" rtlCol="0" anchor="ctr"/>
            <a:lstStyle/>
            <a:p>
              <a:pPr marL="0" indent="0" algn="ctr">
                <a:buNone/>
              </a:pPr>
              <a:r>
                <a:rPr lang="en-US" sz="3000" b="1">
                  <a:solidFill>
                    <a:srgbClr val="A50050"/>
                  </a:solidFill>
                  <a:ea typeface="Aptos Display" pitchFamily="34" charset="-122"/>
                  <a:cs typeface="Aptos Display" pitchFamily="34" charset="-120"/>
                </a:rPr>
                <a:t>24</a:t>
              </a:r>
              <a:endParaRPr lang="en-US" sz="3000" b="1"/>
            </a:p>
          </p:txBody>
        </p:sp>
        <p:sp>
          <p:nvSpPr>
            <p:cNvPr id="48" name="Shape 10"/>
            <p:cNvSpPr/>
            <p:nvPr/>
          </p:nvSpPr>
          <p:spPr>
            <a:xfrm>
              <a:off x="1607045" y="6550618"/>
              <a:ext cx="0" cy="685800"/>
            </a:xfrm>
            <a:prstGeom prst="line">
              <a:avLst/>
            </a:prstGeom>
            <a:noFill/>
            <a:ln w="12700">
              <a:solidFill>
                <a:srgbClr val="DDE4E6"/>
              </a:solidFill>
              <a:prstDash val="solid"/>
            </a:ln>
          </p:spPr>
          <p:txBody>
            <a:bodyPr/>
            <a:lstStyle/>
            <a:p>
              <a:endParaRPr lang="de-AT"/>
            </a:p>
          </p:txBody>
        </p:sp>
        <p:sp>
          <p:nvSpPr>
            <p:cNvPr id="49" name="Text 11"/>
            <p:cNvSpPr/>
            <p:nvPr/>
          </p:nvSpPr>
          <p:spPr>
            <a:xfrm>
              <a:off x="1815387" y="6776098"/>
              <a:ext cx="1554480" cy="201168"/>
            </a:xfrm>
            <a:prstGeom prst="rect">
              <a:avLst/>
            </a:prstGeom>
            <a:noFill/>
            <a:ln/>
          </p:spPr>
          <p:txBody>
            <a:bodyPr wrap="square" lIns="0" tIns="0" rIns="0" bIns="0" rtlCol="0" anchor="ctr">
              <a:normAutofit lnSpcReduction="10000"/>
            </a:bodyPr>
            <a:lstStyle/>
            <a:p>
              <a:pPr marL="0" indent="0">
                <a:buNone/>
              </a:pPr>
              <a:r>
                <a:rPr lang="en-US" sz="1400">
                  <a:solidFill>
                    <a:srgbClr val="7A8285"/>
                  </a:solidFill>
                  <a:ea typeface="Aptos" pitchFamily="34" charset="-122"/>
                  <a:cs typeface="Aptos" pitchFamily="34" charset="-120"/>
                </a:rPr>
                <a:t>companies involved</a:t>
              </a:r>
              <a:endParaRPr lang="en-US" sz="1400"/>
            </a:p>
          </p:txBody>
        </p:sp>
      </p:grpSp>
      <p:pic>
        <p:nvPicPr>
          <p:cNvPr id="9" name="chart:db_training_completions_by_company"/>
          <p:cNvPicPr>
            <a:picLocks noChangeAspect="1"/>
          </p:cNvPicPr>
          <p:nvPr/>
        </p:nvPicPr>
        <p:blipFill>
          <a:blip r:embed="rId2"/>
          <a:stretch>
            <a:fillRect/>
          </a:stretch>
        </p:blipFill>
        <p:spPr>
          <a:xfrm>
            <a:off x="5699805" y="2398260"/>
            <a:ext cx="3854903" cy="2874282"/>
          </a:xfrm>
          <a:prstGeom prst="rect">
            <a:avLst/>
          </a:prstGeom>
        </p:spPr>
      </p:pic>
      <p:pic>
        <p:nvPicPr>
          <p:cNvPr id="8" name="chart:db_training_mapping"/>
          <p:cNvPicPr>
            <a:picLocks noChangeAspect="1"/>
          </p:cNvPicPr>
          <p:nvPr/>
        </p:nvPicPr>
        <p:blipFill>
          <a:blip r:embed="rId3"/>
          <a:stretch>
            <a:fillRect/>
          </a:stretch>
        </p:blipFill>
        <p:spPr>
          <a:xfrm>
            <a:off x="9584708" y="2408917"/>
            <a:ext cx="1044122" cy="2744108"/>
          </a:xfrm>
          <a:prstGeom prst="rect">
            <a:avLst/>
          </a:prstGeom>
        </p:spPr>
      </p:pic>
      <p:sp>
        <p:nvSpPr>
          <p:cNvPr id="10" name="Shape 8"/>
          <p:cNvSpPr/>
          <p:nvPr/>
        </p:nvSpPr>
        <p:spPr>
          <a:xfrm>
            <a:off x="1013619" y="4548889"/>
            <a:ext cx="3931920" cy="1097280"/>
          </a:xfrm>
          <a:prstGeom prst="roundRect">
            <a:avLst>
              <a:gd name="adj" fmla="val 13333"/>
            </a:avLst>
          </a:prstGeom>
          <a:solidFill>
            <a:srgbClr val="FFFFFF"/>
          </a:solidFill>
          <a:ln w="10160">
            <a:solidFill>
              <a:srgbClr val="E3E7EA"/>
            </a:solidFill>
            <a:prstDash val="solid"/>
          </a:ln>
          <a:effectLst>
            <a:outerShdw blurRad="16510" dist="50800" dir="2700000" algn="bl" rotWithShape="0">
              <a:srgbClr val="B6BDC1">
                <a:alpha val="15000"/>
              </a:srgbClr>
            </a:outerShdw>
          </a:effectLst>
        </p:spPr>
        <p:txBody>
          <a:bodyPr/>
          <a:lstStyle/>
          <a:p>
            <a:endParaRPr lang="de-AT"/>
          </a:p>
        </p:txBody>
      </p:sp>
      <p:sp>
        <p:nvSpPr>
          <p:cNvPr id="11" name="kpi:db_countries"/>
          <p:cNvSpPr/>
          <p:nvPr/>
        </p:nvSpPr>
        <p:spPr>
          <a:xfrm>
            <a:off x="1251363" y="4847521"/>
            <a:ext cx="1554480" cy="438912"/>
          </a:xfrm>
          <a:prstGeom prst="rect">
            <a:avLst/>
          </a:prstGeom>
          <a:noFill/>
          <a:ln/>
        </p:spPr>
        <p:txBody>
          <a:bodyPr wrap="square" lIns="0" tIns="0" rIns="0" bIns="0" rtlCol="0" anchor="ctr"/>
          <a:lstStyle/>
          <a:p>
            <a:pPr marL="0" indent="0" algn="ctr">
              <a:buNone/>
            </a:pPr>
            <a:r>
              <a:rPr lang="en-US" sz="3000" b="1">
                <a:solidFill>
                  <a:schemeClr val="accent4"/>
                </a:solidFill>
                <a:ea typeface="Aptos Display" pitchFamily="34" charset="-122"/>
              </a:rPr>
              <a:t>8</a:t>
            </a:r>
            <a:endParaRPr lang="en-US" sz="3000" b="1">
              <a:solidFill>
                <a:schemeClr val="accent4"/>
              </a:solidFill>
            </a:endParaRPr>
          </a:p>
        </p:txBody>
      </p:sp>
      <p:sp>
        <p:nvSpPr>
          <p:cNvPr id="12" name="Shape 10"/>
          <p:cNvSpPr/>
          <p:nvPr/>
        </p:nvSpPr>
        <p:spPr>
          <a:xfrm>
            <a:off x="2888139" y="4759201"/>
            <a:ext cx="0" cy="685800"/>
          </a:xfrm>
          <a:prstGeom prst="line">
            <a:avLst/>
          </a:prstGeom>
          <a:noFill/>
          <a:ln w="12700">
            <a:solidFill>
              <a:srgbClr val="DDE4E6"/>
            </a:solidFill>
            <a:prstDash val="solid"/>
          </a:ln>
        </p:spPr>
        <p:txBody>
          <a:bodyPr/>
          <a:lstStyle/>
          <a:p>
            <a:endParaRPr lang="de-AT"/>
          </a:p>
        </p:txBody>
      </p:sp>
      <p:sp>
        <p:nvSpPr>
          <p:cNvPr id="13" name="Text 11"/>
          <p:cNvSpPr/>
          <p:nvPr/>
        </p:nvSpPr>
        <p:spPr>
          <a:xfrm>
            <a:off x="3096481" y="4984681"/>
            <a:ext cx="1554480" cy="201168"/>
          </a:xfrm>
          <a:prstGeom prst="rect">
            <a:avLst/>
          </a:prstGeom>
          <a:noFill/>
          <a:ln/>
        </p:spPr>
        <p:txBody>
          <a:bodyPr wrap="square" lIns="0" tIns="0" rIns="0" bIns="0" rtlCol="0" anchor="ctr">
            <a:normAutofit lnSpcReduction="10000"/>
          </a:bodyPr>
          <a:lstStyle/>
          <a:p>
            <a:pPr marL="0" indent="0">
              <a:buNone/>
            </a:pPr>
            <a:r>
              <a:rPr lang="en-US" sz="1400">
                <a:solidFill>
                  <a:srgbClr val="7A8285"/>
                </a:solidFill>
                <a:ea typeface="Aptos" pitchFamily="34" charset="-122"/>
                <a:cs typeface="Aptos" pitchFamily="34" charset="-120"/>
              </a:rPr>
              <a:t>countries involved</a:t>
            </a:r>
            <a:endParaRPr lang="en-US" sz="1400"/>
          </a:p>
        </p:txBody>
      </p:sp>
      <p:sp>
        <p:nvSpPr>
          <p:cNvPr id="59"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3" name="Text Placeholder 2"/>
          <p:cNvSpPr>
            <a:spLocks noGrp="1"/>
          </p:cNvSpPr>
          <p:nvPr/>
        </p:nvSpPr>
        <p:spPr>
          <a:xfrm>
            <a:off x="839788" y="6138665"/>
            <a:ext cx="10514012" cy="263149"/>
          </a:xfrm>
          <a:prstGeom prst="rect">
            <a:avLst/>
          </a:prstGeom>
        </p:spPr>
        <p:txBody>
          <a:bodyPr/>
          <a:lstStyle/>
          <a:p>
            <a:endParaRPr lang="de-AT"/>
          </a:p>
        </p:txBody>
      </p:sp>
      <p:sp>
        <p:nvSpPr>
          <p:cNvPr id="4" name="Title 3"/>
          <p:cNvSpPr>
            <a:spLocks noGrp="1"/>
          </p:cNvSpPr>
          <p:nvPr/>
        </p:nvSpPr>
        <p:spPr>
          <a:xfrm>
            <a:off x="839788" y="854700"/>
            <a:ext cx="10514012" cy="1412694"/>
          </a:xfrm>
          <a:prstGeom prst="rect">
            <a:avLst/>
          </a:prstGeom>
        </p:spPr>
        <p:txBody>
          <a:bodyPr/>
          <a:lstStyle/>
          <a:p>
            <a:r>
              <a:rPr lang="en-US" sz="3600">
                <a:solidFill>
                  <a:srgbClr val="F2F3F6"/>
                </a:solidFill>
              </a:rPr>
              <a:t>Databricks Trainings </a:t>
            </a:r>
            <a:r>
              <a:rPr lang="en-US" sz="3600">
                <a:solidFill>
                  <a:srgbClr val="7A8285"/>
                </a:solidFill>
                <a:ea typeface="Aptos Display" pitchFamily="34" charset="-122"/>
              </a:rPr>
              <a:t>A</a:t>
            </a:r>
            <a:r>
              <a:rPr lang="en-US" sz="3600">
                <a:solidFill>
                  <a:srgbClr val="7A8285"/>
                </a:solidFill>
                <a:ea typeface="Aptos Display" pitchFamily="34" charset="-122"/>
                <a:cs typeface="Aptos Display" pitchFamily="34" charset="-120"/>
              </a:rPr>
              <a:t>cross the Group</a:t>
            </a:r>
            <a:br>
              <a:rPr lang="en-US">
                <a:solidFill>
                  <a:srgbClr val="7A8285"/>
                </a:solidFill>
                <a:ea typeface="Aptos Display" pitchFamily="34" charset="-122"/>
                <a:cs typeface="Aptos Display" pitchFamily="34" charset="-120"/>
              </a:rPr>
            </a:br>
            <a:r>
              <a:rPr lang="en-US" sz="2400">
                <a:solidFill>
                  <a:srgbClr val="F2F3F6"/>
                </a:solidFill>
              </a:rPr>
              <a:t>Current status of learning, adoption, and company participation</a:t>
            </a:r>
            <a:br>
              <a:rPr lang="en-US" sz="2400">
                <a:solidFill>
                  <a:srgbClr val="E8ECF4"/>
                </a:solidFill>
              </a:rPr>
            </a:br>
            <a:br>
              <a:rPr lang="en-US" sz="2400">
                <a:solidFill>
                  <a:srgbClr val="E8ECF4"/>
                </a:solidFill>
              </a:rPr>
            </a:br>
            <a:endParaRPr lang="de-AT" sz="2400"/>
          </a:p>
        </p:txBody>
      </p:sp>
      <p:sp>
        <p:nvSpPr>
          <p:cNvPr id="5" name="Date Placeholder 4"/>
          <p:cNvSpPr>
            <a:spLocks noGrp="1"/>
          </p:cNvSpPr>
          <p:nvPr/>
        </p:nvSpPr>
        <p:spPr>
          <a:xfrm>
            <a:off x="11063125" y="181996"/>
            <a:ext cx="873637" cy="153888"/>
          </a:xfrm>
          <a:prstGeom prst="rect">
            <a:avLst/>
          </a:prstGeom>
        </p:spPr>
        <p:txBody>
          <a:bodyPr/>
          <a:lstStyle/>
          <a:p>
            <a:r>
              <a:rPr lang="de-DE" sz="900">
                <a:solidFill>
                  <a:srgbClr val="9aa1b2"/>
                </a:solidFill>
              </a:rPr>
              <a:t>Demo data</a:t>
            </a:r>
            <a:endParaRPr lang="en-GB"/>
          </a:p>
        </p:txBody>
      </p:sp>
      <p:sp>
        <p:nvSpPr>
          <p:cNvPr id="6" name="Footer Placeholder 5"/>
          <p:cNvSpPr>
            <a:spLocks noGrp="1"/>
          </p:cNvSpPr>
          <p:nvPr/>
        </p:nvSpPr>
        <p:spPr>
          <a:xfrm>
            <a:off x="1466850" y="6587737"/>
            <a:ext cx="6953250" cy="184666"/>
          </a:xfrm>
          <a:prstGeom prst="rect">
            <a:avLst/>
          </a:prstGeom>
        </p:spPr>
        <p:txBody>
          <a:bodyPr/>
          <a:lstStyle/>
          <a:p>
            <a:r>
              <a:rPr lang="en-GB" sz="900">
                <a:solidFill>
                  <a:srgbClr val="9aa1b2"/>
                </a:solidFill>
              </a:rPr>
              <a:t>Contoso template</a:t>
            </a:r>
          </a:p>
        </p:txBody>
      </p:sp>
      <p:sp>
        <p:nvSpPr>
          <p:cNvPr id="7" name="kpi:db_ignite_countries"/>
          <p:cNvSpPr>
            <a:spLocks noGrp="1"/>
          </p:cNvSpPr>
          <p:nvPr/>
        </p:nvSpPr>
        <p:spPr>
          <a:xfrm>
            <a:off x="839788" y="6587737"/>
            <a:ext cx="347662" cy="184666"/>
          </a:xfrm>
          <a:prstGeom prst="rect">
            <a:avLst/>
          </a:prstGeom>
        </p:spPr>
        <p:txBody>
          <a:bodyPr/>
          <a:lstStyle/>
          <a:p>
            <a:pPr algn="l"/>
            <a:fld id="{64E38502-06D2-4E51-82FE-464E052045F9}" type="slidenum">
              <a:rPr lang="en-GB" smtClean="0">
                <a:solidFill>
                  <a:srgbClr val="E8ECF4"/>
                </a:solidFill>
              </a:rPr>
              <a:pPr algn="l"/>
              <a:t>7</a:t>
            </a:fld>
            <a:endParaRPr lang="en-GB"/>
          </a:p>
        </p:txBody>
      </p:sp>
      <p:sp>
        <p:nvSpPr>
          <p:cNvPr id="33" name="Shape 23"/>
          <p:cNvSpPr/>
          <p:nvPr/>
        </p:nvSpPr>
        <p:spPr>
          <a:xfrm>
            <a:off x="867395" y="5804443"/>
            <a:ext cx="6313706" cy="332882"/>
          </a:xfrm>
          <a:prstGeom prst="roundRect">
            <a:avLst>
              <a:gd name="adj" fmla="val 25862"/>
            </a:avLst>
          </a:prstGeom>
          <a:solidFill>
            <a:srgbClr val="FFFFFF"/>
          </a:solidFill>
          <a:ln w="10160">
            <a:solidFill>
              <a:srgbClr val="DDE4E6"/>
            </a:solidFill>
            <a:prstDash val="solid"/>
          </a:ln>
        </p:spPr>
        <p:txBody>
          <a:bodyPr/>
          <a:lstStyle/>
          <a:p>
            <a:endParaRPr lang="de-AT"/>
          </a:p>
        </p:txBody>
      </p:sp>
      <p:sp>
        <p:nvSpPr>
          <p:cNvPr id="34" name="Shape 24"/>
          <p:cNvSpPr/>
          <p:nvPr/>
        </p:nvSpPr>
        <p:spPr>
          <a:xfrm>
            <a:off x="839788" y="5804443"/>
            <a:ext cx="73053" cy="296597"/>
          </a:xfrm>
          <a:prstGeom prst="rect">
            <a:avLst/>
          </a:prstGeom>
          <a:solidFill>
            <a:srgbClr val="E4002B"/>
          </a:solidFill>
          <a:ln w="12700">
            <a:solidFill>
              <a:srgbClr val="E4002B"/>
            </a:solidFill>
            <a:prstDash val="solid"/>
          </a:ln>
        </p:spPr>
        <p:txBody>
          <a:bodyPr/>
          <a:lstStyle/>
          <a:p>
            <a:endParaRPr lang="de-AT"/>
          </a:p>
        </p:txBody>
      </p:sp>
      <p:sp>
        <p:nvSpPr>
          <p:cNvPr id="35" name="Text 25"/>
          <p:cNvSpPr/>
          <p:nvPr/>
        </p:nvSpPr>
        <p:spPr>
          <a:xfrm>
            <a:off x="1015902" y="5664981"/>
            <a:ext cx="6862102" cy="612385"/>
          </a:xfrm>
          <a:prstGeom prst="rect">
            <a:avLst/>
          </a:prstGeom>
          <a:noFill/>
          <a:ln/>
        </p:spPr>
        <p:txBody>
          <a:bodyPr wrap="square" lIns="0" tIns="0" rIns="0" bIns="0" rtlCol="0" anchor="ctr">
            <a:noAutofit/>
          </a:bodyPr>
          <a:lstStyle/>
          <a:p>
            <a:r>
              <a:rPr lang="en-US" sz="1100"/>
              <a:t>Databricks learning has established a Group-wide presence</a:t>
            </a:r>
          </a:p>
        </p:txBody>
      </p:sp>
      <p:grpSp>
        <p:nvGrpSpPr>
          <p:cNvPr id="2" name="Group 1"/>
          <p:cNvGrpSpPr/>
          <p:nvPr/>
        </p:nvGrpSpPr>
        <p:grpSpPr>
          <a:xfrm>
            <a:off x="5623025" y="1795279"/>
            <a:ext cx="5454917" cy="3783246"/>
            <a:chOff x="1006362" y="2328856"/>
            <a:chExt cx="5454917" cy="3225617"/>
          </a:xfrm>
        </p:grpSpPr>
        <p:sp>
          <p:nvSpPr>
            <p:cNvPr id="36" name="Shape 19"/>
            <p:cNvSpPr/>
            <p:nvPr/>
          </p:nvSpPr>
          <p:spPr>
            <a:xfrm>
              <a:off x="1006362" y="2328856"/>
              <a:ext cx="5263856" cy="3225617"/>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37" name="Text 20"/>
            <p:cNvSpPr/>
            <p:nvPr/>
          </p:nvSpPr>
          <p:spPr>
            <a:xfrm>
              <a:off x="1395503" y="2559687"/>
              <a:ext cx="5065776" cy="201168"/>
            </a:xfrm>
            <a:prstGeom prst="rect">
              <a:avLst/>
            </a:prstGeom>
            <a:noFill/>
            <a:ln/>
          </p:spPr>
          <p:txBody>
            <a:bodyPr wrap="square" lIns="0" tIns="0" rIns="0" bIns="0" rtlCol="0" anchor="ctr"/>
            <a:lstStyle/>
            <a:p>
              <a:r>
                <a:rPr lang="en-US" sz="1200" b="1"/>
                <a:t>Mapping of Databricks Training Completions</a:t>
              </a:r>
            </a:p>
          </p:txBody>
        </p:sp>
      </p:grpSp>
      <p:sp>
        <p:nvSpPr>
          <p:cNvPr id="16" name="Text 6"/>
          <p:cNvSpPr/>
          <p:nvPr/>
        </p:nvSpPr>
        <p:spPr>
          <a:xfrm>
            <a:off x="729778" y="2205449"/>
            <a:ext cx="1865376" cy="182880"/>
          </a:xfrm>
          <a:prstGeom prst="rect">
            <a:avLst/>
          </a:prstGeom>
          <a:noFill/>
          <a:ln/>
        </p:spPr>
        <p:txBody>
          <a:bodyPr wrap="square" lIns="0" tIns="0" rIns="0" bIns="0" rtlCol="0" anchor="ctr">
            <a:normAutofit/>
          </a:bodyPr>
          <a:lstStyle/>
          <a:p>
            <a:pPr algn="ctr"/>
            <a:endParaRPr lang="en-US" sz="950" b="1">
              <a:solidFill>
                <a:srgbClr val="7A8285"/>
              </a:solidFill>
            </a:endParaRPr>
          </a:p>
        </p:txBody>
      </p:sp>
      <p:sp>
        <p:nvSpPr>
          <p:cNvPr id="17" name="Shape 4"/>
          <p:cNvSpPr/>
          <p:nvPr/>
        </p:nvSpPr>
        <p:spPr>
          <a:xfrm>
            <a:off x="3452164" y="1895428"/>
            <a:ext cx="1485701" cy="502098"/>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8" name="Text 5"/>
          <p:cNvSpPr/>
          <p:nvPr/>
        </p:nvSpPr>
        <p:spPr>
          <a:xfrm>
            <a:off x="3331385" y="1991064"/>
            <a:ext cx="1737360" cy="310896"/>
          </a:xfrm>
          <a:prstGeom prst="rect">
            <a:avLst/>
          </a:prstGeom>
          <a:noFill/>
          <a:ln/>
        </p:spPr>
        <p:txBody>
          <a:bodyPr wrap="square" lIns="0" tIns="0" rIns="0" bIns="0" rtlCol="0" anchor="ctr">
            <a:normAutofit/>
          </a:bodyPr>
          <a:lstStyle/>
          <a:p>
            <a:pPr marL="0" indent="0" algn="ctr">
              <a:buNone/>
            </a:pPr>
            <a:r>
              <a:rPr lang="en-US" sz="1600" b="1">
                <a:solidFill>
                  <a:srgbClr val="E4002B"/>
                </a:solidFill>
                <a:ea typeface="Roboto Light"/>
                <a:cs typeface="Roboto Light"/>
              </a:rPr>
              <a:t>Learn</a:t>
            </a:r>
          </a:p>
        </p:txBody>
      </p:sp>
      <p:grpSp>
        <p:nvGrpSpPr>
          <p:cNvPr id="19" name="Group 18"/>
          <p:cNvGrpSpPr/>
          <p:nvPr/>
        </p:nvGrpSpPr>
        <p:grpSpPr>
          <a:xfrm>
            <a:off x="3003181" y="2634368"/>
            <a:ext cx="2371901" cy="768741"/>
            <a:chOff x="-267475" y="4968706"/>
            <a:chExt cx="3826500" cy="768741"/>
          </a:xfrm>
        </p:grpSpPr>
        <p:sp>
          <p:nvSpPr>
            <p:cNvPr id="20" name="Shape 4"/>
            <p:cNvSpPr/>
            <p:nvPr/>
          </p:nvSpPr>
          <p:spPr>
            <a:xfrm>
              <a:off x="-267475" y="4968706"/>
              <a:ext cx="3826500" cy="768741"/>
            </a:xfrm>
            <a:prstGeom prst="roundRect">
              <a:avLst>
                <a:gd name="adj" fmla="val 13333"/>
              </a:avLst>
            </a:prstGeom>
            <a:solidFill>
              <a:srgbClr val="FFFFFF"/>
            </a:solidFill>
            <a:ln w="10160">
              <a:solidFill>
                <a:srgbClr val="E3E7EA"/>
              </a:solidFill>
              <a:prstDash val="solid"/>
            </a:ln>
            <a:effectLst>
              <a:outerShdw blurRad="16510" dist="50800" dir="2700000" algn="bl" rotWithShape="0">
                <a:srgbClr val="B6BDC1">
                  <a:alpha val="15000"/>
                </a:srgbClr>
              </a:outerShdw>
            </a:effectLst>
          </p:spPr>
          <p:txBody>
            <a:bodyPr/>
            <a:lstStyle/>
            <a:p>
              <a:endParaRPr lang="de-AT"/>
            </a:p>
          </p:txBody>
        </p:sp>
        <p:sp>
          <p:nvSpPr>
            <p:cNvPr id="21" name="kpi:db_learn_participants"/>
            <p:cNvSpPr/>
            <p:nvPr/>
          </p:nvSpPr>
          <p:spPr>
            <a:xfrm>
              <a:off x="-29732" y="5141303"/>
              <a:ext cx="1554480" cy="438912"/>
            </a:xfrm>
            <a:prstGeom prst="rect">
              <a:avLst/>
            </a:prstGeom>
            <a:noFill/>
            <a:ln/>
          </p:spPr>
          <p:txBody>
            <a:bodyPr wrap="square" lIns="0" tIns="0" rIns="0" bIns="0" rtlCol="0" anchor="ctr"/>
            <a:lstStyle/>
            <a:p>
              <a:pPr marL="0" indent="0" algn="ctr">
                <a:buNone/>
              </a:pPr>
              <a:r>
                <a:rPr lang="en-US" sz="3000" b="1">
                  <a:solidFill>
                    <a:srgbClr val="007D8C"/>
                  </a:solidFill>
                </a:rPr>
                <a:t>97</a:t>
              </a:r>
              <a:endParaRPr lang="en-US" sz="3000" b="1"/>
            </a:p>
          </p:txBody>
        </p:sp>
        <p:sp>
          <p:nvSpPr>
            <p:cNvPr id="22" name="Shape 6"/>
            <p:cNvSpPr/>
            <p:nvPr/>
          </p:nvSpPr>
          <p:spPr>
            <a:xfrm>
              <a:off x="1645774" y="5115182"/>
              <a:ext cx="10635" cy="534201"/>
            </a:xfrm>
            <a:prstGeom prst="line">
              <a:avLst/>
            </a:prstGeom>
            <a:noFill/>
            <a:ln w="12700">
              <a:solidFill>
                <a:srgbClr val="DDE4E6"/>
              </a:solidFill>
              <a:prstDash val="solid"/>
            </a:ln>
          </p:spPr>
          <p:txBody>
            <a:bodyPr/>
            <a:lstStyle/>
            <a:p>
              <a:endParaRPr lang="de-AT"/>
            </a:p>
          </p:txBody>
        </p:sp>
        <p:sp>
          <p:nvSpPr>
            <p:cNvPr id="23" name="Text 7"/>
            <p:cNvSpPr/>
            <p:nvPr/>
          </p:nvSpPr>
          <p:spPr>
            <a:xfrm>
              <a:off x="1830477" y="5319591"/>
              <a:ext cx="1554480" cy="201168"/>
            </a:xfrm>
            <a:prstGeom prst="rect">
              <a:avLst/>
            </a:prstGeom>
            <a:noFill/>
            <a:ln/>
          </p:spPr>
          <p:txBody>
            <a:bodyPr wrap="square" lIns="0" tIns="0" rIns="0" bIns="0" rtlCol="0" anchor="ctr">
              <a:normAutofit lnSpcReduction="10000"/>
            </a:bodyPr>
            <a:lstStyle/>
            <a:p>
              <a:pPr marL="0" indent="0">
                <a:buNone/>
              </a:pPr>
              <a:r>
                <a:rPr lang="en-US" sz="1400">
                  <a:solidFill>
                    <a:srgbClr val="7A8285"/>
                  </a:solidFill>
                  <a:ea typeface="Aptos" pitchFamily="34" charset="-122"/>
                  <a:cs typeface="Aptos" pitchFamily="34" charset="-120"/>
                </a:rPr>
                <a:t>participants</a:t>
              </a:r>
              <a:endParaRPr lang="en-US" sz="1400"/>
            </a:p>
          </p:txBody>
        </p:sp>
      </p:grpSp>
      <p:sp>
        <p:nvSpPr>
          <p:cNvPr id="29" name="Shape 4"/>
          <p:cNvSpPr/>
          <p:nvPr/>
        </p:nvSpPr>
        <p:spPr>
          <a:xfrm>
            <a:off x="927502" y="1905215"/>
            <a:ext cx="1485701" cy="502098"/>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30" name="Text 5"/>
          <p:cNvSpPr/>
          <p:nvPr/>
        </p:nvSpPr>
        <p:spPr>
          <a:xfrm>
            <a:off x="838200" y="2004345"/>
            <a:ext cx="1737360" cy="310896"/>
          </a:xfrm>
          <a:prstGeom prst="rect">
            <a:avLst/>
          </a:prstGeom>
          <a:noFill/>
          <a:ln/>
        </p:spPr>
        <p:txBody>
          <a:bodyPr wrap="square" lIns="0" tIns="0" rIns="0" bIns="0" rtlCol="0" anchor="ctr">
            <a:normAutofit/>
          </a:bodyPr>
          <a:lstStyle/>
          <a:p>
            <a:pPr marL="0" indent="0" algn="ctr">
              <a:buNone/>
            </a:pPr>
            <a:r>
              <a:rPr lang="en-US" sz="1600" b="1">
                <a:solidFill>
                  <a:srgbClr val="E4002B"/>
                </a:solidFill>
                <a:ea typeface="Roboto Light"/>
                <a:cs typeface="Roboto Light"/>
              </a:rPr>
              <a:t>Ignite</a:t>
            </a:r>
          </a:p>
        </p:txBody>
      </p:sp>
      <p:sp>
        <p:nvSpPr>
          <p:cNvPr id="53" name="Shape 4"/>
          <p:cNvSpPr/>
          <p:nvPr/>
        </p:nvSpPr>
        <p:spPr>
          <a:xfrm>
            <a:off x="3002473" y="3556958"/>
            <a:ext cx="2371901" cy="768741"/>
          </a:xfrm>
          <a:prstGeom prst="roundRect">
            <a:avLst>
              <a:gd name="adj" fmla="val 13333"/>
            </a:avLst>
          </a:prstGeom>
          <a:solidFill>
            <a:srgbClr val="FFFFFF"/>
          </a:solidFill>
          <a:ln w="10160">
            <a:solidFill>
              <a:srgbClr val="E3E7EA"/>
            </a:solidFill>
            <a:prstDash val="solid"/>
          </a:ln>
          <a:effectLst>
            <a:outerShdw blurRad="16510" dist="50800" dir="2700000" algn="bl" rotWithShape="0">
              <a:srgbClr val="B6BDC1">
                <a:alpha val="15000"/>
              </a:srgbClr>
            </a:outerShdw>
          </a:effectLst>
        </p:spPr>
        <p:txBody>
          <a:bodyPr/>
          <a:lstStyle/>
          <a:p>
            <a:endParaRPr lang="de-AT"/>
          </a:p>
        </p:txBody>
      </p:sp>
      <p:sp>
        <p:nvSpPr>
          <p:cNvPr id="54" name="kpi:db_learn_countries"/>
          <p:cNvSpPr/>
          <p:nvPr/>
        </p:nvSpPr>
        <p:spPr>
          <a:xfrm>
            <a:off x="3149841" y="3729555"/>
            <a:ext cx="963563" cy="438912"/>
          </a:xfrm>
          <a:prstGeom prst="rect">
            <a:avLst/>
          </a:prstGeom>
          <a:noFill/>
          <a:ln/>
        </p:spPr>
        <p:txBody>
          <a:bodyPr wrap="square" lIns="0" tIns="0" rIns="0" bIns="0" rtlCol="0" anchor="ctr"/>
          <a:lstStyle/>
          <a:p>
            <a:pPr marL="0" indent="0" algn="ctr">
              <a:buNone/>
            </a:pPr>
            <a:r>
              <a:rPr lang="en-US" sz="3000" b="1">
                <a:solidFill>
                  <a:srgbClr val="007B63"/>
                </a:solidFill>
              </a:rPr>
              <a:t>11</a:t>
            </a:r>
          </a:p>
        </p:txBody>
      </p:sp>
      <p:sp>
        <p:nvSpPr>
          <p:cNvPr id="55" name="Shape 6"/>
          <p:cNvSpPr/>
          <p:nvPr/>
        </p:nvSpPr>
        <p:spPr>
          <a:xfrm>
            <a:off x="4188423" y="3703434"/>
            <a:ext cx="6592" cy="534201"/>
          </a:xfrm>
          <a:prstGeom prst="line">
            <a:avLst/>
          </a:prstGeom>
          <a:noFill/>
          <a:ln w="12700">
            <a:solidFill>
              <a:srgbClr val="DDE4E6"/>
            </a:solidFill>
            <a:prstDash val="solid"/>
          </a:ln>
        </p:spPr>
        <p:txBody>
          <a:bodyPr/>
          <a:lstStyle/>
          <a:p>
            <a:endParaRPr lang="de-AT"/>
          </a:p>
        </p:txBody>
      </p:sp>
      <p:sp>
        <p:nvSpPr>
          <p:cNvPr id="56" name="Text 7"/>
          <p:cNvSpPr/>
          <p:nvPr/>
        </p:nvSpPr>
        <p:spPr>
          <a:xfrm>
            <a:off x="4302913" y="3907843"/>
            <a:ext cx="963563" cy="201168"/>
          </a:xfrm>
          <a:prstGeom prst="rect">
            <a:avLst/>
          </a:prstGeom>
          <a:noFill/>
          <a:ln/>
        </p:spPr>
        <p:txBody>
          <a:bodyPr wrap="square" lIns="0" tIns="0" rIns="0" bIns="0" rtlCol="0" anchor="ctr">
            <a:normAutofit lnSpcReduction="10000"/>
          </a:bodyPr>
          <a:lstStyle/>
          <a:p>
            <a:pPr marL="0" indent="0" algn="ctr">
              <a:buNone/>
            </a:pPr>
            <a:r>
              <a:rPr lang="en-US" sz="1400">
                <a:solidFill>
                  <a:srgbClr val="7E8789"/>
                </a:solidFill>
              </a:rPr>
              <a:t>countries</a:t>
            </a:r>
          </a:p>
        </p:txBody>
      </p:sp>
      <p:sp>
        <p:nvSpPr>
          <p:cNvPr id="57" name="Shape 4"/>
          <p:cNvSpPr/>
          <p:nvPr/>
        </p:nvSpPr>
        <p:spPr>
          <a:xfrm>
            <a:off x="3012073" y="4450071"/>
            <a:ext cx="2371901" cy="768741"/>
          </a:xfrm>
          <a:prstGeom prst="roundRect">
            <a:avLst>
              <a:gd name="adj" fmla="val 13333"/>
            </a:avLst>
          </a:prstGeom>
          <a:solidFill>
            <a:srgbClr val="FFFFFF"/>
          </a:solidFill>
          <a:ln w="10160">
            <a:solidFill>
              <a:srgbClr val="E3E7EA"/>
            </a:solidFill>
            <a:prstDash val="solid"/>
          </a:ln>
          <a:effectLst>
            <a:outerShdw blurRad="16510" dist="50800" dir="2700000" algn="bl" rotWithShape="0">
              <a:srgbClr val="B6BDC1">
                <a:alpha val="15000"/>
              </a:srgbClr>
            </a:outerShdw>
          </a:effectLst>
        </p:spPr>
        <p:txBody>
          <a:bodyPr/>
          <a:lstStyle/>
          <a:p>
            <a:endParaRPr lang="de-AT"/>
          </a:p>
        </p:txBody>
      </p:sp>
      <p:sp>
        <p:nvSpPr>
          <p:cNvPr id="59" name="kpi:db_learn_companies"/>
          <p:cNvSpPr/>
          <p:nvPr/>
        </p:nvSpPr>
        <p:spPr>
          <a:xfrm>
            <a:off x="3159441" y="4622668"/>
            <a:ext cx="963563" cy="438912"/>
          </a:xfrm>
          <a:prstGeom prst="rect">
            <a:avLst/>
          </a:prstGeom>
          <a:noFill/>
          <a:ln/>
        </p:spPr>
        <p:txBody>
          <a:bodyPr wrap="square" lIns="0" tIns="0" rIns="0" bIns="0" rtlCol="0" anchor="ctr"/>
          <a:lstStyle/>
          <a:p>
            <a:pPr marL="0" indent="0" algn="ctr">
              <a:buNone/>
            </a:pPr>
            <a:r>
              <a:rPr lang="en-US" sz="3000" b="1">
                <a:solidFill>
                  <a:srgbClr val="970A4A"/>
                </a:solidFill>
              </a:rPr>
              <a:t>19</a:t>
            </a:r>
          </a:p>
        </p:txBody>
      </p:sp>
      <p:sp>
        <p:nvSpPr>
          <p:cNvPr id="60" name="Shape 6"/>
          <p:cNvSpPr/>
          <p:nvPr/>
        </p:nvSpPr>
        <p:spPr>
          <a:xfrm>
            <a:off x="4198023" y="4596547"/>
            <a:ext cx="6592" cy="534201"/>
          </a:xfrm>
          <a:prstGeom prst="line">
            <a:avLst/>
          </a:prstGeom>
          <a:noFill/>
          <a:ln w="12700">
            <a:solidFill>
              <a:srgbClr val="DDE4E6"/>
            </a:solidFill>
            <a:prstDash val="solid"/>
          </a:ln>
        </p:spPr>
        <p:txBody>
          <a:bodyPr/>
          <a:lstStyle/>
          <a:p>
            <a:endParaRPr lang="de-AT"/>
          </a:p>
        </p:txBody>
      </p:sp>
      <p:sp>
        <p:nvSpPr>
          <p:cNvPr id="61" name="Text 7"/>
          <p:cNvSpPr/>
          <p:nvPr/>
        </p:nvSpPr>
        <p:spPr>
          <a:xfrm>
            <a:off x="4312513" y="4800956"/>
            <a:ext cx="963563" cy="201168"/>
          </a:xfrm>
          <a:prstGeom prst="rect">
            <a:avLst/>
          </a:prstGeom>
          <a:noFill/>
          <a:ln/>
        </p:spPr>
        <p:txBody>
          <a:bodyPr wrap="square" lIns="0" tIns="0" rIns="0" bIns="0" rtlCol="0" anchor="ctr">
            <a:normAutofit lnSpcReduction="10000"/>
          </a:bodyPr>
          <a:lstStyle/>
          <a:p>
            <a:pPr marL="0" indent="0" algn="ctr">
              <a:buNone/>
            </a:pPr>
            <a:r>
              <a:rPr lang="en-US" sz="1400">
                <a:solidFill>
                  <a:srgbClr val="7E8789"/>
                </a:solidFill>
              </a:rPr>
              <a:t>companies</a:t>
            </a:r>
          </a:p>
        </p:txBody>
      </p:sp>
      <p:grpSp>
        <p:nvGrpSpPr>
          <p:cNvPr id="67" name="Group 66"/>
          <p:cNvGrpSpPr/>
          <p:nvPr/>
        </p:nvGrpSpPr>
        <p:grpSpPr>
          <a:xfrm>
            <a:off x="511668" y="2661439"/>
            <a:ext cx="2371901" cy="768741"/>
            <a:chOff x="-267475" y="4968706"/>
            <a:chExt cx="3826500" cy="768741"/>
          </a:xfrm>
        </p:grpSpPr>
        <p:sp>
          <p:nvSpPr>
            <p:cNvPr id="68" name="Shape 4"/>
            <p:cNvSpPr/>
            <p:nvPr/>
          </p:nvSpPr>
          <p:spPr>
            <a:xfrm>
              <a:off x="-267475" y="4968706"/>
              <a:ext cx="3826500" cy="768741"/>
            </a:xfrm>
            <a:prstGeom prst="roundRect">
              <a:avLst>
                <a:gd name="adj" fmla="val 13333"/>
              </a:avLst>
            </a:prstGeom>
            <a:solidFill>
              <a:srgbClr val="FFFFFF"/>
            </a:solidFill>
            <a:ln w="10160">
              <a:solidFill>
                <a:srgbClr val="E3E7EA"/>
              </a:solidFill>
              <a:prstDash val="solid"/>
            </a:ln>
            <a:effectLst>
              <a:outerShdw blurRad="16510" dist="50800" dir="2700000" algn="bl" rotWithShape="0">
                <a:srgbClr val="B6BDC1">
                  <a:alpha val="15000"/>
                </a:srgbClr>
              </a:outerShdw>
            </a:effectLst>
          </p:spPr>
          <p:txBody>
            <a:bodyPr/>
            <a:lstStyle/>
            <a:p>
              <a:endParaRPr lang="de-AT"/>
            </a:p>
          </p:txBody>
        </p:sp>
        <p:sp>
          <p:nvSpPr>
            <p:cNvPr id="69" name="kpi:db_ignite_participants"/>
            <p:cNvSpPr/>
            <p:nvPr/>
          </p:nvSpPr>
          <p:spPr>
            <a:xfrm>
              <a:off x="-29732" y="5141303"/>
              <a:ext cx="1554480" cy="438912"/>
            </a:xfrm>
            <a:prstGeom prst="rect">
              <a:avLst/>
            </a:prstGeom>
            <a:noFill/>
            <a:ln/>
          </p:spPr>
          <p:txBody>
            <a:bodyPr wrap="square" lIns="0" tIns="0" rIns="0" bIns="0" rtlCol="0" anchor="ctr"/>
            <a:lstStyle/>
            <a:p>
              <a:pPr marL="0" indent="0" algn="ctr">
                <a:buNone/>
              </a:pPr>
              <a:r>
                <a:rPr lang="en-US" sz="3000" b="1">
                  <a:solidFill>
                    <a:srgbClr val="007D8C"/>
                  </a:solidFill>
                </a:rPr>
                <a:t>46</a:t>
              </a:r>
              <a:endParaRPr lang="en-US" sz="3000" b="1"/>
            </a:p>
          </p:txBody>
        </p:sp>
        <p:sp>
          <p:nvSpPr>
            <p:cNvPr id="70" name="Shape 6"/>
            <p:cNvSpPr/>
            <p:nvPr/>
          </p:nvSpPr>
          <p:spPr>
            <a:xfrm>
              <a:off x="1645774" y="5115182"/>
              <a:ext cx="10635" cy="534201"/>
            </a:xfrm>
            <a:prstGeom prst="line">
              <a:avLst/>
            </a:prstGeom>
            <a:noFill/>
            <a:ln w="12700">
              <a:solidFill>
                <a:srgbClr val="DDE4E6"/>
              </a:solidFill>
              <a:prstDash val="solid"/>
            </a:ln>
          </p:spPr>
          <p:txBody>
            <a:bodyPr/>
            <a:lstStyle/>
            <a:p>
              <a:endParaRPr lang="de-AT"/>
            </a:p>
          </p:txBody>
        </p:sp>
        <p:sp>
          <p:nvSpPr>
            <p:cNvPr id="71" name="Text 7"/>
            <p:cNvSpPr/>
            <p:nvPr/>
          </p:nvSpPr>
          <p:spPr>
            <a:xfrm>
              <a:off x="1830477" y="5319591"/>
              <a:ext cx="1554480" cy="201168"/>
            </a:xfrm>
            <a:prstGeom prst="rect">
              <a:avLst/>
            </a:prstGeom>
            <a:noFill/>
            <a:ln/>
          </p:spPr>
          <p:txBody>
            <a:bodyPr wrap="square" lIns="0" tIns="0" rIns="0" bIns="0" rtlCol="0" anchor="ctr">
              <a:normAutofit lnSpcReduction="10000"/>
            </a:bodyPr>
            <a:lstStyle/>
            <a:p>
              <a:pPr marL="0" indent="0">
                <a:buNone/>
              </a:pPr>
              <a:r>
                <a:rPr lang="en-US" sz="1400">
                  <a:solidFill>
                    <a:srgbClr val="7A8285"/>
                  </a:solidFill>
                  <a:ea typeface="Aptos" pitchFamily="34" charset="-122"/>
                  <a:cs typeface="Aptos" pitchFamily="34" charset="-120"/>
                </a:rPr>
                <a:t>participants</a:t>
              </a:r>
              <a:endParaRPr lang="en-US" sz="1400"/>
            </a:p>
          </p:txBody>
        </p:sp>
      </p:grpSp>
      <p:sp>
        <p:nvSpPr>
          <p:cNvPr id="73" name="Shape 4"/>
          <p:cNvSpPr/>
          <p:nvPr/>
        </p:nvSpPr>
        <p:spPr>
          <a:xfrm>
            <a:off x="510960" y="3584029"/>
            <a:ext cx="2371901" cy="768741"/>
          </a:xfrm>
          <a:prstGeom prst="roundRect">
            <a:avLst>
              <a:gd name="adj" fmla="val 13333"/>
            </a:avLst>
          </a:prstGeom>
          <a:solidFill>
            <a:srgbClr val="FFFFFF"/>
          </a:solidFill>
          <a:ln w="10160">
            <a:solidFill>
              <a:srgbClr val="E3E7EA"/>
            </a:solidFill>
            <a:prstDash val="solid"/>
          </a:ln>
          <a:effectLst>
            <a:outerShdw blurRad="16510" dist="50800" dir="2700000" algn="bl" rotWithShape="0">
              <a:srgbClr val="B6BDC1">
                <a:alpha val="15000"/>
              </a:srgbClr>
            </a:outerShdw>
          </a:effectLst>
        </p:spPr>
        <p:txBody>
          <a:bodyPr/>
          <a:lstStyle/>
          <a:p>
            <a:endParaRPr lang="de-AT"/>
          </a:p>
        </p:txBody>
      </p:sp>
      <p:sp>
        <p:nvSpPr>
          <p:cNvPr id="74" name="Text 5"/>
          <p:cNvSpPr/>
          <p:nvPr/>
        </p:nvSpPr>
        <p:spPr>
          <a:xfrm>
            <a:off x="658328" y="3756626"/>
            <a:ext cx="963563" cy="438912"/>
          </a:xfrm>
          <a:prstGeom prst="rect">
            <a:avLst/>
          </a:prstGeom>
          <a:noFill/>
          <a:ln/>
        </p:spPr>
        <p:txBody>
          <a:bodyPr wrap="square" lIns="0" tIns="0" rIns="0" bIns="0" rtlCol="0" anchor="ctr"/>
          <a:lstStyle/>
          <a:p>
            <a:pPr marL="0" indent="0" algn="ctr">
              <a:buNone/>
            </a:pPr>
            <a:r>
              <a:rPr lang="en-US" sz="3000" b="1">
                <a:solidFill>
                  <a:srgbClr val="007B63"/>
                </a:solidFill>
              </a:rPr>
              <a:t>10</a:t>
            </a:r>
          </a:p>
        </p:txBody>
      </p:sp>
      <p:sp>
        <p:nvSpPr>
          <p:cNvPr id="75" name="Shape 6"/>
          <p:cNvSpPr/>
          <p:nvPr/>
        </p:nvSpPr>
        <p:spPr>
          <a:xfrm>
            <a:off x="1696910" y="3730505"/>
            <a:ext cx="6592" cy="534201"/>
          </a:xfrm>
          <a:prstGeom prst="line">
            <a:avLst/>
          </a:prstGeom>
          <a:noFill/>
          <a:ln w="12700">
            <a:solidFill>
              <a:srgbClr val="DDE4E6"/>
            </a:solidFill>
            <a:prstDash val="solid"/>
          </a:ln>
        </p:spPr>
        <p:txBody>
          <a:bodyPr/>
          <a:lstStyle/>
          <a:p>
            <a:endParaRPr lang="de-AT"/>
          </a:p>
        </p:txBody>
      </p:sp>
      <p:sp>
        <p:nvSpPr>
          <p:cNvPr id="76" name="Text 7"/>
          <p:cNvSpPr/>
          <p:nvPr/>
        </p:nvSpPr>
        <p:spPr>
          <a:xfrm>
            <a:off x="1811400" y="3934914"/>
            <a:ext cx="963563" cy="201168"/>
          </a:xfrm>
          <a:prstGeom prst="rect">
            <a:avLst/>
          </a:prstGeom>
          <a:noFill/>
          <a:ln/>
        </p:spPr>
        <p:txBody>
          <a:bodyPr wrap="square" lIns="0" tIns="0" rIns="0" bIns="0" rtlCol="0" anchor="ctr">
            <a:normAutofit lnSpcReduction="10000"/>
          </a:bodyPr>
          <a:lstStyle/>
          <a:p>
            <a:pPr marL="0" indent="0" algn="ctr">
              <a:buNone/>
            </a:pPr>
            <a:r>
              <a:rPr lang="en-US" sz="1400">
                <a:solidFill>
                  <a:srgbClr val="7E8789"/>
                </a:solidFill>
              </a:rPr>
              <a:t>countries</a:t>
            </a:r>
          </a:p>
        </p:txBody>
      </p:sp>
      <p:sp>
        <p:nvSpPr>
          <p:cNvPr id="77" name="Shape 4"/>
          <p:cNvSpPr/>
          <p:nvPr/>
        </p:nvSpPr>
        <p:spPr>
          <a:xfrm>
            <a:off x="517551" y="4476976"/>
            <a:ext cx="2371901" cy="768741"/>
          </a:xfrm>
          <a:prstGeom prst="roundRect">
            <a:avLst>
              <a:gd name="adj" fmla="val 13333"/>
            </a:avLst>
          </a:prstGeom>
          <a:solidFill>
            <a:srgbClr val="FFFFFF"/>
          </a:solidFill>
          <a:ln w="10160">
            <a:solidFill>
              <a:srgbClr val="E3E7EA"/>
            </a:solidFill>
            <a:prstDash val="solid"/>
          </a:ln>
          <a:effectLst>
            <a:outerShdw blurRad="16510" dist="50800" dir="2700000" algn="bl" rotWithShape="0">
              <a:srgbClr val="B6BDC1">
                <a:alpha val="15000"/>
              </a:srgbClr>
            </a:outerShdw>
          </a:effectLst>
        </p:spPr>
        <p:txBody>
          <a:bodyPr/>
          <a:lstStyle/>
          <a:p>
            <a:endParaRPr lang="de-AT"/>
          </a:p>
        </p:txBody>
      </p:sp>
      <p:sp>
        <p:nvSpPr>
          <p:cNvPr id="78" name="kpi:db_ignite_companies"/>
          <p:cNvSpPr/>
          <p:nvPr/>
        </p:nvSpPr>
        <p:spPr>
          <a:xfrm>
            <a:off x="664919" y="4649573"/>
            <a:ext cx="963563" cy="438912"/>
          </a:xfrm>
          <a:prstGeom prst="rect">
            <a:avLst/>
          </a:prstGeom>
          <a:noFill/>
          <a:ln/>
        </p:spPr>
        <p:txBody>
          <a:bodyPr wrap="square" lIns="0" tIns="0" rIns="0" bIns="0" rtlCol="0" anchor="ctr"/>
          <a:lstStyle/>
          <a:p>
            <a:pPr marL="0" indent="0" algn="ctr">
              <a:buNone/>
            </a:pPr>
            <a:r>
              <a:rPr lang="en-US" sz="3000" b="1">
                <a:solidFill>
                  <a:srgbClr val="970A4A"/>
                </a:solidFill>
              </a:rPr>
              <a:t>23</a:t>
            </a:r>
          </a:p>
        </p:txBody>
      </p:sp>
      <p:sp>
        <p:nvSpPr>
          <p:cNvPr id="79" name="Shape 6"/>
          <p:cNvSpPr/>
          <p:nvPr/>
        </p:nvSpPr>
        <p:spPr>
          <a:xfrm>
            <a:off x="1703501" y="4623452"/>
            <a:ext cx="6592" cy="534201"/>
          </a:xfrm>
          <a:prstGeom prst="line">
            <a:avLst/>
          </a:prstGeom>
          <a:noFill/>
          <a:ln w="12700">
            <a:solidFill>
              <a:srgbClr val="DDE4E6"/>
            </a:solidFill>
            <a:prstDash val="solid"/>
          </a:ln>
        </p:spPr>
        <p:txBody>
          <a:bodyPr/>
          <a:lstStyle/>
          <a:p>
            <a:endParaRPr lang="de-AT"/>
          </a:p>
        </p:txBody>
      </p:sp>
      <p:sp>
        <p:nvSpPr>
          <p:cNvPr id="80" name="Text 7"/>
          <p:cNvSpPr/>
          <p:nvPr/>
        </p:nvSpPr>
        <p:spPr>
          <a:xfrm>
            <a:off x="1817991" y="4827861"/>
            <a:ext cx="963563" cy="201168"/>
          </a:xfrm>
          <a:prstGeom prst="rect">
            <a:avLst/>
          </a:prstGeom>
          <a:noFill/>
          <a:ln/>
        </p:spPr>
        <p:txBody>
          <a:bodyPr wrap="square" lIns="0" tIns="0" rIns="0" bIns="0" rtlCol="0" anchor="ctr">
            <a:normAutofit lnSpcReduction="10000"/>
          </a:bodyPr>
          <a:lstStyle/>
          <a:p>
            <a:pPr marL="0" indent="0" algn="ctr">
              <a:buNone/>
            </a:pPr>
            <a:r>
              <a:rPr lang="en-US" sz="1400">
                <a:solidFill>
                  <a:srgbClr val="7E8789"/>
                </a:solidFill>
              </a:rPr>
              <a:t>companies</a:t>
            </a:r>
          </a:p>
        </p:txBody>
      </p:sp>
      <p:pic>
        <p:nvPicPr>
          <p:cNvPr id="82" name="chart:db_guild_members_country"/>
          <p:cNvPicPr>
            <a:picLocks noChangeAspect="1"/>
          </p:cNvPicPr>
          <p:nvPr/>
        </p:nvPicPr>
        <p:blipFill>
          <a:blip r:embed="rId2"/>
          <a:stretch>
            <a:fillRect/>
          </a:stretch>
        </p:blipFill>
        <p:spPr>
          <a:xfrm>
            <a:off x="6207164" y="2385527"/>
            <a:ext cx="4173436" cy="3111601"/>
          </a:xfrm>
          <a:prstGeom prst="rect">
            <a:avLst/>
          </a:prstGeom>
        </p:spPr>
      </p:pic>
      <p:sp>
        <p:nvSpPr>
          <p:cNvPr id="83"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3" name="Text Placeholder 2"/>
          <p:cNvSpPr>
            <a:spLocks noGrp="1"/>
          </p:cNvSpPr>
          <p:nvPr/>
        </p:nvSpPr>
        <p:spPr>
          <a:xfrm>
            <a:off x="839788" y="6138665"/>
            <a:ext cx="10514012" cy="263149"/>
          </a:xfrm>
          <a:prstGeom prst="rect">
            <a:avLst/>
          </a:prstGeom>
        </p:spPr>
        <p:txBody>
          <a:bodyPr/>
          <a:lstStyle/>
          <a:p>
            <a:endParaRPr lang="de-AT"/>
          </a:p>
        </p:txBody>
      </p:sp>
      <p:sp>
        <p:nvSpPr>
          <p:cNvPr id="4" name="Title 3"/>
          <p:cNvSpPr>
            <a:spLocks noGrp="1"/>
          </p:cNvSpPr>
          <p:nvPr/>
        </p:nvSpPr>
        <p:spPr>
          <a:xfrm>
            <a:off x="876314" y="339158"/>
            <a:ext cx="10514012" cy="1857432"/>
          </a:xfrm>
          <a:prstGeom prst="rect">
            <a:avLst/>
          </a:prstGeom>
        </p:spPr>
        <p:txBody>
          <a:bodyPr/>
          <a:lstStyle/>
          <a:p>
            <a:r>
              <a:rPr lang="en-US" sz="3600">
                <a:solidFill>
                  <a:srgbClr val="F2F3F6"/>
                </a:solidFill>
              </a:rPr>
              <a:t>Databricks Training and Community Engagement</a:t>
            </a:r>
            <a:br>
              <a:rPr lang="en-US" sz="2200">
                <a:solidFill>
                  <a:srgbClr val="9AA2A5"/>
                </a:solidFill>
                <a:ea typeface="Aptos" pitchFamily="34" charset="-122"/>
                <a:cs typeface="Aptos Display" pitchFamily="34" charset="-120"/>
              </a:rPr>
            </a:br>
            <a:r>
              <a:rPr lang="en-US" sz="2200">
                <a:solidFill>
                  <a:srgbClr val="9AA2A5"/>
                </a:solidFill>
                <a:ea typeface="Aptos" pitchFamily="34" charset="-122"/>
                <a:cs typeface="Aptos Display" pitchFamily="34" charset="-120"/>
              </a:rPr>
              <a:t>Country Overview</a:t>
            </a:r>
            <a:br>
              <a:rPr lang="en-US" sz="2400">
                <a:solidFill>
                  <a:srgbClr val="E8ECF4"/>
                </a:solidFill>
              </a:rPr>
            </a:br>
            <a:br>
              <a:rPr lang="en-US" sz="2400">
                <a:solidFill>
                  <a:srgbClr val="E8ECF4"/>
                </a:solidFill>
              </a:rPr>
            </a:br>
            <a:endParaRPr lang="de-AT" sz="2400"/>
          </a:p>
        </p:txBody>
      </p:sp>
      <p:sp>
        <p:nvSpPr>
          <p:cNvPr id="5" name="Date Placeholder 4"/>
          <p:cNvSpPr>
            <a:spLocks noGrp="1"/>
          </p:cNvSpPr>
          <p:nvPr/>
        </p:nvSpPr>
        <p:spPr>
          <a:xfrm>
            <a:off x="11063125" y="181996"/>
            <a:ext cx="873637" cy="153888"/>
          </a:xfrm>
          <a:prstGeom prst="rect">
            <a:avLst/>
          </a:prstGeom>
        </p:spPr>
        <p:txBody>
          <a:bodyPr/>
          <a:lstStyle/>
          <a:p>
            <a:r>
              <a:rPr lang="de-DE" sz="900">
                <a:solidFill>
                  <a:srgbClr val="9aa1b2"/>
                </a:solidFill>
              </a:rPr>
              <a:t>Demo data</a:t>
            </a:r>
            <a:endParaRPr lang="en-GB"/>
          </a:p>
        </p:txBody>
      </p:sp>
      <p:sp>
        <p:nvSpPr>
          <p:cNvPr id="6" name="Footer Placeholder 5"/>
          <p:cNvSpPr>
            <a:spLocks noGrp="1"/>
          </p:cNvSpPr>
          <p:nvPr/>
        </p:nvSpPr>
        <p:spPr>
          <a:xfrm>
            <a:off x="1466850" y="6587737"/>
            <a:ext cx="6953250" cy="184666"/>
          </a:xfrm>
          <a:prstGeom prst="rect">
            <a:avLst/>
          </a:prstGeom>
        </p:spPr>
        <p:txBody>
          <a:bodyPr/>
          <a:lstStyle/>
          <a:p>
            <a:r>
              <a:rPr lang="en-GB" sz="900">
                <a:solidFill>
                  <a:srgbClr val="9aa1b2"/>
                </a:solidFill>
              </a:rPr>
              <a:t>Contoso template</a:t>
            </a:r>
          </a:p>
        </p:txBody>
      </p:sp>
      <p:sp>
        <p:nvSpPr>
          <p:cNvPr id="7" name="Slide Number Placeholder 6"/>
          <p:cNvSpPr>
            <a:spLocks noGrp="1"/>
          </p:cNvSpPr>
          <p:nvPr/>
        </p:nvSpPr>
        <p:spPr>
          <a:xfrm>
            <a:off x="839788" y="6587737"/>
            <a:ext cx="347662" cy="184666"/>
          </a:xfrm>
          <a:prstGeom prst="rect">
            <a:avLst/>
          </a:prstGeom>
        </p:spPr>
        <p:txBody>
          <a:bodyPr/>
          <a:lstStyle/>
          <a:p>
            <a:pPr algn="l"/>
            <a:fld id="{64E38502-06D2-4E51-82FE-464E052045F9}" type="slidenum">
              <a:rPr lang="en-GB" smtClean="0">
                <a:solidFill>
                  <a:srgbClr val="E8ECF4"/>
                </a:solidFill>
              </a:rPr>
              <a:pPr algn="l"/>
              <a:t>8</a:t>
            </a:fld>
            <a:endParaRPr lang="en-GB"/>
          </a:p>
        </p:txBody>
      </p:sp>
      <p:sp>
        <p:nvSpPr>
          <p:cNvPr id="33" name="Shape 23"/>
          <p:cNvSpPr/>
          <p:nvPr/>
        </p:nvSpPr>
        <p:spPr>
          <a:xfrm>
            <a:off x="867395" y="5804443"/>
            <a:ext cx="6313706" cy="332882"/>
          </a:xfrm>
          <a:prstGeom prst="roundRect">
            <a:avLst>
              <a:gd name="adj" fmla="val 25862"/>
            </a:avLst>
          </a:prstGeom>
          <a:solidFill>
            <a:srgbClr val="FFFFFF"/>
          </a:solidFill>
          <a:ln w="10160">
            <a:solidFill>
              <a:srgbClr val="DDE4E6"/>
            </a:solidFill>
            <a:prstDash val="solid"/>
          </a:ln>
        </p:spPr>
        <p:txBody>
          <a:bodyPr/>
          <a:lstStyle/>
          <a:p>
            <a:r>
              <a:rPr lang="en-US" sz="1100"/>
              <a:t>Community engagement is translating into completed learning across the Group.</a:t>
            </a:r>
            <a:endParaRPr lang="de-AT" sz="1100"/>
          </a:p>
        </p:txBody>
      </p:sp>
      <p:sp>
        <p:nvSpPr>
          <p:cNvPr id="34" name="Shape 24"/>
          <p:cNvSpPr/>
          <p:nvPr/>
        </p:nvSpPr>
        <p:spPr>
          <a:xfrm>
            <a:off x="839788" y="5804443"/>
            <a:ext cx="73053" cy="296597"/>
          </a:xfrm>
          <a:prstGeom prst="rect">
            <a:avLst/>
          </a:prstGeom>
          <a:solidFill>
            <a:srgbClr val="E4002B"/>
          </a:solidFill>
          <a:ln w="12700">
            <a:solidFill>
              <a:srgbClr val="E4002B"/>
            </a:solidFill>
            <a:prstDash val="solid"/>
          </a:ln>
        </p:spPr>
        <p:txBody>
          <a:bodyPr/>
          <a:lstStyle/>
          <a:p>
            <a:endParaRPr lang="de-AT"/>
          </a:p>
        </p:txBody>
      </p:sp>
      <p:sp>
        <p:nvSpPr>
          <p:cNvPr id="35" name="Text 25"/>
          <p:cNvSpPr/>
          <p:nvPr/>
        </p:nvSpPr>
        <p:spPr>
          <a:xfrm>
            <a:off x="1015902" y="5664981"/>
            <a:ext cx="6862102" cy="612385"/>
          </a:xfrm>
          <a:prstGeom prst="rect">
            <a:avLst/>
          </a:prstGeom>
          <a:noFill/>
          <a:ln/>
        </p:spPr>
        <p:txBody>
          <a:bodyPr wrap="square" lIns="0" tIns="0" rIns="0" bIns="0" rtlCol="0" anchor="ctr">
            <a:noAutofit/>
          </a:bodyPr>
          <a:lstStyle/>
          <a:p>
            <a:endParaRPr lang="en-US" sz="1100"/>
          </a:p>
        </p:txBody>
      </p:sp>
      <p:grpSp>
        <p:nvGrpSpPr>
          <p:cNvPr id="10" name="Group 9"/>
          <p:cNvGrpSpPr/>
          <p:nvPr/>
        </p:nvGrpSpPr>
        <p:grpSpPr>
          <a:xfrm>
            <a:off x="2700564" y="1611602"/>
            <a:ext cx="6455664" cy="868680"/>
            <a:chOff x="1306068" y="1858345"/>
            <a:chExt cx="6455664" cy="868680"/>
          </a:xfrm>
        </p:grpSpPr>
        <p:sp>
          <p:nvSpPr>
            <p:cNvPr id="11" name="Shape 4"/>
            <p:cNvSpPr/>
            <p:nvPr/>
          </p:nvSpPr>
          <p:spPr>
            <a:xfrm>
              <a:off x="1306068"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2" name="kpi:db_guild_members"/>
            <p:cNvSpPr/>
            <p:nvPr/>
          </p:nvSpPr>
          <p:spPr>
            <a:xfrm>
              <a:off x="1443228"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E4002B"/>
                  </a:solidFill>
                  <a:ea typeface="Roboto Light"/>
                  <a:cs typeface="Roboto Light"/>
                </a:rPr>
                <a:t>154</a:t>
              </a:r>
            </a:p>
          </p:txBody>
        </p:sp>
        <p:sp>
          <p:nvSpPr>
            <p:cNvPr id="13" name="Text 6"/>
            <p:cNvSpPr/>
            <p:nvPr/>
          </p:nvSpPr>
          <p:spPr>
            <a:xfrm>
              <a:off x="1379220" y="2379553"/>
              <a:ext cx="1865376" cy="182880"/>
            </a:xfrm>
            <a:prstGeom prst="rect">
              <a:avLst/>
            </a:prstGeom>
            <a:noFill/>
            <a:ln/>
          </p:spPr>
          <p:txBody>
            <a:bodyPr wrap="square" lIns="0" tIns="0" rIns="0" bIns="0" rtlCol="0" anchor="ctr">
              <a:normAutofit/>
            </a:bodyPr>
            <a:lstStyle/>
            <a:p>
              <a:pPr algn="ctr"/>
              <a:r>
                <a:rPr lang="en-US" sz="950" b="1">
                  <a:solidFill>
                    <a:srgbClr val="7A8285"/>
                  </a:solidFill>
                </a:rPr>
                <a:t>Lakehouse Guild Members</a:t>
              </a:r>
            </a:p>
          </p:txBody>
        </p:sp>
        <p:grpSp>
          <p:nvGrpSpPr>
            <p:cNvPr id="14" name="Group 13"/>
            <p:cNvGrpSpPr/>
            <p:nvPr/>
          </p:nvGrpSpPr>
          <p:grpSpPr>
            <a:xfrm>
              <a:off x="3528060" y="1858345"/>
              <a:ext cx="4233672" cy="868680"/>
              <a:chOff x="3528060" y="1858345"/>
              <a:chExt cx="4233672" cy="868680"/>
            </a:xfrm>
          </p:grpSpPr>
          <p:sp>
            <p:nvSpPr>
              <p:cNvPr id="15" name="Shape 7"/>
              <p:cNvSpPr/>
              <p:nvPr/>
            </p:nvSpPr>
            <p:spPr>
              <a:xfrm>
                <a:off x="3528060"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6" name="kpi:db_training_coverage"/>
              <p:cNvSpPr/>
              <p:nvPr/>
            </p:nvSpPr>
            <p:spPr>
              <a:xfrm>
                <a:off x="3665220"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8C3A62"/>
                    </a:solidFill>
                  </a:rPr>
                  <a:t>0.49%</a:t>
                </a:r>
              </a:p>
            </p:txBody>
          </p:sp>
          <p:sp>
            <p:nvSpPr>
              <p:cNvPr id="17" name="Text 9"/>
              <p:cNvSpPr/>
              <p:nvPr/>
            </p:nvSpPr>
            <p:spPr>
              <a:xfrm>
                <a:off x="3601212" y="2417089"/>
                <a:ext cx="1865376" cy="182880"/>
              </a:xfrm>
              <a:prstGeom prst="rect">
                <a:avLst/>
              </a:prstGeom>
              <a:noFill/>
              <a:ln/>
            </p:spPr>
            <p:txBody>
              <a:bodyPr wrap="square" lIns="0" tIns="0" rIns="0" bIns="0" rtlCol="0" anchor="ctr">
                <a:noAutofit/>
              </a:bodyPr>
              <a:lstStyle/>
              <a:p>
                <a:pPr algn="ctr"/>
                <a:r>
                  <a:rPr lang="en-US" sz="900" b="1">
                    <a:solidFill>
                      <a:srgbClr val="7A8285"/>
                    </a:solidFill>
                  </a:rPr>
                  <a:t>Training Coverage </a:t>
                </a:r>
              </a:p>
              <a:p>
                <a:pPr algn="ctr"/>
                <a:r>
                  <a:rPr lang="en-US" sz="900" b="1">
                    <a:solidFill>
                      <a:srgbClr val="7A8285"/>
                    </a:solidFill>
                  </a:rPr>
                  <a:t>(of Group Headcount)</a:t>
                </a:r>
              </a:p>
            </p:txBody>
          </p:sp>
          <p:grpSp>
            <p:nvGrpSpPr>
              <p:cNvPr id="18" name="Group 17"/>
              <p:cNvGrpSpPr/>
              <p:nvPr/>
            </p:nvGrpSpPr>
            <p:grpSpPr>
              <a:xfrm>
                <a:off x="5750052" y="1858345"/>
                <a:ext cx="2011680" cy="868680"/>
                <a:chOff x="5750052" y="1858345"/>
                <a:chExt cx="2011680" cy="868680"/>
              </a:xfrm>
            </p:grpSpPr>
            <p:sp>
              <p:nvSpPr>
                <p:cNvPr id="19" name="Shape 10"/>
                <p:cNvSpPr/>
                <p:nvPr/>
              </p:nvSpPr>
              <p:spPr>
                <a:xfrm>
                  <a:off x="5750052"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20" name="kpi:db_guild_coverage"/>
                <p:cNvSpPr/>
                <p:nvPr/>
              </p:nvSpPr>
              <p:spPr>
                <a:xfrm>
                  <a:off x="5887212"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0D8492"/>
                      </a:solidFill>
                    </a:rPr>
                    <a:t>0.53%</a:t>
                  </a:r>
                </a:p>
              </p:txBody>
            </p:sp>
            <p:sp>
              <p:nvSpPr>
                <p:cNvPr id="21" name="Text 12"/>
                <p:cNvSpPr/>
                <p:nvPr/>
              </p:nvSpPr>
              <p:spPr>
                <a:xfrm>
                  <a:off x="5823204" y="2379553"/>
                  <a:ext cx="1865376" cy="182880"/>
                </a:xfrm>
                <a:prstGeom prst="rect">
                  <a:avLst/>
                </a:prstGeom>
                <a:noFill/>
                <a:ln/>
              </p:spPr>
              <p:txBody>
                <a:bodyPr wrap="square" lIns="0" tIns="0" rIns="0" bIns="0" rtlCol="0" anchor="ctr">
                  <a:normAutofit/>
                </a:bodyPr>
                <a:lstStyle/>
                <a:p>
                  <a:pPr algn="ctr"/>
                  <a:endParaRPr lang="en-US" sz="950" b="1">
                    <a:solidFill>
                      <a:srgbClr val="7A8285"/>
                    </a:solidFill>
                  </a:endParaRPr>
                </a:p>
              </p:txBody>
            </p:sp>
          </p:grpSp>
        </p:grpSp>
      </p:grpSp>
      <p:sp>
        <p:nvSpPr>
          <p:cNvPr id="24" name="Text 9"/>
          <p:cNvSpPr/>
          <p:nvPr/>
        </p:nvSpPr>
        <p:spPr>
          <a:xfrm>
            <a:off x="7281708" y="2143506"/>
            <a:ext cx="1865376" cy="182880"/>
          </a:xfrm>
          <a:prstGeom prst="rect">
            <a:avLst/>
          </a:prstGeom>
          <a:noFill/>
          <a:ln/>
        </p:spPr>
        <p:txBody>
          <a:bodyPr wrap="square" lIns="0" tIns="0" rIns="0" bIns="0" rtlCol="0" anchor="ctr">
            <a:noAutofit/>
          </a:bodyPr>
          <a:lstStyle/>
          <a:p>
            <a:pPr algn="ctr"/>
            <a:r>
              <a:rPr lang="en-US" sz="900" b="1">
                <a:solidFill>
                  <a:srgbClr val="7A8285"/>
                </a:solidFill>
              </a:rPr>
              <a:t>Guild Members </a:t>
            </a:r>
          </a:p>
          <a:p>
            <a:pPr algn="ctr"/>
            <a:r>
              <a:rPr lang="en-US" sz="900" b="1">
                <a:solidFill>
                  <a:srgbClr val="7A8285"/>
                </a:solidFill>
              </a:rPr>
              <a:t>(of Group Headcount)</a:t>
            </a:r>
          </a:p>
        </p:txBody>
      </p:sp>
      <p:grpSp>
        <p:nvGrpSpPr>
          <p:cNvPr id="25" name="Group 24"/>
          <p:cNvGrpSpPr/>
          <p:nvPr/>
        </p:nvGrpSpPr>
        <p:grpSpPr>
          <a:xfrm>
            <a:off x="1187450" y="2578217"/>
            <a:ext cx="4165613" cy="3063534"/>
            <a:chOff x="1006362" y="2328856"/>
            <a:chExt cx="5454917" cy="3225617"/>
          </a:xfrm>
        </p:grpSpPr>
        <p:sp>
          <p:nvSpPr>
            <p:cNvPr id="26" name="Shape 19"/>
            <p:cNvSpPr/>
            <p:nvPr/>
          </p:nvSpPr>
          <p:spPr>
            <a:xfrm>
              <a:off x="1006362" y="2328856"/>
              <a:ext cx="5263856" cy="3225617"/>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27" name="Text 20"/>
            <p:cNvSpPr/>
            <p:nvPr/>
          </p:nvSpPr>
          <p:spPr>
            <a:xfrm>
              <a:off x="1395503" y="2559687"/>
              <a:ext cx="5065776" cy="201168"/>
            </a:xfrm>
            <a:prstGeom prst="rect">
              <a:avLst/>
            </a:prstGeom>
            <a:noFill/>
            <a:ln/>
          </p:spPr>
          <p:txBody>
            <a:bodyPr wrap="square" lIns="0" tIns="0" rIns="0" bIns="0" rtlCol="0" anchor="ctr"/>
            <a:lstStyle/>
            <a:p>
              <a:pPr marL="0" indent="0">
                <a:buNone/>
              </a:pPr>
              <a:r>
                <a:rPr lang="en-US" sz="1200" b="1"/>
                <a:t>Training Participation % by Country </a:t>
              </a:r>
              <a:r>
                <a:rPr lang="de-AT" sz="1200" b="1"/>
                <a:t>(</a:t>
              </a:r>
              <a:r>
                <a:rPr lang="de-AT" sz="1200" b="1" err="1"/>
                <a:t>vs</a:t>
              </a:r>
              <a:r>
                <a:rPr lang="de-AT" sz="1200" b="1"/>
                <a:t> HC)</a:t>
              </a:r>
              <a:endParaRPr lang="en-US" sz="1200" b="1"/>
            </a:p>
          </p:txBody>
        </p:sp>
      </p:grpSp>
      <p:sp>
        <p:nvSpPr>
          <p:cNvPr id="28" name="Shape 19"/>
          <p:cNvSpPr/>
          <p:nvPr/>
        </p:nvSpPr>
        <p:spPr>
          <a:xfrm>
            <a:off x="5464579" y="2554986"/>
            <a:ext cx="4019710" cy="3063534"/>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pic>
        <p:nvPicPr>
          <p:cNvPr id="29" name="chart:db_training_participation_country"/>
          <p:cNvPicPr>
            <a:picLocks noChangeAspect="1"/>
          </p:cNvPicPr>
          <p:nvPr/>
        </p:nvPicPr>
        <p:blipFill>
          <a:blip r:embed="rId2"/>
          <a:stretch>
            <a:fillRect/>
          </a:stretch>
        </p:blipFill>
        <p:spPr>
          <a:xfrm>
            <a:off x="1330864" y="3127971"/>
            <a:ext cx="3728852" cy="2155384"/>
          </a:xfrm>
          <a:prstGeom prst="rect">
            <a:avLst/>
          </a:prstGeom>
        </p:spPr>
      </p:pic>
      <p:pic>
        <p:nvPicPr>
          <p:cNvPr id="30" name="chart:db_guild_participation_country"/>
          <p:cNvPicPr>
            <a:picLocks noChangeAspect="1"/>
          </p:cNvPicPr>
          <p:nvPr/>
        </p:nvPicPr>
        <p:blipFill>
          <a:blip r:embed="rId3"/>
          <a:stretch>
            <a:fillRect/>
          </a:stretch>
        </p:blipFill>
        <p:spPr>
          <a:xfrm>
            <a:off x="5708822" y="3174432"/>
            <a:ext cx="3588538" cy="2177150"/>
          </a:xfrm>
          <a:prstGeom prst="rect">
            <a:avLst/>
          </a:prstGeom>
        </p:spPr>
      </p:pic>
      <p:sp>
        <p:nvSpPr>
          <p:cNvPr id="31" name="Text 20"/>
          <p:cNvSpPr/>
          <p:nvPr/>
        </p:nvSpPr>
        <p:spPr>
          <a:xfrm>
            <a:off x="5610482" y="2797449"/>
            <a:ext cx="3868448" cy="191060"/>
          </a:xfrm>
          <a:prstGeom prst="rect">
            <a:avLst/>
          </a:prstGeom>
          <a:noFill/>
          <a:ln/>
        </p:spPr>
        <p:txBody>
          <a:bodyPr wrap="square" lIns="0" tIns="0" rIns="0" bIns="0" rtlCol="0" anchor="ctr"/>
          <a:lstStyle/>
          <a:p>
            <a:pPr marL="0" indent="0">
              <a:buNone/>
            </a:pPr>
            <a:r>
              <a:rPr lang="en-US" sz="1200" b="1"/>
              <a:t>Lakehouse Guild Participation % by Country </a:t>
            </a:r>
            <a:r>
              <a:rPr lang="de-AT" sz="1200" b="1"/>
              <a:t>(</a:t>
            </a:r>
            <a:r>
              <a:rPr lang="de-AT" sz="1200" b="1" err="1"/>
              <a:t>vs</a:t>
            </a:r>
            <a:r>
              <a:rPr lang="de-AT" sz="1200" b="1"/>
              <a:t> HC)</a:t>
            </a:r>
            <a:endParaRPr lang="en-US" sz="1200" b="1"/>
          </a:p>
        </p:txBody>
      </p:sp>
      <p:sp>
        <p:nvSpPr>
          <p:cNvPr id="32" name="Rounded Rectangle 8"/>
          <p:cNvSpPr/>
          <p:nvPr/>
        </p:nvSpPr>
        <p:spPr>
          <a:xfrm>
            <a:off x="9593390" y="2807394"/>
            <a:ext cx="2535491" cy="1351137"/>
          </a:xfrm>
          <a:prstGeom prst="roundRect">
            <a:avLst/>
          </a:prstGeom>
          <a:solidFill>
            <a:srgbClr val="F7F9F9"/>
          </a:solidFill>
          <a:ln w="8255">
            <a:solidFill>
              <a:srgbClr val="D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712262" y="2871403"/>
            <a:ext cx="2327664" cy="393954"/>
          </a:xfrm>
          <a:prstGeom prst="rect">
            <a:avLst/>
          </a:prstGeom>
          <a:noFill/>
        </p:spPr>
        <p:txBody>
          <a:bodyPr wrap="square">
            <a:spAutoFit/>
          </a:bodyPr>
          <a:lstStyle/>
          <a:p>
            <a:pPr algn="ctr"/>
            <a:r>
              <a:rPr sz="980" b="1">
                <a:solidFill>
                  <a:srgbClr val="AE3658"/>
                </a:solidFill>
                <a:latin typeface="Arial"/>
              </a:rPr>
              <a:t>Lakehouse Guild = Teams community</a:t>
            </a:r>
          </a:p>
        </p:txBody>
      </p:sp>
      <p:sp>
        <p:nvSpPr>
          <p:cNvPr id="39" name="TextBox 38"/>
          <p:cNvSpPr txBox="1"/>
          <p:nvPr/>
        </p:nvSpPr>
        <p:spPr>
          <a:xfrm>
            <a:off x="9712262" y="3265357"/>
            <a:ext cx="2327664" cy="671338"/>
          </a:xfrm>
          <a:prstGeom prst="rect">
            <a:avLst/>
          </a:prstGeom>
          <a:noFill/>
        </p:spPr>
        <p:txBody>
          <a:bodyPr wrap="square">
            <a:spAutoFit/>
          </a:bodyPr>
          <a:lstStyle/>
          <a:p>
            <a:pPr algn="ctr">
              <a:lnSpc>
                <a:spcPct val="92000"/>
              </a:lnSpc>
              <a:spcAft>
                <a:spcPts val="120"/>
              </a:spcAft>
            </a:pPr>
            <a:r>
              <a:rPr sz="800" b="1">
                <a:solidFill>
                  <a:srgbClr val="373C3C"/>
                </a:solidFill>
                <a:latin typeface="Arial"/>
              </a:rPr>
              <a:t>Guild members are the current Teams member listing for the Databricks community.</a:t>
            </a:r>
          </a:p>
          <a:p>
            <a:pPr algn="ctr">
              <a:lnSpc>
                <a:spcPct val="92000"/>
              </a:lnSpc>
              <a:spcAft>
                <a:spcPts val="120"/>
              </a:spcAft>
            </a:pPr>
            <a:r>
              <a:rPr sz="800" b="0">
                <a:solidFill>
                  <a:srgbClr val="373C3C"/>
                </a:solidFill>
                <a:latin typeface="Arial"/>
              </a:rPr>
              <a:t>This is different from training registrations or completions.</a:t>
            </a:r>
          </a:p>
        </p:txBody>
      </p:sp>
      <p:sp>
        <p:nvSpPr>
          <p:cNvPr id="40"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3" name="Text Placeholder 2"/>
          <p:cNvSpPr>
            <a:spLocks noGrp="1"/>
          </p:cNvSpPr>
          <p:nvPr/>
        </p:nvSpPr>
        <p:spPr>
          <a:xfrm>
            <a:off x="839788" y="6138665"/>
            <a:ext cx="10514012" cy="263149"/>
          </a:xfrm>
          <a:prstGeom prst="rect">
            <a:avLst/>
          </a:prstGeom>
        </p:spPr>
        <p:txBody>
          <a:bodyPr/>
          <a:lstStyle/>
          <a:p>
            <a:endParaRPr lang="de-AT"/>
          </a:p>
        </p:txBody>
      </p:sp>
      <p:sp>
        <p:nvSpPr>
          <p:cNvPr id="5" name="Date Placeholder 4"/>
          <p:cNvSpPr>
            <a:spLocks noGrp="1"/>
          </p:cNvSpPr>
          <p:nvPr/>
        </p:nvSpPr>
        <p:spPr>
          <a:xfrm>
            <a:off x="11063125" y="181996"/>
            <a:ext cx="873637" cy="153888"/>
          </a:xfrm>
          <a:prstGeom prst="rect">
            <a:avLst/>
          </a:prstGeom>
        </p:spPr>
        <p:txBody>
          <a:bodyPr/>
          <a:lstStyle/>
          <a:p>
            <a:r>
              <a:rPr lang="de-DE" sz="900">
                <a:solidFill>
                  <a:srgbClr val="9aa1b2"/>
                </a:solidFill>
              </a:rPr>
              <a:t>Demo data</a:t>
            </a:r>
            <a:endParaRPr lang="en-GB"/>
          </a:p>
        </p:txBody>
      </p:sp>
      <p:sp>
        <p:nvSpPr>
          <p:cNvPr id="6" name="Footer Placeholder 5"/>
          <p:cNvSpPr>
            <a:spLocks noGrp="1"/>
          </p:cNvSpPr>
          <p:nvPr/>
        </p:nvSpPr>
        <p:spPr>
          <a:xfrm>
            <a:off x="1466850" y="6587737"/>
            <a:ext cx="6953250" cy="184666"/>
          </a:xfrm>
          <a:prstGeom prst="rect">
            <a:avLst/>
          </a:prstGeom>
        </p:spPr>
        <p:txBody>
          <a:bodyPr/>
          <a:lstStyle/>
          <a:p>
            <a:r>
              <a:rPr lang="en-GB" sz="900">
                <a:solidFill>
                  <a:srgbClr val="9aa1b2"/>
                </a:solidFill>
              </a:rPr>
              <a:t>Contoso template</a:t>
            </a:r>
          </a:p>
        </p:txBody>
      </p:sp>
      <p:sp>
        <p:nvSpPr>
          <p:cNvPr id="7" name="Slide Number Placeholder 6"/>
          <p:cNvSpPr>
            <a:spLocks noGrp="1"/>
          </p:cNvSpPr>
          <p:nvPr/>
        </p:nvSpPr>
        <p:spPr>
          <a:xfrm>
            <a:off x="839788" y="6587737"/>
            <a:ext cx="347662" cy="184666"/>
          </a:xfrm>
          <a:prstGeom prst="rect">
            <a:avLst/>
          </a:prstGeom>
        </p:spPr>
        <p:txBody>
          <a:bodyPr/>
          <a:lstStyle/>
          <a:p>
            <a:pPr algn="l"/>
            <a:fld id="{64E38502-06D2-4E51-82FE-464E052045F9}" type="slidenum">
              <a:rPr lang="en-GB" smtClean="0">
                <a:solidFill>
                  <a:srgbClr val="E8ECF4"/>
                </a:solidFill>
              </a:rPr>
              <a:pPr algn="l"/>
              <a:t>9</a:t>
            </a:fld>
            <a:endParaRPr lang="en-GB"/>
          </a:p>
        </p:txBody>
      </p:sp>
      <p:sp>
        <p:nvSpPr>
          <p:cNvPr id="33" name="Shape 23"/>
          <p:cNvSpPr/>
          <p:nvPr/>
        </p:nvSpPr>
        <p:spPr>
          <a:xfrm>
            <a:off x="876313" y="5790930"/>
            <a:ext cx="6470691" cy="332882"/>
          </a:xfrm>
          <a:prstGeom prst="roundRect">
            <a:avLst>
              <a:gd name="adj" fmla="val 25862"/>
            </a:avLst>
          </a:prstGeom>
          <a:solidFill>
            <a:srgbClr val="FFFFFF"/>
          </a:solidFill>
          <a:ln w="10160">
            <a:solidFill>
              <a:srgbClr val="DDE4E6"/>
            </a:solidFill>
            <a:prstDash val="solid"/>
          </a:ln>
        </p:spPr>
        <p:txBody>
          <a:bodyPr/>
          <a:lstStyle/>
          <a:p>
            <a:r>
              <a:rPr lang="en-US" sz="900"/>
              <a:t>Adoption is progressing across the Group, with several companies leading both training participation and community engagement.</a:t>
            </a:r>
            <a:endParaRPr lang="de-AT" sz="900"/>
          </a:p>
        </p:txBody>
      </p:sp>
      <p:sp>
        <p:nvSpPr>
          <p:cNvPr id="34" name="Shape 24"/>
          <p:cNvSpPr/>
          <p:nvPr/>
        </p:nvSpPr>
        <p:spPr>
          <a:xfrm>
            <a:off x="839788" y="5804443"/>
            <a:ext cx="73053" cy="296597"/>
          </a:xfrm>
          <a:prstGeom prst="rect">
            <a:avLst/>
          </a:prstGeom>
          <a:solidFill>
            <a:srgbClr val="E4002B"/>
          </a:solidFill>
          <a:ln w="12700">
            <a:solidFill>
              <a:srgbClr val="E4002B"/>
            </a:solidFill>
            <a:prstDash val="solid"/>
          </a:ln>
        </p:spPr>
        <p:txBody>
          <a:bodyPr/>
          <a:lstStyle/>
          <a:p>
            <a:endParaRPr lang="de-AT"/>
          </a:p>
        </p:txBody>
      </p:sp>
      <p:sp>
        <p:nvSpPr>
          <p:cNvPr id="35" name="Text 25"/>
          <p:cNvSpPr/>
          <p:nvPr/>
        </p:nvSpPr>
        <p:spPr>
          <a:xfrm>
            <a:off x="1015902" y="5664981"/>
            <a:ext cx="6862102" cy="612385"/>
          </a:xfrm>
          <a:prstGeom prst="rect">
            <a:avLst/>
          </a:prstGeom>
          <a:noFill/>
          <a:ln/>
        </p:spPr>
        <p:txBody>
          <a:bodyPr wrap="square" lIns="0" tIns="0" rIns="0" bIns="0" rtlCol="0" anchor="ctr">
            <a:noAutofit/>
          </a:bodyPr>
          <a:lstStyle/>
          <a:p>
            <a:endParaRPr lang="en-US" sz="1100"/>
          </a:p>
        </p:txBody>
      </p:sp>
      <p:grpSp>
        <p:nvGrpSpPr>
          <p:cNvPr id="25" name="Group 24"/>
          <p:cNvGrpSpPr/>
          <p:nvPr/>
        </p:nvGrpSpPr>
        <p:grpSpPr>
          <a:xfrm>
            <a:off x="1187450" y="2578217"/>
            <a:ext cx="4165613" cy="3063534"/>
            <a:chOff x="1006362" y="2328856"/>
            <a:chExt cx="5454917" cy="3225617"/>
          </a:xfrm>
        </p:grpSpPr>
        <p:sp>
          <p:nvSpPr>
            <p:cNvPr id="26" name="Shape 19"/>
            <p:cNvSpPr/>
            <p:nvPr/>
          </p:nvSpPr>
          <p:spPr>
            <a:xfrm>
              <a:off x="1006362" y="2328856"/>
              <a:ext cx="5263856" cy="3225617"/>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27" name="Text 20"/>
            <p:cNvSpPr/>
            <p:nvPr/>
          </p:nvSpPr>
          <p:spPr>
            <a:xfrm>
              <a:off x="1395503" y="2559687"/>
              <a:ext cx="5065776" cy="201168"/>
            </a:xfrm>
            <a:prstGeom prst="rect">
              <a:avLst/>
            </a:prstGeom>
            <a:noFill/>
            <a:ln/>
          </p:spPr>
          <p:txBody>
            <a:bodyPr wrap="square" lIns="0" tIns="0" rIns="0" bIns="0" rtlCol="0" anchor="ctr"/>
            <a:lstStyle/>
            <a:p>
              <a:pPr marL="0" indent="0">
                <a:buNone/>
              </a:pPr>
              <a:r>
                <a:rPr lang="en-US" sz="1200" b="1"/>
                <a:t>Training Participation % by Company </a:t>
              </a:r>
              <a:r>
                <a:rPr lang="de-AT" sz="1200" b="1"/>
                <a:t>(</a:t>
              </a:r>
              <a:r>
                <a:rPr lang="de-AT" sz="1200" b="1" err="1"/>
                <a:t>vs</a:t>
              </a:r>
              <a:r>
                <a:rPr lang="de-AT" sz="1200" b="1"/>
                <a:t> HC)</a:t>
              </a:r>
              <a:endParaRPr lang="en-US" sz="1200" b="1"/>
            </a:p>
          </p:txBody>
        </p:sp>
      </p:grpSp>
      <p:sp>
        <p:nvSpPr>
          <p:cNvPr id="28" name="Shape 19"/>
          <p:cNvSpPr/>
          <p:nvPr/>
        </p:nvSpPr>
        <p:spPr>
          <a:xfrm>
            <a:off x="5464579" y="2554986"/>
            <a:ext cx="4019710" cy="3063534"/>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31" name="Text 20"/>
          <p:cNvSpPr/>
          <p:nvPr/>
        </p:nvSpPr>
        <p:spPr>
          <a:xfrm>
            <a:off x="5610482" y="2797449"/>
            <a:ext cx="3868448" cy="191060"/>
          </a:xfrm>
          <a:prstGeom prst="rect">
            <a:avLst/>
          </a:prstGeom>
          <a:noFill/>
          <a:ln/>
        </p:spPr>
        <p:txBody>
          <a:bodyPr wrap="square" lIns="0" tIns="0" rIns="0" bIns="0" rtlCol="0" anchor="ctr"/>
          <a:lstStyle/>
          <a:p>
            <a:pPr marL="0" indent="0">
              <a:buNone/>
            </a:pPr>
            <a:r>
              <a:rPr lang="en-US" sz="1200" b="1"/>
              <a:t>Lakehouse Guild Participation % by Company </a:t>
            </a:r>
            <a:r>
              <a:rPr lang="de-AT" sz="1200" b="1"/>
              <a:t>(</a:t>
            </a:r>
            <a:r>
              <a:rPr lang="de-AT" sz="1200" b="1" err="1"/>
              <a:t>vs</a:t>
            </a:r>
            <a:r>
              <a:rPr lang="de-AT" sz="1200" b="1"/>
              <a:t> HC)</a:t>
            </a:r>
            <a:endParaRPr lang="en-US" sz="1200" b="1"/>
          </a:p>
        </p:txBody>
      </p:sp>
      <p:grpSp>
        <p:nvGrpSpPr>
          <p:cNvPr id="2" name="Group 1"/>
          <p:cNvGrpSpPr/>
          <p:nvPr/>
        </p:nvGrpSpPr>
        <p:grpSpPr>
          <a:xfrm>
            <a:off x="2700564" y="1611602"/>
            <a:ext cx="6455664" cy="868680"/>
            <a:chOff x="1306068" y="1858345"/>
            <a:chExt cx="6455664" cy="868680"/>
          </a:xfrm>
        </p:grpSpPr>
        <p:sp>
          <p:nvSpPr>
            <p:cNvPr id="8" name="Shape 4"/>
            <p:cNvSpPr/>
            <p:nvPr/>
          </p:nvSpPr>
          <p:spPr>
            <a:xfrm>
              <a:off x="1306068"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9" name="kpi:db_guild_members"/>
            <p:cNvSpPr/>
            <p:nvPr/>
          </p:nvSpPr>
          <p:spPr>
            <a:xfrm>
              <a:off x="1443228"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E4002B"/>
                  </a:solidFill>
                  <a:ea typeface="Roboto Light"/>
                  <a:cs typeface="Roboto Light"/>
                </a:rPr>
                <a:t>249</a:t>
              </a:r>
            </a:p>
          </p:txBody>
        </p:sp>
        <p:sp>
          <p:nvSpPr>
            <p:cNvPr id="22" name="Text 6"/>
            <p:cNvSpPr/>
            <p:nvPr/>
          </p:nvSpPr>
          <p:spPr>
            <a:xfrm>
              <a:off x="1379220" y="2379553"/>
              <a:ext cx="1865376" cy="182880"/>
            </a:xfrm>
            <a:prstGeom prst="rect">
              <a:avLst/>
            </a:prstGeom>
            <a:noFill/>
            <a:ln/>
          </p:spPr>
          <p:txBody>
            <a:bodyPr wrap="square" lIns="0" tIns="0" rIns="0" bIns="0" rtlCol="0" anchor="ctr">
              <a:normAutofit/>
            </a:bodyPr>
            <a:lstStyle/>
            <a:p>
              <a:pPr algn="ctr"/>
              <a:r>
                <a:rPr lang="en-US" sz="950" b="1">
                  <a:solidFill>
                    <a:srgbClr val="7A8285"/>
                  </a:solidFill>
                </a:rPr>
                <a:t>Lakehouse Guild Members</a:t>
              </a:r>
            </a:p>
          </p:txBody>
        </p:sp>
        <p:grpSp>
          <p:nvGrpSpPr>
            <p:cNvPr id="23" name="Group 22"/>
            <p:cNvGrpSpPr/>
            <p:nvPr/>
          </p:nvGrpSpPr>
          <p:grpSpPr>
            <a:xfrm>
              <a:off x="3528060" y="1858345"/>
              <a:ext cx="4233672" cy="868680"/>
              <a:chOff x="3528060" y="1858345"/>
              <a:chExt cx="4233672" cy="868680"/>
            </a:xfrm>
          </p:grpSpPr>
          <p:sp>
            <p:nvSpPr>
              <p:cNvPr id="36" name="Shape 7"/>
              <p:cNvSpPr/>
              <p:nvPr/>
            </p:nvSpPr>
            <p:spPr>
              <a:xfrm>
                <a:off x="3528060"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37" name="kpi:db_training_coverage"/>
              <p:cNvSpPr/>
              <p:nvPr/>
            </p:nvSpPr>
            <p:spPr>
              <a:xfrm>
                <a:off x="3665220"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8C3A62"/>
                    </a:solidFill>
                  </a:rPr>
                  <a:t>0.39%</a:t>
                </a:r>
              </a:p>
            </p:txBody>
          </p:sp>
          <p:sp>
            <p:nvSpPr>
              <p:cNvPr id="40" name="Text 9"/>
              <p:cNvSpPr/>
              <p:nvPr/>
            </p:nvSpPr>
            <p:spPr>
              <a:xfrm>
                <a:off x="3601212" y="2417089"/>
                <a:ext cx="1865376" cy="182880"/>
              </a:xfrm>
              <a:prstGeom prst="rect">
                <a:avLst/>
              </a:prstGeom>
              <a:noFill/>
              <a:ln/>
            </p:spPr>
            <p:txBody>
              <a:bodyPr wrap="square" lIns="0" tIns="0" rIns="0" bIns="0" rtlCol="0" anchor="ctr">
                <a:noAutofit/>
              </a:bodyPr>
              <a:lstStyle/>
              <a:p>
                <a:pPr algn="ctr"/>
                <a:r>
                  <a:rPr lang="en-US" sz="900" b="1">
                    <a:solidFill>
                      <a:srgbClr val="7A8285"/>
                    </a:solidFill>
                  </a:rPr>
                  <a:t>Training Coverage </a:t>
                </a:r>
              </a:p>
              <a:p>
                <a:pPr algn="ctr"/>
                <a:r>
                  <a:rPr lang="en-US" sz="900" b="1">
                    <a:solidFill>
                      <a:srgbClr val="7A8285"/>
                    </a:solidFill>
                  </a:rPr>
                  <a:t>(of Group Headcount)</a:t>
                </a:r>
              </a:p>
            </p:txBody>
          </p:sp>
          <p:grpSp>
            <p:nvGrpSpPr>
              <p:cNvPr id="41" name="Group 40"/>
              <p:cNvGrpSpPr/>
              <p:nvPr/>
            </p:nvGrpSpPr>
            <p:grpSpPr>
              <a:xfrm>
                <a:off x="5750052" y="1858345"/>
                <a:ext cx="2011680" cy="868680"/>
                <a:chOff x="5750052" y="1858345"/>
                <a:chExt cx="2011680" cy="868680"/>
              </a:xfrm>
            </p:grpSpPr>
            <p:sp>
              <p:nvSpPr>
                <p:cNvPr id="42" name="Shape 10"/>
                <p:cNvSpPr/>
                <p:nvPr/>
              </p:nvSpPr>
              <p:spPr>
                <a:xfrm>
                  <a:off x="5750052"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43" name="kpi:db_guild_coverage"/>
                <p:cNvSpPr/>
                <p:nvPr/>
              </p:nvSpPr>
              <p:spPr>
                <a:xfrm>
                  <a:off x="5887212"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0D8492"/>
                      </a:solidFill>
                    </a:rPr>
                    <a:t>0.46%</a:t>
                  </a:r>
                </a:p>
              </p:txBody>
            </p:sp>
            <p:sp>
              <p:nvSpPr>
                <p:cNvPr id="44" name="Text 12"/>
                <p:cNvSpPr/>
                <p:nvPr/>
              </p:nvSpPr>
              <p:spPr>
                <a:xfrm>
                  <a:off x="5823204" y="2379553"/>
                  <a:ext cx="1865376" cy="182880"/>
                </a:xfrm>
                <a:prstGeom prst="rect">
                  <a:avLst/>
                </a:prstGeom>
                <a:noFill/>
                <a:ln/>
              </p:spPr>
              <p:txBody>
                <a:bodyPr wrap="square" lIns="0" tIns="0" rIns="0" bIns="0" rtlCol="0" anchor="ctr">
                  <a:normAutofit/>
                </a:bodyPr>
                <a:lstStyle/>
                <a:p>
                  <a:pPr algn="ctr"/>
                  <a:endParaRPr lang="en-US" sz="950" b="1">
                    <a:solidFill>
                      <a:srgbClr val="7A8285"/>
                    </a:solidFill>
                  </a:endParaRPr>
                </a:p>
              </p:txBody>
            </p:sp>
          </p:grpSp>
        </p:grpSp>
      </p:grpSp>
      <p:pic>
        <p:nvPicPr>
          <p:cNvPr id="45" name="chart:db_training_participation_company"/>
          <p:cNvPicPr>
            <a:picLocks noChangeAspect="1"/>
          </p:cNvPicPr>
          <p:nvPr/>
        </p:nvPicPr>
        <p:blipFill>
          <a:blip r:embed="rId2"/>
          <a:stretch>
            <a:fillRect/>
          </a:stretch>
        </p:blipFill>
        <p:spPr>
          <a:xfrm>
            <a:off x="1320245" y="3127970"/>
            <a:ext cx="3739471" cy="2436415"/>
          </a:xfrm>
          <a:prstGeom prst="rect">
            <a:avLst/>
          </a:prstGeom>
        </p:spPr>
      </p:pic>
      <p:pic>
        <p:nvPicPr>
          <p:cNvPr id="46" name="chart:db_guild_participation_company"/>
          <p:cNvPicPr>
            <a:picLocks noChangeAspect="1"/>
          </p:cNvPicPr>
          <p:nvPr/>
        </p:nvPicPr>
        <p:blipFill>
          <a:blip r:embed="rId3"/>
          <a:stretch>
            <a:fillRect/>
          </a:stretch>
        </p:blipFill>
        <p:spPr>
          <a:xfrm>
            <a:off x="5671170" y="3127970"/>
            <a:ext cx="3568245" cy="2394244"/>
          </a:xfrm>
          <a:prstGeom prst="rect">
            <a:avLst/>
          </a:prstGeom>
        </p:spPr>
      </p:pic>
      <p:sp>
        <p:nvSpPr>
          <p:cNvPr id="47" name="Rounded Rectangle 8"/>
          <p:cNvSpPr/>
          <p:nvPr/>
        </p:nvSpPr>
        <p:spPr>
          <a:xfrm>
            <a:off x="9593390" y="2807394"/>
            <a:ext cx="2535491" cy="1351137"/>
          </a:xfrm>
          <a:prstGeom prst="roundRect">
            <a:avLst/>
          </a:prstGeom>
          <a:solidFill>
            <a:srgbClr val="F7F9F9"/>
          </a:solidFill>
          <a:ln w="8255">
            <a:solidFill>
              <a:srgbClr val="D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712262" y="2871403"/>
            <a:ext cx="2327664" cy="393954"/>
          </a:xfrm>
          <a:prstGeom prst="rect">
            <a:avLst/>
          </a:prstGeom>
          <a:noFill/>
        </p:spPr>
        <p:txBody>
          <a:bodyPr wrap="square">
            <a:spAutoFit/>
          </a:bodyPr>
          <a:lstStyle/>
          <a:p>
            <a:pPr algn="ctr"/>
            <a:r>
              <a:rPr sz="980" b="1">
                <a:solidFill>
                  <a:srgbClr val="AE3658"/>
                </a:solidFill>
                <a:latin typeface="Arial"/>
              </a:rPr>
              <a:t>Lakehouse Guild = Teams community</a:t>
            </a:r>
          </a:p>
        </p:txBody>
      </p:sp>
      <p:sp>
        <p:nvSpPr>
          <p:cNvPr id="49" name="TextBox 48"/>
          <p:cNvSpPr txBox="1"/>
          <p:nvPr/>
        </p:nvSpPr>
        <p:spPr>
          <a:xfrm>
            <a:off x="9712262" y="3265357"/>
            <a:ext cx="2327664" cy="671338"/>
          </a:xfrm>
          <a:prstGeom prst="rect">
            <a:avLst/>
          </a:prstGeom>
          <a:noFill/>
        </p:spPr>
        <p:txBody>
          <a:bodyPr wrap="square">
            <a:spAutoFit/>
          </a:bodyPr>
          <a:lstStyle/>
          <a:p>
            <a:pPr algn="ctr">
              <a:lnSpc>
                <a:spcPct val="92000"/>
              </a:lnSpc>
              <a:spcAft>
                <a:spcPts val="120"/>
              </a:spcAft>
            </a:pPr>
            <a:r>
              <a:rPr sz="800" b="1">
                <a:solidFill>
                  <a:srgbClr val="373C3C"/>
                </a:solidFill>
                <a:latin typeface="Arial"/>
              </a:rPr>
              <a:t>Guild members are the current Teams member listing for the Databricks community.</a:t>
            </a:r>
          </a:p>
          <a:p>
            <a:pPr algn="ctr">
              <a:lnSpc>
                <a:spcPct val="92000"/>
              </a:lnSpc>
              <a:spcAft>
                <a:spcPts val="120"/>
              </a:spcAft>
            </a:pPr>
            <a:r>
              <a:rPr sz="800" b="0">
                <a:solidFill>
                  <a:srgbClr val="373C3C"/>
                </a:solidFill>
                <a:latin typeface="Arial"/>
              </a:rPr>
              <a:t>This is different from training registrations or completions.</a:t>
            </a:r>
          </a:p>
        </p:txBody>
      </p:sp>
      <p:sp>
        <p:nvSpPr>
          <p:cNvPr id="50" name="Text 9"/>
          <p:cNvSpPr/>
          <p:nvPr/>
        </p:nvSpPr>
        <p:spPr>
          <a:xfrm>
            <a:off x="7281708" y="2143506"/>
            <a:ext cx="1865376" cy="182880"/>
          </a:xfrm>
          <a:prstGeom prst="rect">
            <a:avLst/>
          </a:prstGeom>
          <a:noFill/>
          <a:ln/>
        </p:spPr>
        <p:txBody>
          <a:bodyPr wrap="square" lIns="0" tIns="0" rIns="0" bIns="0" rtlCol="0" anchor="ctr">
            <a:noAutofit/>
          </a:bodyPr>
          <a:lstStyle/>
          <a:p>
            <a:pPr algn="ctr"/>
            <a:r>
              <a:rPr lang="en-US" sz="900" b="1">
                <a:solidFill>
                  <a:srgbClr val="7A8285"/>
                </a:solidFill>
              </a:rPr>
              <a:t>Guild Members </a:t>
            </a:r>
          </a:p>
          <a:p>
            <a:pPr algn="ctr"/>
            <a:r>
              <a:rPr lang="en-US" sz="900" b="1">
                <a:solidFill>
                  <a:srgbClr val="7A8285"/>
                </a:solidFill>
              </a:rPr>
              <a:t>(of Group Headcount)</a:t>
            </a:r>
          </a:p>
        </p:txBody>
      </p:sp>
      <p:sp>
        <p:nvSpPr>
          <p:cNvPr id="54" name="Title 3"/>
          <p:cNvSpPr>
            <a:spLocks noGrp="1"/>
          </p:cNvSpPr>
          <p:nvPr/>
        </p:nvSpPr>
        <p:spPr>
          <a:xfrm>
            <a:off x="709400" y="392084"/>
            <a:ext cx="10441442" cy="877719"/>
          </a:xfrm>
          <a:prstGeom prst="rect">
            <a:avLst/>
          </a:prstGeom>
        </p:spPr>
        <p:txBody>
          <a:bodyPr/>
          <a:lstStyle/>
          <a:p>
            <a:r>
              <a:rPr lang="en-US" sz="3600">
                <a:solidFill>
                  <a:srgbClr val="F2F3F6"/>
                </a:solidFill>
              </a:rPr>
              <a:t>Databricks Training and Community Engagement</a:t>
            </a:r>
            <a:br>
              <a:rPr lang="en-US" sz="2200">
                <a:solidFill>
                  <a:srgbClr val="9AA2A5"/>
                </a:solidFill>
                <a:ea typeface="Aptos" pitchFamily="34" charset="-122"/>
                <a:cs typeface="Aptos Display" pitchFamily="34" charset="-120"/>
              </a:rPr>
            </a:br>
            <a:r>
              <a:rPr lang="en-US" sz="2200">
                <a:solidFill>
                  <a:srgbClr val="9AA2A5"/>
                </a:solidFill>
                <a:ea typeface="Aptos" pitchFamily="34" charset="-122"/>
                <a:cs typeface="Aptos Display" pitchFamily="34" charset="-120"/>
              </a:rPr>
              <a:t>Company Overview</a:t>
            </a:r>
            <a:br>
              <a:rPr lang="en-US" sz="2400">
                <a:solidFill>
                  <a:srgbClr val="E8ECF4"/>
                </a:solidFill>
              </a:rPr>
            </a:br>
            <a:br>
              <a:rPr lang="en-US" sz="2400">
                <a:solidFill>
                  <a:srgbClr val="E8ECF4"/>
                </a:solidFill>
              </a:rPr>
            </a:br>
            <a:endParaRPr lang="de-AT" sz="2400"/>
          </a:p>
        </p:txBody>
      </p:sp>
      <p:sp>
        <p:nvSpPr>
          <p:cNvPr id="55"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4" name="Titel 3"/>
          <p:cNvSpPr>
            <a:spLocks noGrp="1"/>
          </p:cNvSpPr>
          <p:nvPr/>
        </p:nvSpPr>
        <p:spPr>
          <a:xfrm>
            <a:off x="839788" y="654939"/>
            <a:ext cx="10514012" cy="941796"/>
          </a:xfrm>
          <a:prstGeom prst="rect">
            <a:avLst/>
          </a:prstGeom>
        </p:spPr>
        <p:txBody>
          <a:bodyPr/>
          <a:lstStyle/>
          <a:p>
            <a:r>
              <a:rPr lang="en-US" sz="3600">
                <a:solidFill>
                  <a:srgbClr val="F2F3F6"/>
                </a:solidFill>
              </a:rPr>
              <a:t>Group-Wide Data &amp; AI Community connects colleagues across entities</a:t>
            </a:r>
            <a:endParaRPr lang="en-US" sz="2400" noProof="0">
              <a:solidFill>
                <a:srgbClr val="A6ADAF"/>
              </a:solidFill>
            </a:endParaRPr>
          </a:p>
        </p:txBody>
      </p:sp>
      <p:sp>
        <p:nvSpPr>
          <p:cNvPr id="6" name="Fußzeilenplatzhalter 5"/>
          <p:cNvSpPr>
            <a:spLocks noGrp="1"/>
          </p:cNvSpPr>
          <p:nvPr/>
        </p:nvSpPr>
        <p:spPr>
          <a:xfrm>
            <a:off x="1466850" y="6587737"/>
            <a:ext cx="6953250" cy="18466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aa1b2"/>
                </a:solidFill>
                <a:effectLst/>
                <a:uLnTx/>
                <a:uFillTx/>
                <a:latin typeface="Roboto Light"/>
                <a:ea typeface="+mn-ea"/>
                <a:cs typeface="+mn-cs"/>
              </a:rPr>
              <a:t>Data &amp; AI @ Contoso</a:t>
            </a:r>
          </a:p>
        </p:txBody>
      </p:sp>
      <p:sp>
        <p:nvSpPr>
          <p:cNvPr id="7" name="Foliennummernplatzhalter 6"/>
          <p:cNvSpPr>
            <a:spLocks noGrp="1"/>
          </p:cNvSpPr>
          <p:nvPr/>
        </p:nvSpPr>
        <p:spPr>
          <a:xfrm>
            <a:off x="839788" y="6587737"/>
            <a:ext cx="347662" cy="18466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4E38502-06D2-4E51-82FE-464E052045F9}" type="slidenum">
              <a:rPr kumimoji="0" lang="en-US" sz="1200" b="0" i="0" u="none" strike="noStrike" kern="1200" cap="none" spc="0" normalizeH="0" baseline="0" noProof="0" smtClean="0">
                <a:ln>
                  <a:noFill/>
                </a:ln>
                <a:solidFill>
                  <a:srgbClr val="E8ECF4"/>
                </a:solidFill>
                <a:effectLst/>
                <a:uLnTx/>
                <a:uFillTx/>
                <a:latin typeface="Roboto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srgbClr val="E8ECF4"/>
              </a:solidFill>
              <a:effectLst/>
              <a:uLnTx/>
              <a:uFillTx/>
              <a:latin typeface="Roboto Light"/>
              <a:ea typeface="+mn-ea"/>
              <a:cs typeface="+mn-cs"/>
            </a:endParaRPr>
          </a:p>
        </p:txBody>
      </p:sp>
      <p:sp>
        <p:nvSpPr>
          <p:cNvPr id="5" name="Textplatzhalter 4"/>
          <p:cNvSpPr>
            <a:spLocks noGrp="1"/>
          </p:cNvSpPr>
          <p:nvPr/>
        </p:nvSpPr>
        <p:spPr>
          <a:xfrm>
            <a:off x="839788" y="6138665"/>
            <a:ext cx="10514012" cy="263149"/>
          </a:xfrm>
          <a:prstGeom prst="rect">
            <a:avLst/>
          </a:prstGeom>
        </p:spPr>
        <p:txBody>
          <a:bodyPr/>
          <a:lstStyle/>
          <a:p>
            <a:endParaRPr lang="en-US" noProof="0"/>
          </a:p>
        </p:txBody>
      </p:sp>
      <p:sp>
        <p:nvSpPr>
          <p:cNvPr id="23" name="Shape 19"/>
          <p:cNvSpPr/>
          <p:nvPr/>
        </p:nvSpPr>
        <p:spPr>
          <a:xfrm>
            <a:off x="887740" y="2610074"/>
            <a:ext cx="4864386" cy="2801042"/>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24" name="Text 20"/>
          <p:cNvSpPr/>
          <p:nvPr/>
        </p:nvSpPr>
        <p:spPr>
          <a:xfrm>
            <a:off x="1443228" y="3184381"/>
            <a:ext cx="5065776" cy="201168"/>
          </a:xfrm>
          <a:prstGeom prst="rect">
            <a:avLst/>
          </a:prstGeom>
          <a:noFill/>
          <a:ln/>
        </p:spPr>
        <p:txBody>
          <a:bodyPr wrap="square" lIns="0" tIns="0" rIns="0" bIns="0" rtlCol="0" anchor="ctr"/>
          <a:lstStyle/>
          <a:p>
            <a:pPr marL="0" indent="0">
              <a:buNone/>
            </a:pPr>
            <a:endParaRPr lang="en-US" sz="1200"/>
          </a:p>
        </p:txBody>
      </p:sp>
      <p:sp>
        <p:nvSpPr>
          <p:cNvPr id="33" name="Shape 21"/>
          <p:cNvSpPr/>
          <p:nvPr/>
        </p:nvSpPr>
        <p:spPr>
          <a:xfrm>
            <a:off x="5926830" y="2608224"/>
            <a:ext cx="4825542" cy="2797508"/>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34" name="Text 22"/>
          <p:cNvSpPr/>
          <p:nvPr/>
        </p:nvSpPr>
        <p:spPr>
          <a:xfrm>
            <a:off x="6286118" y="2753381"/>
            <a:ext cx="5065776" cy="201168"/>
          </a:xfrm>
          <a:prstGeom prst="rect">
            <a:avLst/>
          </a:prstGeom>
          <a:noFill/>
          <a:ln/>
        </p:spPr>
        <p:txBody>
          <a:bodyPr wrap="square" lIns="0" tIns="0" rIns="0" bIns="0" rtlCol="0" anchor="ctr"/>
          <a:lstStyle/>
          <a:p>
            <a:r>
              <a:rPr lang="de-AT" sz="1200" b="1"/>
              <a:t>Top </a:t>
            </a:r>
            <a:r>
              <a:rPr lang="de-AT" sz="1200" b="1" err="1"/>
              <a:t>Entities</a:t>
            </a:r>
            <a:r>
              <a:rPr lang="de-AT" sz="1200" b="1"/>
              <a:t> In Community</a:t>
            </a:r>
            <a:endParaRPr lang="en-US" sz="1200" b="1"/>
          </a:p>
        </p:txBody>
      </p:sp>
      <p:sp>
        <p:nvSpPr>
          <p:cNvPr id="40" name="Text 25"/>
          <p:cNvSpPr/>
          <p:nvPr/>
        </p:nvSpPr>
        <p:spPr>
          <a:xfrm>
            <a:off x="1094113" y="5736252"/>
            <a:ext cx="9907761" cy="121931"/>
          </a:xfrm>
          <a:prstGeom prst="rect">
            <a:avLst/>
          </a:prstGeom>
          <a:noFill/>
          <a:ln/>
        </p:spPr>
        <p:txBody>
          <a:bodyPr wrap="square" lIns="0" tIns="0" rIns="0" bIns="0" rtlCol="0" anchor="ctr">
            <a:noAutofit/>
          </a:bodyPr>
          <a:lstStyle/>
          <a:p>
            <a:pPr marL="0" indent="0">
              <a:buNone/>
            </a:pPr>
            <a:endParaRPr lang="en-US" sz="1000"/>
          </a:p>
        </p:txBody>
      </p:sp>
      <p:pic>
        <p:nvPicPr>
          <p:cNvPr id="35" name="chart:community_top_entities"/>
          <p:cNvPicPr>
            <a:picLocks noChangeAspect="1"/>
          </p:cNvPicPr>
          <p:nvPr/>
        </p:nvPicPr>
        <p:blipFill>
          <a:blip r:embed="rId2"/>
          <a:stretch>
            <a:fillRect/>
          </a:stretch>
        </p:blipFill>
        <p:spPr>
          <a:xfrm>
            <a:off x="1094113" y="3078755"/>
            <a:ext cx="4340898" cy="2183572"/>
          </a:xfrm>
          <a:prstGeom prst="rect">
            <a:avLst/>
          </a:prstGeom>
        </p:spPr>
      </p:pic>
      <p:sp>
        <p:nvSpPr>
          <p:cNvPr id="37" name="Text 20"/>
          <p:cNvSpPr/>
          <p:nvPr/>
        </p:nvSpPr>
        <p:spPr>
          <a:xfrm>
            <a:off x="1093315" y="2750570"/>
            <a:ext cx="5065776" cy="201168"/>
          </a:xfrm>
          <a:prstGeom prst="rect">
            <a:avLst/>
          </a:prstGeom>
          <a:noFill/>
          <a:ln/>
        </p:spPr>
        <p:txBody>
          <a:bodyPr wrap="square" lIns="0" tIns="0" rIns="0" bIns="0" rtlCol="0" anchor="ctr"/>
          <a:lstStyle/>
          <a:p>
            <a:pPr marL="0" indent="0">
              <a:buNone/>
            </a:pPr>
            <a:r>
              <a:rPr lang="en-US" sz="1200" b="1"/>
              <a:t>Community Geographic Footprint</a:t>
            </a:r>
          </a:p>
        </p:txBody>
      </p:sp>
      <p:sp>
        <p:nvSpPr>
          <p:cNvPr id="41" name="Shape 23"/>
          <p:cNvSpPr/>
          <p:nvPr/>
        </p:nvSpPr>
        <p:spPr>
          <a:xfrm>
            <a:off x="835774" y="5732395"/>
            <a:ext cx="8229484" cy="378779"/>
          </a:xfrm>
          <a:prstGeom prst="roundRect">
            <a:avLst>
              <a:gd name="adj" fmla="val 25862"/>
            </a:avLst>
          </a:prstGeom>
          <a:solidFill>
            <a:srgbClr val="FFFFFF"/>
          </a:solidFill>
          <a:ln w="10160">
            <a:solidFill>
              <a:srgbClr val="DDE4E6"/>
            </a:solidFill>
            <a:prstDash val="solid"/>
          </a:ln>
        </p:spPr>
        <p:txBody>
          <a:bodyPr/>
          <a:lstStyle/>
          <a:p>
            <a:endParaRPr lang="de-AT"/>
          </a:p>
        </p:txBody>
      </p:sp>
      <p:sp>
        <p:nvSpPr>
          <p:cNvPr id="42" name="Shape 24"/>
          <p:cNvSpPr/>
          <p:nvPr/>
        </p:nvSpPr>
        <p:spPr>
          <a:xfrm>
            <a:off x="835774" y="5741986"/>
            <a:ext cx="94824" cy="376425"/>
          </a:xfrm>
          <a:prstGeom prst="rect">
            <a:avLst/>
          </a:prstGeom>
          <a:solidFill>
            <a:srgbClr val="E4002B"/>
          </a:solidFill>
          <a:ln w="12700">
            <a:solidFill>
              <a:srgbClr val="E4002B"/>
            </a:solidFill>
            <a:prstDash val="solid"/>
          </a:ln>
        </p:spPr>
        <p:txBody>
          <a:bodyPr/>
          <a:lstStyle/>
          <a:p>
            <a:endParaRPr lang="de-AT"/>
          </a:p>
        </p:txBody>
      </p:sp>
      <p:sp>
        <p:nvSpPr>
          <p:cNvPr id="48" name="Text 25"/>
          <p:cNvSpPr/>
          <p:nvPr/>
        </p:nvSpPr>
        <p:spPr>
          <a:xfrm>
            <a:off x="1012674" y="5626357"/>
            <a:ext cx="8059863" cy="775103"/>
          </a:xfrm>
          <a:prstGeom prst="rect">
            <a:avLst/>
          </a:prstGeom>
          <a:noFill/>
          <a:ln/>
        </p:spPr>
        <p:txBody>
          <a:bodyPr wrap="square" lIns="0" tIns="0" rIns="0" bIns="0" rtlCol="0" anchor="ctr">
            <a:noAutofit/>
          </a:bodyPr>
          <a:lstStyle/>
          <a:p>
            <a:r>
              <a:rPr lang="en-US" sz="1200">
                <a:solidFill>
                  <a:srgbClr val="33393B"/>
                </a:solidFill>
                <a:ea typeface="Roboto Light"/>
                <a:cs typeface="Roboto Light"/>
              </a:rPr>
              <a:t>Germany is the strongest base, while participation already extends across the European region and multiple Group companies</a:t>
            </a:r>
            <a:endParaRPr lang="en-US" sz="1200">
              <a:ea typeface="Roboto Light"/>
              <a:cs typeface="Roboto Light"/>
            </a:endParaRPr>
          </a:p>
          <a:p>
            <a:endParaRPr lang="en-US" sz="1050">
              <a:ea typeface="Roboto Light"/>
              <a:cs typeface="Roboto Light"/>
            </a:endParaRPr>
          </a:p>
        </p:txBody>
      </p:sp>
      <p:pic>
        <p:nvPicPr>
          <p:cNvPr id="3" name="Graphic 2"/>
          <p:cNvPicPr>
            <a:picLocks noChangeAspect="1"/>
          </p:cNvPicPr>
          <p:nvPr/>
        </p:nvPicPr>
        <p:blipFill>
          <a:blip r:embed="rId3"/>
          <a:stretch>
            <a:fillRect/>
          </a:stretch>
        </p:blipFill>
        <p:spPr>
          <a:xfrm>
            <a:off x="9161597" y="5499207"/>
            <a:ext cx="769258" cy="769258"/>
          </a:xfrm>
          <a:prstGeom prst="rect">
            <a:avLst/>
          </a:prstGeom>
        </p:spPr>
      </p:pic>
      <p:grpSp>
        <p:nvGrpSpPr>
          <p:cNvPr id="26" name="Group 25"/>
          <p:cNvGrpSpPr/>
          <p:nvPr/>
        </p:nvGrpSpPr>
        <p:grpSpPr>
          <a:xfrm>
            <a:off x="2700564" y="1611602"/>
            <a:ext cx="6455664" cy="868680"/>
            <a:chOff x="1306068" y="1858345"/>
            <a:chExt cx="6455664" cy="868680"/>
          </a:xfrm>
        </p:grpSpPr>
        <p:sp>
          <p:nvSpPr>
            <p:cNvPr id="9" name="Shape 4"/>
            <p:cNvSpPr/>
            <p:nvPr/>
          </p:nvSpPr>
          <p:spPr>
            <a:xfrm>
              <a:off x="1306068"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0" name="kpi:community_total_registrations"/>
            <p:cNvSpPr/>
            <p:nvPr/>
          </p:nvSpPr>
          <p:spPr>
            <a:xfrm>
              <a:off x="1443228"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E4002B"/>
                  </a:solidFill>
                  <a:ea typeface="Roboto Light"/>
                  <a:cs typeface="Roboto Light"/>
                </a:rPr>
                <a:t>1156</a:t>
              </a:r>
            </a:p>
          </p:txBody>
        </p:sp>
        <p:sp>
          <p:nvSpPr>
            <p:cNvPr id="11" name="Text 6"/>
            <p:cNvSpPr/>
            <p:nvPr/>
          </p:nvSpPr>
          <p:spPr>
            <a:xfrm>
              <a:off x="1379220" y="2379553"/>
              <a:ext cx="1865376" cy="182880"/>
            </a:xfrm>
            <a:prstGeom prst="rect">
              <a:avLst/>
            </a:prstGeom>
            <a:noFill/>
            <a:ln/>
          </p:spPr>
          <p:txBody>
            <a:bodyPr wrap="square" lIns="0" tIns="0" rIns="0" bIns="0" rtlCol="0" anchor="ctr">
              <a:normAutofit/>
            </a:bodyPr>
            <a:lstStyle/>
            <a:p>
              <a:pPr algn="ctr"/>
              <a:r>
                <a:rPr lang="en-US" sz="950" b="1">
                  <a:solidFill>
                    <a:srgbClr val="7A8285"/>
                  </a:solidFill>
                  <a:ea typeface="Roboto Light"/>
                  <a:cs typeface="Roboto Light"/>
                </a:rPr>
                <a:t>Total registrations</a:t>
              </a:r>
              <a:endParaRPr lang="en-US" sz="950" b="1">
                <a:solidFill>
                  <a:srgbClr val="7A8285"/>
                </a:solidFill>
              </a:endParaRPr>
            </a:p>
          </p:txBody>
        </p:sp>
        <p:grpSp>
          <p:nvGrpSpPr>
            <p:cNvPr id="12" name="Group 11"/>
            <p:cNvGrpSpPr/>
            <p:nvPr/>
          </p:nvGrpSpPr>
          <p:grpSpPr>
            <a:xfrm>
              <a:off x="3528060" y="1858345"/>
              <a:ext cx="4233672" cy="868680"/>
              <a:chOff x="3528060" y="1858345"/>
              <a:chExt cx="4233672" cy="868680"/>
            </a:xfrm>
          </p:grpSpPr>
          <p:sp>
            <p:nvSpPr>
              <p:cNvPr id="13" name="Shape 7"/>
              <p:cNvSpPr/>
              <p:nvPr/>
            </p:nvSpPr>
            <p:spPr>
              <a:xfrm>
                <a:off x="3528060"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4" name="kpi:community_companies_represented"/>
              <p:cNvSpPr/>
              <p:nvPr/>
            </p:nvSpPr>
            <p:spPr>
              <a:xfrm>
                <a:off x="3665220"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8C3A62"/>
                    </a:solidFill>
                  </a:rPr>
                  <a:t>66</a:t>
                </a:r>
              </a:p>
            </p:txBody>
          </p:sp>
          <p:sp>
            <p:nvSpPr>
              <p:cNvPr id="15" name="Text 9"/>
              <p:cNvSpPr/>
              <p:nvPr/>
            </p:nvSpPr>
            <p:spPr>
              <a:xfrm>
                <a:off x="3601212" y="2379553"/>
                <a:ext cx="1865376" cy="182880"/>
              </a:xfrm>
              <a:prstGeom prst="rect">
                <a:avLst/>
              </a:prstGeom>
              <a:noFill/>
              <a:ln/>
            </p:spPr>
            <p:txBody>
              <a:bodyPr wrap="square" lIns="0" tIns="0" rIns="0" bIns="0" rtlCol="0" anchor="ctr">
                <a:normAutofit/>
              </a:bodyPr>
              <a:lstStyle/>
              <a:p>
                <a:pPr algn="ctr"/>
                <a:r>
                  <a:rPr lang="en-US" sz="950" b="1">
                    <a:solidFill>
                      <a:srgbClr val="7A8285"/>
                    </a:solidFill>
                    <a:ea typeface="Roboto Light"/>
                    <a:cs typeface="Roboto Light"/>
                  </a:rPr>
                  <a:t>Companies Represented</a:t>
                </a:r>
                <a:endParaRPr lang="en-US" sz="950" b="1">
                  <a:solidFill>
                    <a:srgbClr val="7A8285"/>
                  </a:solidFill>
                </a:endParaRPr>
              </a:p>
            </p:txBody>
          </p:sp>
          <p:grpSp>
            <p:nvGrpSpPr>
              <p:cNvPr id="16" name="Group 15"/>
              <p:cNvGrpSpPr/>
              <p:nvPr/>
            </p:nvGrpSpPr>
            <p:grpSpPr>
              <a:xfrm>
                <a:off x="5750052" y="1858345"/>
                <a:ext cx="2011680" cy="868680"/>
                <a:chOff x="5750052" y="1858345"/>
                <a:chExt cx="2011680" cy="868680"/>
              </a:xfrm>
            </p:grpSpPr>
            <p:sp>
              <p:nvSpPr>
                <p:cNvPr id="17" name="Shape 10"/>
                <p:cNvSpPr/>
                <p:nvPr/>
              </p:nvSpPr>
              <p:spPr>
                <a:xfrm>
                  <a:off x="5750052"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8" name="kpi:community_countries_represented"/>
                <p:cNvSpPr/>
                <p:nvPr/>
              </p:nvSpPr>
              <p:spPr>
                <a:xfrm>
                  <a:off x="5887212"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0D8492"/>
                      </a:solidFill>
                    </a:rPr>
                    <a:t>19</a:t>
                  </a:r>
                </a:p>
              </p:txBody>
            </p:sp>
            <p:sp>
              <p:nvSpPr>
                <p:cNvPr id="19" name="Text 12"/>
                <p:cNvSpPr/>
                <p:nvPr/>
              </p:nvSpPr>
              <p:spPr>
                <a:xfrm>
                  <a:off x="5823204" y="2379553"/>
                  <a:ext cx="1865376" cy="182880"/>
                </a:xfrm>
                <a:prstGeom prst="rect">
                  <a:avLst/>
                </a:prstGeom>
                <a:noFill/>
                <a:ln/>
              </p:spPr>
              <p:txBody>
                <a:bodyPr wrap="square" lIns="0" tIns="0" rIns="0" bIns="0" rtlCol="0" anchor="ctr">
                  <a:normAutofit/>
                </a:bodyPr>
                <a:lstStyle/>
                <a:p>
                  <a:pPr algn="ctr"/>
                  <a:r>
                    <a:rPr lang="en-US" sz="950" b="1">
                      <a:solidFill>
                        <a:srgbClr val="7A8285"/>
                      </a:solidFill>
                      <a:ea typeface="Roboto Light"/>
                      <a:cs typeface="Roboto Light"/>
                    </a:rPr>
                    <a:t>Countries </a:t>
                  </a:r>
                  <a:r>
                    <a:rPr lang="en-US" sz="1000" b="1">
                      <a:solidFill>
                        <a:srgbClr val="7A8285"/>
                      </a:solidFill>
                      <a:ea typeface="Roboto Light"/>
                      <a:cs typeface="Roboto Light"/>
                    </a:rPr>
                    <a:t>Represented</a:t>
                  </a:r>
                  <a:endParaRPr lang="en-US" sz="950" b="1">
                    <a:solidFill>
                      <a:srgbClr val="7A8285"/>
                    </a:solidFill>
                  </a:endParaRPr>
                </a:p>
              </p:txBody>
            </p:sp>
          </p:grpSp>
        </p:grpSp>
      </p:grpSp>
      <p:pic>
        <p:nvPicPr>
          <p:cNvPr id="8" name="chart:community_geographic_footprint"/>
          <p:cNvPicPr>
            <a:picLocks noChangeAspect="1"/>
          </p:cNvPicPr>
          <p:nvPr/>
        </p:nvPicPr>
        <p:blipFill>
          <a:blip r:embed="rId4"/>
          <a:stretch>
            <a:fillRect/>
          </a:stretch>
        </p:blipFill>
        <p:spPr>
          <a:xfrm>
            <a:off x="6493555" y="2960460"/>
            <a:ext cx="3689803" cy="2385272"/>
          </a:xfrm>
          <a:prstGeom prst="rect">
            <a:avLst/>
          </a:prstGeom>
        </p:spPr>
      </p:pic>
      <p:sp>
        <p:nvSpPr>
          <p:cNvPr id="49"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61" name="Rounded Rectangle 17"/>
          <p:cNvSpPr/>
          <p:nvPr/>
        </p:nvSpPr>
        <p:spPr>
          <a:xfrm>
            <a:off x="5926830" y="1624322"/>
            <a:ext cx="1719072" cy="896112"/>
          </a:xfrm>
          <a:prstGeom prst="roundRect">
            <a:avLst/>
          </a:prstGeom>
          <a:solidFill>
            <a:srgbClr val="FFFFFF"/>
          </a:solidFill>
          <a:ln w="8890">
            <a:solidFill>
              <a:srgbClr val="D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4" name="Titel 3"/>
          <p:cNvSpPr>
            <a:spLocks noGrp="1"/>
          </p:cNvSpPr>
          <p:nvPr/>
        </p:nvSpPr>
        <p:spPr>
          <a:xfrm>
            <a:off x="839788" y="654939"/>
            <a:ext cx="10514012" cy="941796"/>
          </a:xfrm>
          <a:prstGeom prst="rect">
            <a:avLst/>
          </a:prstGeom>
        </p:spPr>
        <p:txBody>
          <a:bodyPr/>
          <a:lstStyle/>
          <a:p>
            <a:r>
              <a:rPr lang="de-AT" sz="3600">
                <a:solidFill>
                  <a:srgbClr val="788082"/>
                </a:solidFill>
              </a:rPr>
              <a:t>Data &amp; AI Community </a:t>
            </a:r>
            <a:r>
              <a:rPr lang="de-AT" sz="3600" err="1">
                <a:solidFill>
                  <a:srgbClr val="788082"/>
                </a:solidFill>
              </a:rPr>
              <a:t>Overview</a:t>
            </a:r>
            <a:r>
              <a:rPr lang="de-AT" sz="3600">
                <a:solidFill>
                  <a:srgbClr val="788082"/>
                </a:solidFill>
              </a:rPr>
              <a:t> - Company</a:t>
            </a:r>
            <a:br>
              <a:rPr lang="de-AT" sz="3600">
                <a:solidFill>
                  <a:srgbClr val="788082"/>
                </a:solidFill>
              </a:rPr>
            </a:br>
            <a:endParaRPr lang="en-US" sz="3600" noProof="0">
              <a:solidFill>
                <a:srgbClr val="A6ADAF"/>
              </a:solidFill>
            </a:endParaRPr>
          </a:p>
        </p:txBody>
      </p:sp>
      <p:sp>
        <p:nvSpPr>
          <p:cNvPr id="6" name="Fußzeilenplatzhalter 5"/>
          <p:cNvSpPr>
            <a:spLocks noGrp="1"/>
          </p:cNvSpPr>
          <p:nvPr/>
        </p:nvSpPr>
        <p:spPr>
          <a:xfrm>
            <a:off x="1466850" y="6587737"/>
            <a:ext cx="6953250" cy="18466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aa1b2"/>
                </a:solidFill>
                <a:effectLst/>
                <a:uLnTx/>
                <a:uFillTx/>
                <a:latin typeface="Roboto Light"/>
                <a:ea typeface="+mn-ea"/>
                <a:cs typeface="+mn-cs"/>
              </a:rPr>
              <a:t>Data &amp; AI @ Contoso</a:t>
            </a:r>
          </a:p>
        </p:txBody>
      </p:sp>
      <p:sp>
        <p:nvSpPr>
          <p:cNvPr id="7" name="Foliennummernplatzhalter 6"/>
          <p:cNvSpPr>
            <a:spLocks noGrp="1"/>
          </p:cNvSpPr>
          <p:nvPr/>
        </p:nvSpPr>
        <p:spPr>
          <a:xfrm>
            <a:off x="839788" y="6587737"/>
            <a:ext cx="347662" cy="18466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4E38502-06D2-4E51-82FE-464E052045F9}" type="slidenum">
              <a:rPr kumimoji="0" lang="en-US" sz="1200" b="0" i="0" u="none" strike="noStrike" kern="1200" cap="none" spc="0" normalizeH="0" baseline="0" noProof="0" smtClean="0">
                <a:ln>
                  <a:noFill/>
                </a:ln>
                <a:solidFill>
                  <a:srgbClr val="E8ECF4"/>
                </a:solidFill>
                <a:effectLst/>
                <a:uLnTx/>
                <a:uFillTx/>
                <a:latin typeface="Roboto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srgbClr val="E8ECF4"/>
              </a:solidFill>
              <a:effectLst/>
              <a:uLnTx/>
              <a:uFillTx/>
              <a:latin typeface="Roboto Light"/>
              <a:ea typeface="+mn-ea"/>
              <a:cs typeface="+mn-cs"/>
            </a:endParaRPr>
          </a:p>
        </p:txBody>
      </p:sp>
      <p:sp>
        <p:nvSpPr>
          <p:cNvPr id="5" name="Textplatzhalter 4"/>
          <p:cNvSpPr>
            <a:spLocks noGrp="1"/>
          </p:cNvSpPr>
          <p:nvPr/>
        </p:nvSpPr>
        <p:spPr>
          <a:xfrm>
            <a:off x="839788" y="6138665"/>
            <a:ext cx="10514012" cy="263149"/>
          </a:xfrm>
          <a:prstGeom prst="rect">
            <a:avLst/>
          </a:prstGeom>
        </p:spPr>
        <p:txBody>
          <a:bodyPr/>
          <a:lstStyle/>
          <a:p>
            <a:endParaRPr lang="en-US" noProof="0"/>
          </a:p>
        </p:txBody>
      </p:sp>
      <p:sp>
        <p:nvSpPr>
          <p:cNvPr id="23" name="Shape 19"/>
          <p:cNvSpPr/>
          <p:nvPr/>
        </p:nvSpPr>
        <p:spPr>
          <a:xfrm>
            <a:off x="887740" y="2610074"/>
            <a:ext cx="4864386" cy="2801042"/>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24" name="Text 20"/>
          <p:cNvSpPr/>
          <p:nvPr/>
        </p:nvSpPr>
        <p:spPr>
          <a:xfrm>
            <a:off x="1443228" y="3184381"/>
            <a:ext cx="5065776" cy="201168"/>
          </a:xfrm>
          <a:prstGeom prst="rect">
            <a:avLst/>
          </a:prstGeom>
          <a:noFill/>
          <a:ln/>
        </p:spPr>
        <p:txBody>
          <a:bodyPr wrap="square" lIns="0" tIns="0" rIns="0" bIns="0" rtlCol="0" anchor="ctr"/>
          <a:lstStyle/>
          <a:p>
            <a:pPr marL="0" indent="0">
              <a:buNone/>
            </a:pPr>
            <a:endParaRPr lang="en-US" sz="1200"/>
          </a:p>
        </p:txBody>
      </p:sp>
      <p:sp>
        <p:nvSpPr>
          <p:cNvPr id="33" name="Shape 21"/>
          <p:cNvSpPr/>
          <p:nvPr/>
        </p:nvSpPr>
        <p:spPr>
          <a:xfrm>
            <a:off x="5926830" y="2608224"/>
            <a:ext cx="4825542" cy="2797508"/>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34" name="Text 22"/>
          <p:cNvSpPr/>
          <p:nvPr/>
        </p:nvSpPr>
        <p:spPr>
          <a:xfrm>
            <a:off x="6286118" y="2753381"/>
            <a:ext cx="5065776" cy="201168"/>
          </a:xfrm>
          <a:prstGeom prst="rect">
            <a:avLst/>
          </a:prstGeom>
          <a:noFill/>
          <a:ln/>
        </p:spPr>
        <p:txBody>
          <a:bodyPr wrap="square" lIns="0" tIns="0" rIns="0" bIns="0" rtlCol="0" anchor="ctr"/>
          <a:lstStyle/>
          <a:p>
            <a:r>
              <a:rPr lang="de-AT" sz="1200" b="1"/>
              <a:t>Top TEAMS Members </a:t>
            </a:r>
            <a:r>
              <a:rPr lang="de-AT" sz="1200" b="1" err="1"/>
              <a:t>Reach</a:t>
            </a:r>
            <a:r>
              <a:rPr lang="de-AT" sz="1200" b="1"/>
              <a:t> % </a:t>
            </a:r>
            <a:r>
              <a:rPr lang="de-AT" sz="1200" b="1" err="1"/>
              <a:t>by</a:t>
            </a:r>
            <a:r>
              <a:rPr lang="de-AT" sz="1200" b="1"/>
              <a:t> Company</a:t>
            </a:r>
            <a:endParaRPr lang="en-US" sz="1200" b="1"/>
          </a:p>
        </p:txBody>
      </p:sp>
      <p:sp>
        <p:nvSpPr>
          <p:cNvPr id="40" name="Text 25"/>
          <p:cNvSpPr/>
          <p:nvPr/>
        </p:nvSpPr>
        <p:spPr>
          <a:xfrm>
            <a:off x="1094113" y="5736252"/>
            <a:ext cx="9907761" cy="121931"/>
          </a:xfrm>
          <a:prstGeom prst="rect">
            <a:avLst/>
          </a:prstGeom>
          <a:noFill/>
          <a:ln/>
        </p:spPr>
        <p:txBody>
          <a:bodyPr wrap="square" lIns="0" tIns="0" rIns="0" bIns="0" rtlCol="0" anchor="ctr">
            <a:noAutofit/>
          </a:bodyPr>
          <a:lstStyle/>
          <a:p>
            <a:pPr marL="0" indent="0">
              <a:buNone/>
            </a:pPr>
            <a:endParaRPr lang="en-US" sz="1000"/>
          </a:p>
        </p:txBody>
      </p:sp>
      <p:sp>
        <p:nvSpPr>
          <p:cNvPr id="37" name="Text 20"/>
          <p:cNvSpPr/>
          <p:nvPr/>
        </p:nvSpPr>
        <p:spPr>
          <a:xfrm>
            <a:off x="1093315" y="2750570"/>
            <a:ext cx="5065776" cy="201168"/>
          </a:xfrm>
          <a:prstGeom prst="rect">
            <a:avLst/>
          </a:prstGeom>
          <a:noFill/>
          <a:ln/>
        </p:spPr>
        <p:txBody>
          <a:bodyPr wrap="square" lIns="0" tIns="0" rIns="0" bIns="0" rtlCol="0" anchor="ctr"/>
          <a:lstStyle/>
          <a:p>
            <a:pPr marL="0" indent="0">
              <a:buNone/>
            </a:pPr>
            <a:r>
              <a:rPr lang="en-US" sz="1200" b="1"/>
              <a:t>Top Registrations Reach % by Company</a:t>
            </a:r>
          </a:p>
        </p:txBody>
      </p:sp>
      <p:sp>
        <p:nvSpPr>
          <p:cNvPr id="41" name="Shape 23"/>
          <p:cNvSpPr/>
          <p:nvPr/>
        </p:nvSpPr>
        <p:spPr>
          <a:xfrm>
            <a:off x="835774" y="5732395"/>
            <a:ext cx="8229484" cy="378779"/>
          </a:xfrm>
          <a:prstGeom prst="roundRect">
            <a:avLst>
              <a:gd name="adj" fmla="val 25862"/>
            </a:avLst>
          </a:prstGeom>
          <a:solidFill>
            <a:srgbClr val="FFFFFF"/>
          </a:solidFill>
          <a:ln w="10160">
            <a:solidFill>
              <a:srgbClr val="DDE4E6"/>
            </a:solidFill>
            <a:prstDash val="solid"/>
          </a:ln>
        </p:spPr>
        <p:txBody>
          <a:bodyPr/>
          <a:lstStyle/>
          <a:p>
            <a:endParaRPr lang="de-AT"/>
          </a:p>
        </p:txBody>
      </p:sp>
      <p:sp>
        <p:nvSpPr>
          <p:cNvPr id="42" name="Shape 24"/>
          <p:cNvSpPr/>
          <p:nvPr/>
        </p:nvSpPr>
        <p:spPr>
          <a:xfrm>
            <a:off x="835774" y="5741986"/>
            <a:ext cx="94824" cy="376425"/>
          </a:xfrm>
          <a:prstGeom prst="rect">
            <a:avLst/>
          </a:prstGeom>
          <a:solidFill>
            <a:srgbClr val="E4002B"/>
          </a:solidFill>
          <a:ln w="12700">
            <a:solidFill>
              <a:srgbClr val="E4002B"/>
            </a:solidFill>
            <a:prstDash val="solid"/>
          </a:ln>
        </p:spPr>
        <p:txBody>
          <a:bodyPr/>
          <a:lstStyle/>
          <a:p>
            <a:endParaRPr lang="de-AT"/>
          </a:p>
        </p:txBody>
      </p:sp>
      <p:sp>
        <p:nvSpPr>
          <p:cNvPr id="48" name="Text 25"/>
          <p:cNvSpPr/>
          <p:nvPr/>
        </p:nvSpPr>
        <p:spPr>
          <a:xfrm>
            <a:off x="1012674" y="5626357"/>
            <a:ext cx="8059863" cy="775103"/>
          </a:xfrm>
          <a:prstGeom prst="rect">
            <a:avLst/>
          </a:prstGeom>
          <a:noFill/>
          <a:ln/>
        </p:spPr>
        <p:txBody>
          <a:bodyPr wrap="square" lIns="0" tIns="0" rIns="0" bIns="0" rtlCol="0" anchor="ctr">
            <a:noAutofit/>
          </a:bodyPr>
          <a:lstStyle/>
          <a:p>
            <a:r>
              <a:rPr lang="en-US" sz="1000">
                <a:solidFill>
                  <a:srgbClr val="2A3237"/>
                </a:solidFill>
              </a:rPr>
              <a:t>Registrations show how many people registered for the Data &amp; AI Community. TEAMS members show the current member listing. The numbers can differ if people leave, duplicates are cleaned, or registrations are not active members.</a:t>
            </a:r>
          </a:p>
          <a:p>
            <a:endParaRPr lang="en-US" sz="1050">
              <a:ea typeface="Roboto Light"/>
              <a:cs typeface="Roboto Light"/>
            </a:endParaRPr>
          </a:p>
        </p:txBody>
      </p:sp>
      <p:sp>
        <p:nvSpPr>
          <p:cNvPr id="2" name="Rounded Rectangle 7"/>
          <p:cNvSpPr/>
          <p:nvPr/>
        </p:nvSpPr>
        <p:spPr>
          <a:xfrm>
            <a:off x="320040" y="1639460"/>
            <a:ext cx="1719072" cy="896112"/>
          </a:xfrm>
          <a:prstGeom prst="roundRect">
            <a:avLst/>
          </a:prstGeom>
          <a:solidFill>
            <a:srgbClr val="FFFFFF"/>
          </a:solidFill>
          <a:ln w="8890">
            <a:solidFill>
              <a:srgbClr val="D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0" name="Rectangle 19"/>
          <p:cNvSpPr/>
          <p:nvPr/>
        </p:nvSpPr>
        <p:spPr>
          <a:xfrm>
            <a:off x="320040" y="1639460"/>
            <a:ext cx="64008" cy="896112"/>
          </a:xfrm>
          <a:prstGeom prst="rect">
            <a:avLst/>
          </a:prstGeom>
          <a:solidFill>
            <a:srgbClr val="A00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1" name="TextBox 20"/>
          <p:cNvSpPr txBox="1"/>
          <p:nvPr/>
        </p:nvSpPr>
        <p:spPr>
          <a:xfrm>
            <a:off x="484631" y="1758332"/>
            <a:ext cx="852798" cy="130805"/>
          </a:xfrm>
          <a:prstGeom prst="rect">
            <a:avLst/>
          </a:prstGeom>
          <a:noFill/>
        </p:spPr>
        <p:txBody>
          <a:bodyPr wrap="none" lIns="0" tIns="0" rIns="0" bIns="0">
            <a:spAutoFit/>
          </a:bodyPr>
          <a:lstStyle/>
          <a:p>
            <a:pPr algn="l"/>
            <a:r>
              <a:rPr sz="850" b="1">
                <a:solidFill>
                  <a:srgbClr val="2A3237"/>
                </a:solidFill>
              </a:rPr>
              <a:t>Total registrations</a:t>
            </a:r>
          </a:p>
        </p:txBody>
      </p:sp>
      <p:sp>
        <p:nvSpPr>
          <p:cNvPr id="22" name="kpi:community_total_registrations"/>
          <p:cNvSpPr txBox="1"/>
          <p:nvPr/>
        </p:nvSpPr>
        <p:spPr>
          <a:xfrm>
            <a:off x="484631" y="2023507"/>
            <a:ext cx="384721" cy="276999"/>
          </a:xfrm>
          <a:prstGeom prst="rect">
            <a:avLst/>
          </a:prstGeom>
          <a:noFill/>
        </p:spPr>
        <p:txBody>
          <a:bodyPr wrap="none" lIns="0" tIns="0" rIns="0" bIns="0">
            <a:spAutoFit/>
          </a:bodyPr>
          <a:lstStyle/>
          <a:p>
            <a:pPr algn="l"/>
            <a:r>
              <a:rPr sz="1800" b="1">
                <a:solidFill>
                  <a:srgbClr val="000000"/>
                </a:solidFill>
              </a:rPr>
              <a:t>569</a:t>
            </a:r>
          </a:p>
        </p:txBody>
      </p:sp>
      <p:sp>
        <p:nvSpPr>
          <p:cNvPr id="25" name="TextBox 24"/>
          <p:cNvSpPr txBox="1"/>
          <p:nvPr/>
        </p:nvSpPr>
        <p:spPr>
          <a:xfrm>
            <a:off x="484631" y="2352692"/>
            <a:ext cx="618759" cy="110800"/>
          </a:xfrm>
          <a:prstGeom prst="rect">
            <a:avLst/>
          </a:prstGeom>
          <a:noFill/>
        </p:spPr>
        <p:txBody>
          <a:bodyPr wrap="none" lIns="0" tIns="0" rIns="0" bIns="0">
            <a:spAutoFit/>
          </a:bodyPr>
          <a:lstStyle/>
          <a:p>
            <a:pPr algn="l"/>
            <a:r>
              <a:rPr lang="en-US" sz="720" b="1">
                <a:solidFill>
                  <a:srgbClr val="788082"/>
                </a:solidFill>
              </a:rPr>
              <a:t>R</a:t>
            </a:r>
            <a:r>
              <a:rPr sz="720" b="1">
                <a:solidFill>
                  <a:srgbClr val="788082"/>
                </a:solidFill>
              </a:rPr>
              <a:t>egistration list</a:t>
            </a:r>
          </a:p>
        </p:txBody>
      </p:sp>
      <p:sp>
        <p:nvSpPr>
          <p:cNvPr id="27" name="Rounded Rectangle 12"/>
          <p:cNvSpPr/>
          <p:nvPr/>
        </p:nvSpPr>
        <p:spPr>
          <a:xfrm>
            <a:off x="2194560" y="1639460"/>
            <a:ext cx="1719072" cy="896112"/>
          </a:xfrm>
          <a:prstGeom prst="roundRect">
            <a:avLst/>
          </a:prstGeom>
          <a:solidFill>
            <a:srgbClr val="FFFFFF"/>
          </a:solidFill>
          <a:ln w="8890">
            <a:solidFill>
              <a:srgbClr val="D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8" name="Rectangle 27"/>
          <p:cNvSpPr/>
          <p:nvPr/>
        </p:nvSpPr>
        <p:spPr>
          <a:xfrm>
            <a:off x="2194560" y="1639460"/>
            <a:ext cx="64008" cy="89611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9" name="TextBox 28"/>
          <p:cNvSpPr txBox="1"/>
          <p:nvPr/>
        </p:nvSpPr>
        <p:spPr>
          <a:xfrm>
            <a:off x="2359152" y="1758332"/>
            <a:ext cx="823944" cy="130805"/>
          </a:xfrm>
          <a:prstGeom prst="rect">
            <a:avLst/>
          </a:prstGeom>
          <a:noFill/>
        </p:spPr>
        <p:txBody>
          <a:bodyPr wrap="none" lIns="0" tIns="0" rIns="0" bIns="0">
            <a:spAutoFit/>
          </a:bodyPr>
          <a:lstStyle/>
          <a:p>
            <a:pPr algn="l"/>
            <a:r>
              <a:rPr sz="850" b="1">
                <a:solidFill>
                  <a:srgbClr val="2A3237"/>
                </a:solidFill>
              </a:rPr>
              <a:t>TEAMS members</a:t>
            </a:r>
          </a:p>
        </p:txBody>
      </p:sp>
      <p:sp>
        <p:nvSpPr>
          <p:cNvPr id="30" name="kpi:community_teams_members"/>
          <p:cNvSpPr txBox="1"/>
          <p:nvPr/>
        </p:nvSpPr>
        <p:spPr>
          <a:xfrm>
            <a:off x="2359152" y="2023507"/>
            <a:ext cx="384721" cy="276999"/>
          </a:xfrm>
          <a:prstGeom prst="rect">
            <a:avLst/>
          </a:prstGeom>
          <a:noFill/>
        </p:spPr>
        <p:txBody>
          <a:bodyPr wrap="none" lIns="0" tIns="0" rIns="0" bIns="0">
            <a:spAutoFit/>
          </a:bodyPr>
          <a:lstStyle/>
          <a:p>
            <a:pPr algn="l"/>
            <a:r>
              <a:rPr sz="1800" b="1">
                <a:solidFill>
                  <a:srgbClr val="000000"/>
                </a:solidFill>
              </a:rPr>
              <a:t>799</a:t>
            </a:r>
          </a:p>
        </p:txBody>
      </p:sp>
      <p:sp>
        <p:nvSpPr>
          <p:cNvPr id="31" name="TextBox 30"/>
          <p:cNvSpPr txBox="1"/>
          <p:nvPr/>
        </p:nvSpPr>
        <p:spPr>
          <a:xfrm>
            <a:off x="2359152" y="2352692"/>
            <a:ext cx="852798" cy="110800"/>
          </a:xfrm>
          <a:prstGeom prst="rect">
            <a:avLst/>
          </a:prstGeom>
          <a:noFill/>
        </p:spPr>
        <p:txBody>
          <a:bodyPr wrap="none" lIns="0" tIns="0" rIns="0" bIns="0">
            <a:spAutoFit/>
          </a:bodyPr>
          <a:lstStyle/>
          <a:p>
            <a:pPr algn="l"/>
            <a:r>
              <a:rPr lang="en-US" sz="720" b="1">
                <a:solidFill>
                  <a:srgbClr val="788082"/>
                </a:solidFill>
              </a:rPr>
              <a:t>C</a:t>
            </a:r>
            <a:r>
              <a:rPr sz="720" b="1">
                <a:solidFill>
                  <a:srgbClr val="788082"/>
                </a:solidFill>
              </a:rPr>
              <a:t>urrent Teams listing</a:t>
            </a:r>
          </a:p>
        </p:txBody>
      </p:sp>
      <p:sp>
        <p:nvSpPr>
          <p:cNvPr id="32" name="Rounded Rectangle 17"/>
          <p:cNvSpPr/>
          <p:nvPr/>
        </p:nvSpPr>
        <p:spPr>
          <a:xfrm>
            <a:off x="4069080" y="1639460"/>
            <a:ext cx="1719072" cy="896112"/>
          </a:xfrm>
          <a:prstGeom prst="roundRect">
            <a:avLst/>
          </a:prstGeom>
          <a:solidFill>
            <a:srgbClr val="FFFFFF"/>
          </a:solidFill>
          <a:ln w="8890">
            <a:solidFill>
              <a:srgbClr val="D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6" name="TextBox 35"/>
          <p:cNvSpPr txBox="1"/>
          <p:nvPr/>
        </p:nvSpPr>
        <p:spPr>
          <a:xfrm>
            <a:off x="4233672" y="1758332"/>
            <a:ext cx="450444" cy="130805"/>
          </a:xfrm>
          <a:prstGeom prst="rect">
            <a:avLst/>
          </a:prstGeom>
          <a:noFill/>
        </p:spPr>
        <p:txBody>
          <a:bodyPr wrap="none" lIns="0" tIns="0" rIns="0" bIns="0">
            <a:spAutoFit/>
          </a:bodyPr>
          <a:lstStyle/>
          <a:p>
            <a:pPr algn="l"/>
            <a:r>
              <a:rPr sz="850" b="1">
                <a:solidFill>
                  <a:srgbClr val="2A3237"/>
                </a:solidFill>
              </a:rPr>
              <a:t>Countries</a:t>
            </a:r>
          </a:p>
        </p:txBody>
      </p:sp>
      <p:sp>
        <p:nvSpPr>
          <p:cNvPr id="38" name="kpi:community_countries_reg_teams"/>
          <p:cNvSpPr txBox="1"/>
          <p:nvPr/>
        </p:nvSpPr>
        <p:spPr>
          <a:xfrm>
            <a:off x="4233672" y="2023507"/>
            <a:ext cx="716543" cy="276999"/>
          </a:xfrm>
          <a:prstGeom prst="rect">
            <a:avLst/>
          </a:prstGeom>
          <a:noFill/>
        </p:spPr>
        <p:txBody>
          <a:bodyPr wrap="none" lIns="0" tIns="0" rIns="0" bIns="0">
            <a:spAutoFit/>
          </a:bodyPr>
          <a:lstStyle/>
          <a:p>
            <a:pPr algn="l"/>
            <a:r>
              <a:rPr sz="1800" b="1">
                <a:solidFill>
                  <a:srgbClr val="000000"/>
                </a:solidFill>
              </a:rPr>
              <a:t>22 / 15</a:t>
            </a:r>
          </a:p>
        </p:txBody>
      </p:sp>
      <p:sp>
        <p:nvSpPr>
          <p:cNvPr id="39" name="TextBox 38"/>
          <p:cNvSpPr txBox="1"/>
          <p:nvPr/>
        </p:nvSpPr>
        <p:spPr>
          <a:xfrm>
            <a:off x="4233672" y="2352692"/>
            <a:ext cx="899285" cy="110800"/>
          </a:xfrm>
          <a:prstGeom prst="rect">
            <a:avLst/>
          </a:prstGeom>
          <a:noFill/>
        </p:spPr>
        <p:txBody>
          <a:bodyPr wrap="none" lIns="0" tIns="0" rIns="0" bIns="0">
            <a:spAutoFit/>
          </a:bodyPr>
          <a:lstStyle/>
          <a:p>
            <a:pPr algn="l"/>
            <a:r>
              <a:rPr lang="en-US" sz="720" b="1">
                <a:solidFill>
                  <a:srgbClr val="788082"/>
                </a:solidFill>
              </a:rPr>
              <a:t>R</a:t>
            </a:r>
            <a:r>
              <a:rPr sz="720" b="1">
                <a:solidFill>
                  <a:srgbClr val="788082"/>
                </a:solidFill>
              </a:rPr>
              <a:t>egistrations / TEAMS</a:t>
            </a:r>
          </a:p>
        </p:txBody>
      </p:sp>
      <p:sp>
        <p:nvSpPr>
          <p:cNvPr id="43" name="Rectangle 42"/>
          <p:cNvSpPr/>
          <p:nvPr/>
        </p:nvSpPr>
        <p:spPr>
          <a:xfrm>
            <a:off x="5930900" y="1639460"/>
            <a:ext cx="64008" cy="89611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44" name="TextBox 43"/>
          <p:cNvSpPr txBox="1"/>
          <p:nvPr/>
        </p:nvSpPr>
        <p:spPr>
          <a:xfrm>
            <a:off x="6108191" y="1758332"/>
            <a:ext cx="532197" cy="130805"/>
          </a:xfrm>
          <a:prstGeom prst="rect">
            <a:avLst/>
          </a:prstGeom>
          <a:noFill/>
        </p:spPr>
        <p:txBody>
          <a:bodyPr wrap="none" lIns="0" tIns="0" rIns="0" bIns="0">
            <a:spAutoFit/>
          </a:bodyPr>
          <a:lstStyle/>
          <a:p>
            <a:pPr algn="l"/>
            <a:r>
              <a:rPr sz="850" b="1">
                <a:solidFill>
                  <a:srgbClr val="2A3237"/>
                </a:solidFill>
              </a:rPr>
              <a:t>Companies</a:t>
            </a:r>
          </a:p>
        </p:txBody>
      </p:sp>
      <p:sp>
        <p:nvSpPr>
          <p:cNvPr id="45" name="kpi:community_companies_reg_teams"/>
          <p:cNvSpPr txBox="1"/>
          <p:nvPr/>
        </p:nvSpPr>
        <p:spPr>
          <a:xfrm>
            <a:off x="6108191" y="2023507"/>
            <a:ext cx="716543" cy="276999"/>
          </a:xfrm>
          <a:prstGeom prst="rect">
            <a:avLst/>
          </a:prstGeom>
          <a:noFill/>
        </p:spPr>
        <p:txBody>
          <a:bodyPr wrap="none" lIns="0" tIns="0" rIns="0" bIns="0">
            <a:spAutoFit/>
          </a:bodyPr>
          <a:lstStyle/>
          <a:p>
            <a:pPr algn="l"/>
            <a:r>
              <a:rPr sz="1800" b="1">
                <a:solidFill>
                  <a:srgbClr val="000000"/>
                </a:solidFill>
              </a:rPr>
              <a:t>70 / 66</a:t>
            </a:r>
          </a:p>
        </p:txBody>
      </p:sp>
      <p:sp>
        <p:nvSpPr>
          <p:cNvPr id="46" name="TextBox 45"/>
          <p:cNvSpPr txBox="1"/>
          <p:nvPr/>
        </p:nvSpPr>
        <p:spPr>
          <a:xfrm>
            <a:off x="6108191" y="2352692"/>
            <a:ext cx="899285" cy="110800"/>
          </a:xfrm>
          <a:prstGeom prst="rect">
            <a:avLst/>
          </a:prstGeom>
          <a:noFill/>
        </p:spPr>
        <p:txBody>
          <a:bodyPr wrap="none" lIns="0" tIns="0" rIns="0" bIns="0">
            <a:spAutoFit/>
          </a:bodyPr>
          <a:lstStyle/>
          <a:p>
            <a:pPr algn="l"/>
            <a:r>
              <a:rPr lang="en-US" sz="720" b="1">
                <a:solidFill>
                  <a:srgbClr val="788082"/>
                </a:solidFill>
              </a:rPr>
              <a:t>R</a:t>
            </a:r>
            <a:r>
              <a:rPr sz="720" b="1">
                <a:solidFill>
                  <a:srgbClr val="788082"/>
                </a:solidFill>
              </a:rPr>
              <a:t>egistrations / TEAMS</a:t>
            </a:r>
          </a:p>
        </p:txBody>
      </p:sp>
      <p:sp>
        <p:nvSpPr>
          <p:cNvPr id="47" name="Rounded Rectangle 27"/>
          <p:cNvSpPr/>
          <p:nvPr/>
        </p:nvSpPr>
        <p:spPr>
          <a:xfrm>
            <a:off x="7818119" y="1639460"/>
            <a:ext cx="1719072" cy="896112"/>
          </a:xfrm>
          <a:prstGeom prst="roundRect">
            <a:avLst/>
          </a:prstGeom>
          <a:solidFill>
            <a:srgbClr val="FFFFFF"/>
          </a:solidFill>
          <a:ln w="8890">
            <a:solidFill>
              <a:srgbClr val="D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49" name="Rectangle 48"/>
          <p:cNvSpPr/>
          <p:nvPr/>
        </p:nvSpPr>
        <p:spPr>
          <a:xfrm>
            <a:off x="7818119" y="1639460"/>
            <a:ext cx="64008" cy="896112"/>
          </a:xfrm>
          <a:prstGeom prst="rect">
            <a:avLst/>
          </a:prstGeom>
          <a:solidFill>
            <a:srgbClr val="A00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50" name="TextBox 49"/>
          <p:cNvSpPr txBox="1"/>
          <p:nvPr/>
        </p:nvSpPr>
        <p:spPr>
          <a:xfrm>
            <a:off x="7982711" y="1758332"/>
            <a:ext cx="1030731" cy="130805"/>
          </a:xfrm>
          <a:prstGeom prst="rect">
            <a:avLst/>
          </a:prstGeom>
          <a:noFill/>
        </p:spPr>
        <p:txBody>
          <a:bodyPr wrap="none" lIns="0" tIns="0" rIns="0" bIns="0">
            <a:spAutoFit/>
          </a:bodyPr>
          <a:lstStyle/>
          <a:p>
            <a:pPr algn="l"/>
            <a:r>
              <a:rPr sz="850" b="1">
                <a:solidFill>
                  <a:srgbClr val="2A3237"/>
                </a:solidFill>
              </a:rPr>
              <a:t>Top registration reach</a:t>
            </a:r>
          </a:p>
        </p:txBody>
      </p:sp>
      <p:sp>
        <p:nvSpPr>
          <p:cNvPr id="51" name="kpi:community_top_registration_entity"/>
          <p:cNvSpPr txBox="1"/>
          <p:nvPr/>
        </p:nvSpPr>
        <p:spPr>
          <a:xfrm>
            <a:off x="7982711" y="2023507"/>
            <a:ext cx="1176604" cy="276999"/>
          </a:xfrm>
          <a:prstGeom prst="rect">
            <a:avLst/>
          </a:prstGeom>
          <a:noFill/>
        </p:spPr>
        <p:txBody>
          <a:bodyPr wrap="none" lIns="0" tIns="0" rIns="0" bIns="0">
            <a:spAutoFit/>
          </a:bodyPr>
          <a:lstStyle/>
          <a:p>
            <a:pPr algn="l"/>
            <a:r>
              <a:rPr lang="en-US" sz="1800" b="1">
                <a:solidFill>
                  <a:srgbClr val="000000"/>
                </a:solidFill>
              </a:rPr>
              <a:t>Contoso Holding</a:t>
            </a:r>
            <a:endParaRPr sz="1800" b="1">
              <a:solidFill>
                <a:srgbClr val="000000"/>
              </a:solidFill>
            </a:endParaRPr>
          </a:p>
        </p:txBody>
      </p:sp>
      <p:sp>
        <p:nvSpPr>
          <p:cNvPr id="52" name="kpi:community_top_registration_entity_rate"/>
          <p:cNvSpPr txBox="1"/>
          <p:nvPr/>
        </p:nvSpPr>
        <p:spPr>
          <a:xfrm>
            <a:off x="7982711" y="2352692"/>
            <a:ext cx="860813" cy="110800"/>
          </a:xfrm>
          <a:prstGeom prst="rect">
            <a:avLst/>
          </a:prstGeom>
          <a:noFill/>
        </p:spPr>
        <p:txBody>
          <a:bodyPr wrap="none" lIns="0" tIns="0" rIns="0" bIns="0">
            <a:spAutoFit/>
          </a:bodyPr>
          <a:lstStyle/>
          <a:p>
            <a:pPr algn="l"/>
            <a:r>
              <a:rPr lang="en-US" sz="720" b="1">
                <a:solidFill>
                  <a:srgbClr val="788082"/>
                </a:solidFill>
              </a:rPr>
              <a:t>33.78</a:t>
            </a:r>
            <a:r>
              <a:rPr sz="720" b="1">
                <a:solidFill>
                  <a:srgbClr val="788082"/>
                </a:solidFill>
              </a:rPr>
              <a:t>% of country HC</a:t>
            </a:r>
          </a:p>
        </p:txBody>
      </p:sp>
      <p:sp>
        <p:nvSpPr>
          <p:cNvPr id="53" name="Rounded Rectangle 32"/>
          <p:cNvSpPr/>
          <p:nvPr/>
        </p:nvSpPr>
        <p:spPr>
          <a:xfrm>
            <a:off x="9692640" y="1639460"/>
            <a:ext cx="1719072" cy="896112"/>
          </a:xfrm>
          <a:prstGeom prst="roundRect">
            <a:avLst/>
          </a:prstGeom>
          <a:solidFill>
            <a:srgbClr val="FFFFFF"/>
          </a:solidFill>
          <a:ln w="8890">
            <a:solidFill>
              <a:srgbClr val="D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54" name="TextBox 53"/>
          <p:cNvSpPr txBox="1"/>
          <p:nvPr/>
        </p:nvSpPr>
        <p:spPr>
          <a:xfrm>
            <a:off x="9857232" y="1758332"/>
            <a:ext cx="846386" cy="130805"/>
          </a:xfrm>
          <a:prstGeom prst="rect">
            <a:avLst/>
          </a:prstGeom>
          <a:noFill/>
        </p:spPr>
        <p:txBody>
          <a:bodyPr wrap="none" lIns="0" tIns="0" rIns="0" bIns="0">
            <a:spAutoFit/>
          </a:bodyPr>
          <a:lstStyle/>
          <a:p>
            <a:pPr algn="l"/>
            <a:r>
              <a:rPr sz="850" b="1">
                <a:solidFill>
                  <a:srgbClr val="2A3237"/>
                </a:solidFill>
              </a:rPr>
              <a:t>Top TEAMS reach</a:t>
            </a:r>
          </a:p>
        </p:txBody>
      </p:sp>
      <p:sp>
        <p:nvSpPr>
          <p:cNvPr id="55" name="kpi:community_top_teams_entity"/>
          <p:cNvSpPr txBox="1"/>
          <p:nvPr/>
        </p:nvSpPr>
        <p:spPr>
          <a:xfrm>
            <a:off x="9857232" y="2023507"/>
            <a:ext cx="1176604" cy="276999"/>
          </a:xfrm>
          <a:prstGeom prst="rect">
            <a:avLst/>
          </a:prstGeom>
          <a:noFill/>
        </p:spPr>
        <p:txBody>
          <a:bodyPr wrap="none" lIns="0" tIns="0" rIns="0" bIns="0">
            <a:spAutoFit/>
          </a:bodyPr>
          <a:lstStyle/>
          <a:p>
            <a:pPr algn="l"/>
            <a:r>
              <a:rPr lang="en-US" sz="1800" b="1">
                <a:solidFill>
                  <a:srgbClr val="000000"/>
                </a:solidFill>
              </a:rPr>
              <a:t>Contoso Holding</a:t>
            </a:r>
            <a:endParaRPr sz="1800" b="1">
              <a:solidFill>
                <a:srgbClr val="000000"/>
              </a:solidFill>
            </a:endParaRPr>
          </a:p>
        </p:txBody>
      </p:sp>
      <p:sp>
        <p:nvSpPr>
          <p:cNvPr id="56" name="kpi:community_top_teams_entity_rate"/>
          <p:cNvSpPr txBox="1"/>
          <p:nvPr/>
        </p:nvSpPr>
        <p:spPr>
          <a:xfrm>
            <a:off x="9857232" y="2352692"/>
            <a:ext cx="811119" cy="110800"/>
          </a:xfrm>
          <a:prstGeom prst="rect">
            <a:avLst/>
          </a:prstGeom>
          <a:noFill/>
        </p:spPr>
        <p:txBody>
          <a:bodyPr wrap="none" lIns="0" tIns="0" rIns="0" bIns="0">
            <a:spAutoFit/>
          </a:bodyPr>
          <a:lstStyle/>
          <a:p>
            <a:pPr algn="l"/>
            <a:r>
              <a:rPr lang="en-US" sz="720" b="1">
                <a:solidFill>
                  <a:srgbClr val="788082"/>
                </a:solidFill>
              </a:rPr>
              <a:t>79.5</a:t>
            </a:r>
            <a:r>
              <a:rPr sz="720" b="1">
                <a:solidFill>
                  <a:srgbClr val="788082"/>
                </a:solidFill>
              </a:rPr>
              <a:t>% of country HC</a:t>
            </a:r>
          </a:p>
        </p:txBody>
      </p:sp>
      <p:pic>
        <p:nvPicPr>
          <p:cNvPr id="60" name="chart:community_registrations_reach_company"/>
          <p:cNvPicPr>
            <a:picLocks noChangeAspect="1"/>
          </p:cNvPicPr>
          <p:nvPr/>
        </p:nvPicPr>
        <p:blipFill>
          <a:blip r:embed="rId2"/>
          <a:stretch>
            <a:fillRect/>
          </a:stretch>
        </p:blipFill>
        <p:spPr>
          <a:xfrm>
            <a:off x="1257978" y="2960641"/>
            <a:ext cx="3535002" cy="2390475"/>
          </a:xfrm>
          <a:prstGeom prst="rect">
            <a:avLst/>
          </a:prstGeom>
        </p:spPr>
      </p:pic>
      <p:sp>
        <p:nvSpPr>
          <p:cNvPr id="62" name="Rectangle 61"/>
          <p:cNvSpPr/>
          <p:nvPr/>
        </p:nvSpPr>
        <p:spPr>
          <a:xfrm>
            <a:off x="4079494" y="1652665"/>
            <a:ext cx="64008" cy="896112"/>
          </a:xfrm>
          <a:prstGeom prst="rect">
            <a:avLst/>
          </a:prstGeom>
          <a:solidFill>
            <a:srgbClr val="A00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63" name="Rectangle 62"/>
          <p:cNvSpPr/>
          <p:nvPr/>
        </p:nvSpPr>
        <p:spPr>
          <a:xfrm>
            <a:off x="9692640" y="1643856"/>
            <a:ext cx="64008" cy="89611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pic>
        <p:nvPicPr>
          <p:cNvPr id="65" name="chart:community_teams_reach_company"/>
          <p:cNvPicPr>
            <a:picLocks noChangeAspect="1"/>
          </p:cNvPicPr>
          <p:nvPr/>
        </p:nvPicPr>
        <p:blipFill>
          <a:blip r:embed="rId3"/>
          <a:stretch>
            <a:fillRect/>
          </a:stretch>
        </p:blipFill>
        <p:spPr>
          <a:xfrm>
            <a:off x="6686291" y="2972285"/>
            <a:ext cx="3468497" cy="2315320"/>
          </a:xfrm>
          <a:prstGeom prst="rect">
            <a:avLst/>
          </a:prstGeom>
        </p:spPr>
      </p:pic>
      <p:sp>
        <p:nvSpPr>
          <p:cNvPr id="66"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61" name="Rounded Rectangle 17"/>
          <p:cNvSpPr/>
          <p:nvPr/>
        </p:nvSpPr>
        <p:spPr>
          <a:xfrm>
            <a:off x="5926830" y="1624322"/>
            <a:ext cx="1719072" cy="896112"/>
          </a:xfrm>
          <a:prstGeom prst="roundRect">
            <a:avLst/>
          </a:prstGeom>
          <a:solidFill>
            <a:srgbClr val="FFFFFF"/>
          </a:solidFill>
          <a:ln w="8890">
            <a:solidFill>
              <a:srgbClr val="D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4" name="Titel 3"/>
          <p:cNvSpPr>
            <a:spLocks noGrp="1"/>
          </p:cNvSpPr>
          <p:nvPr/>
        </p:nvSpPr>
        <p:spPr>
          <a:xfrm>
            <a:off x="839788" y="654939"/>
            <a:ext cx="10514012" cy="941796"/>
          </a:xfrm>
          <a:prstGeom prst="rect">
            <a:avLst/>
          </a:prstGeom>
        </p:spPr>
        <p:txBody>
          <a:bodyPr/>
          <a:lstStyle/>
          <a:p>
            <a:r>
              <a:rPr lang="de-AT" sz="3600">
                <a:solidFill>
                  <a:srgbClr val="788082"/>
                </a:solidFill>
              </a:rPr>
              <a:t>Data &amp; AI Community </a:t>
            </a:r>
            <a:r>
              <a:rPr lang="de-AT" sz="3600" err="1">
                <a:solidFill>
                  <a:srgbClr val="788082"/>
                </a:solidFill>
              </a:rPr>
              <a:t>Overview</a:t>
            </a:r>
            <a:r>
              <a:rPr lang="de-AT" sz="3600">
                <a:solidFill>
                  <a:srgbClr val="788082"/>
                </a:solidFill>
              </a:rPr>
              <a:t> - Country</a:t>
            </a:r>
            <a:br>
              <a:rPr lang="de-AT" sz="3600">
                <a:solidFill>
                  <a:srgbClr val="788082"/>
                </a:solidFill>
              </a:rPr>
            </a:br>
            <a:endParaRPr lang="en-US" sz="3600" noProof="0">
              <a:solidFill>
                <a:srgbClr val="A6ADAF"/>
              </a:solidFill>
            </a:endParaRPr>
          </a:p>
        </p:txBody>
      </p:sp>
      <p:sp>
        <p:nvSpPr>
          <p:cNvPr id="6" name="Fußzeilenplatzhalter 5"/>
          <p:cNvSpPr>
            <a:spLocks noGrp="1"/>
          </p:cNvSpPr>
          <p:nvPr/>
        </p:nvSpPr>
        <p:spPr>
          <a:xfrm>
            <a:off x="1466850" y="6587737"/>
            <a:ext cx="6953250" cy="18466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aa1b2"/>
                </a:solidFill>
                <a:effectLst/>
                <a:uLnTx/>
                <a:uFillTx/>
                <a:latin typeface="Roboto Light"/>
                <a:ea typeface="+mn-ea"/>
                <a:cs typeface="+mn-cs"/>
              </a:rPr>
              <a:t>Data &amp; AI @ Contoso</a:t>
            </a:r>
          </a:p>
        </p:txBody>
      </p:sp>
      <p:sp>
        <p:nvSpPr>
          <p:cNvPr id="7" name="Foliennummernplatzhalter 6"/>
          <p:cNvSpPr>
            <a:spLocks noGrp="1"/>
          </p:cNvSpPr>
          <p:nvPr/>
        </p:nvSpPr>
        <p:spPr>
          <a:xfrm>
            <a:off x="839788" y="6587737"/>
            <a:ext cx="347662" cy="18466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4E38502-06D2-4E51-82FE-464E052045F9}" type="slidenum">
              <a:rPr kumimoji="0" lang="en-US" sz="1200" b="0" i="0" u="none" strike="noStrike" kern="1200" cap="none" spc="0" normalizeH="0" baseline="0" noProof="0" smtClean="0">
                <a:ln>
                  <a:noFill/>
                </a:ln>
                <a:solidFill>
                  <a:srgbClr val="E8ECF4"/>
                </a:solidFill>
                <a:effectLst/>
                <a:uLnTx/>
                <a:uFillTx/>
                <a:latin typeface="Roboto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srgbClr val="E8ECF4"/>
              </a:solidFill>
              <a:effectLst/>
              <a:uLnTx/>
              <a:uFillTx/>
              <a:latin typeface="Roboto Light"/>
              <a:ea typeface="+mn-ea"/>
              <a:cs typeface="+mn-cs"/>
            </a:endParaRPr>
          </a:p>
        </p:txBody>
      </p:sp>
      <p:sp>
        <p:nvSpPr>
          <p:cNvPr id="5" name="Textplatzhalter 4"/>
          <p:cNvSpPr>
            <a:spLocks noGrp="1"/>
          </p:cNvSpPr>
          <p:nvPr/>
        </p:nvSpPr>
        <p:spPr>
          <a:xfrm>
            <a:off x="839788" y="6138665"/>
            <a:ext cx="10514012" cy="263149"/>
          </a:xfrm>
          <a:prstGeom prst="rect">
            <a:avLst/>
          </a:prstGeom>
        </p:spPr>
        <p:txBody>
          <a:bodyPr/>
          <a:lstStyle/>
          <a:p>
            <a:endParaRPr lang="en-US" noProof="0"/>
          </a:p>
        </p:txBody>
      </p:sp>
      <p:sp>
        <p:nvSpPr>
          <p:cNvPr id="23" name="Shape 19"/>
          <p:cNvSpPr/>
          <p:nvPr/>
        </p:nvSpPr>
        <p:spPr>
          <a:xfrm>
            <a:off x="887740" y="2610074"/>
            <a:ext cx="4864386" cy="2801042"/>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24" name="Text 20"/>
          <p:cNvSpPr/>
          <p:nvPr/>
        </p:nvSpPr>
        <p:spPr>
          <a:xfrm>
            <a:off x="1443228" y="3184381"/>
            <a:ext cx="5065776" cy="201168"/>
          </a:xfrm>
          <a:prstGeom prst="rect">
            <a:avLst/>
          </a:prstGeom>
          <a:noFill/>
          <a:ln/>
        </p:spPr>
        <p:txBody>
          <a:bodyPr wrap="square" lIns="0" tIns="0" rIns="0" bIns="0" rtlCol="0" anchor="ctr"/>
          <a:lstStyle/>
          <a:p>
            <a:pPr marL="0" indent="0">
              <a:buNone/>
            </a:pPr>
            <a:endParaRPr lang="en-US" sz="1200"/>
          </a:p>
        </p:txBody>
      </p:sp>
      <p:sp>
        <p:nvSpPr>
          <p:cNvPr id="33" name="Shape 21"/>
          <p:cNvSpPr/>
          <p:nvPr/>
        </p:nvSpPr>
        <p:spPr>
          <a:xfrm>
            <a:off x="5926830" y="2608224"/>
            <a:ext cx="4825542" cy="2797508"/>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34" name="Text 22"/>
          <p:cNvSpPr/>
          <p:nvPr/>
        </p:nvSpPr>
        <p:spPr>
          <a:xfrm>
            <a:off x="6286118" y="2753381"/>
            <a:ext cx="5065776" cy="201168"/>
          </a:xfrm>
          <a:prstGeom prst="rect">
            <a:avLst/>
          </a:prstGeom>
          <a:noFill/>
          <a:ln/>
        </p:spPr>
        <p:txBody>
          <a:bodyPr wrap="square" lIns="0" tIns="0" rIns="0" bIns="0" rtlCol="0" anchor="ctr"/>
          <a:lstStyle/>
          <a:p>
            <a:r>
              <a:rPr lang="de-AT" sz="1200" b="1"/>
              <a:t> Top TEAMS Members </a:t>
            </a:r>
            <a:r>
              <a:rPr lang="de-AT" sz="1200" b="1" err="1"/>
              <a:t>Reach</a:t>
            </a:r>
            <a:r>
              <a:rPr lang="de-AT" sz="1200" b="1"/>
              <a:t> % </a:t>
            </a:r>
            <a:r>
              <a:rPr lang="de-AT" sz="1200" b="1" err="1"/>
              <a:t>by</a:t>
            </a:r>
            <a:r>
              <a:rPr lang="de-AT" sz="1200" b="1"/>
              <a:t> Country</a:t>
            </a:r>
            <a:endParaRPr lang="en-US" sz="1200" b="1"/>
          </a:p>
        </p:txBody>
      </p:sp>
      <p:sp>
        <p:nvSpPr>
          <p:cNvPr id="40" name="kpi:community_country_reach_remark"/>
          <p:cNvSpPr/>
          <p:nvPr/>
        </p:nvSpPr>
        <p:spPr>
          <a:xfrm>
            <a:off x="1094113" y="5736252"/>
            <a:ext cx="9907761" cy="121931"/>
          </a:xfrm>
          <a:prstGeom prst="rect">
            <a:avLst/>
          </a:prstGeom>
          <a:noFill/>
          <a:ln/>
        </p:spPr>
        <p:txBody>
          <a:bodyPr wrap="square" lIns="0" tIns="0" rIns="0" bIns="0" rtlCol="0" anchor="ctr">
            <a:noAutofit/>
          </a:bodyPr>
          <a:lstStyle/>
          <a:p>
            <a:pPr marL="0" indent="0">
              <a:buNone/>
            </a:pPr>
            <a:endParaRPr lang="en-US" sz="1000"/>
          </a:p>
        </p:txBody>
      </p:sp>
      <p:sp>
        <p:nvSpPr>
          <p:cNvPr id="37" name="Text 20"/>
          <p:cNvSpPr/>
          <p:nvPr/>
        </p:nvSpPr>
        <p:spPr>
          <a:xfrm>
            <a:off x="1093315" y="2750570"/>
            <a:ext cx="5065776" cy="201168"/>
          </a:xfrm>
          <a:prstGeom prst="rect">
            <a:avLst/>
          </a:prstGeom>
          <a:noFill/>
          <a:ln/>
        </p:spPr>
        <p:txBody>
          <a:bodyPr wrap="square" lIns="0" tIns="0" rIns="0" bIns="0" rtlCol="0" anchor="ctr"/>
          <a:lstStyle/>
          <a:p>
            <a:pPr marL="0" indent="0">
              <a:buNone/>
            </a:pPr>
            <a:r>
              <a:rPr lang="en-US" sz="1200" b="1"/>
              <a:t>Top Registrations Reach % by Country</a:t>
            </a:r>
          </a:p>
        </p:txBody>
      </p:sp>
      <p:sp>
        <p:nvSpPr>
          <p:cNvPr id="41" name="Shape 23"/>
          <p:cNvSpPr/>
          <p:nvPr/>
        </p:nvSpPr>
        <p:spPr>
          <a:xfrm>
            <a:off x="835774" y="5732395"/>
            <a:ext cx="8229484" cy="378779"/>
          </a:xfrm>
          <a:prstGeom prst="roundRect">
            <a:avLst>
              <a:gd name="adj" fmla="val 25862"/>
            </a:avLst>
          </a:prstGeom>
          <a:solidFill>
            <a:srgbClr val="FFFFFF"/>
          </a:solidFill>
          <a:ln w="10160">
            <a:solidFill>
              <a:srgbClr val="DDE4E6"/>
            </a:solidFill>
            <a:prstDash val="solid"/>
          </a:ln>
        </p:spPr>
        <p:txBody>
          <a:bodyPr/>
          <a:lstStyle/>
          <a:p>
            <a:endParaRPr lang="de-AT"/>
          </a:p>
        </p:txBody>
      </p:sp>
      <p:sp>
        <p:nvSpPr>
          <p:cNvPr id="42" name="Shape 24"/>
          <p:cNvSpPr/>
          <p:nvPr/>
        </p:nvSpPr>
        <p:spPr>
          <a:xfrm>
            <a:off x="835774" y="5741986"/>
            <a:ext cx="94824" cy="376425"/>
          </a:xfrm>
          <a:prstGeom prst="rect">
            <a:avLst/>
          </a:prstGeom>
          <a:solidFill>
            <a:srgbClr val="E4002B"/>
          </a:solidFill>
          <a:ln w="12700">
            <a:solidFill>
              <a:srgbClr val="E4002B"/>
            </a:solidFill>
            <a:prstDash val="solid"/>
          </a:ln>
        </p:spPr>
        <p:txBody>
          <a:bodyPr/>
          <a:lstStyle/>
          <a:p>
            <a:endParaRPr lang="de-AT"/>
          </a:p>
        </p:txBody>
      </p:sp>
      <p:sp>
        <p:nvSpPr>
          <p:cNvPr id="48" name="Text 25"/>
          <p:cNvSpPr/>
          <p:nvPr/>
        </p:nvSpPr>
        <p:spPr>
          <a:xfrm>
            <a:off x="1012674" y="5626357"/>
            <a:ext cx="8059863" cy="775103"/>
          </a:xfrm>
          <a:prstGeom prst="rect">
            <a:avLst/>
          </a:prstGeom>
          <a:noFill/>
          <a:ln/>
        </p:spPr>
        <p:txBody>
          <a:bodyPr wrap="square" lIns="0" tIns="0" rIns="0" bIns="0" rtlCol="0" anchor="ctr">
            <a:noAutofit/>
          </a:bodyPr>
          <a:lstStyle/>
          <a:p>
            <a:r>
              <a:rPr lang="en-US" sz="1000">
                <a:solidFill>
                  <a:srgbClr val="2A3237"/>
                </a:solidFill>
              </a:rPr>
              <a:t>Registrations show how many people registered for the Data &amp; AI Community. TEAMS members show the current member listing. The numbers can differ if people leave, duplicates are cleaned, or registrations are not active members.</a:t>
            </a:r>
          </a:p>
          <a:p>
            <a:endParaRPr lang="en-US" sz="1050">
              <a:ea typeface="Roboto Light"/>
              <a:cs typeface="Roboto Light"/>
            </a:endParaRPr>
          </a:p>
        </p:txBody>
      </p:sp>
      <p:sp>
        <p:nvSpPr>
          <p:cNvPr id="2" name="Rounded Rectangle 7"/>
          <p:cNvSpPr/>
          <p:nvPr/>
        </p:nvSpPr>
        <p:spPr>
          <a:xfrm>
            <a:off x="320040" y="1639460"/>
            <a:ext cx="1719072" cy="896112"/>
          </a:xfrm>
          <a:prstGeom prst="roundRect">
            <a:avLst/>
          </a:prstGeom>
          <a:solidFill>
            <a:srgbClr val="FFFFFF"/>
          </a:solidFill>
          <a:ln w="8890">
            <a:solidFill>
              <a:srgbClr val="D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0" name="Rectangle 19"/>
          <p:cNvSpPr/>
          <p:nvPr/>
        </p:nvSpPr>
        <p:spPr>
          <a:xfrm>
            <a:off x="320040" y="1639460"/>
            <a:ext cx="64008" cy="896112"/>
          </a:xfrm>
          <a:prstGeom prst="rect">
            <a:avLst/>
          </a:prstGeom>
          <a:solidFill>
            <a:srgbClr val="A00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1" name="TextBox 20"/>
          <p:cNvSpPr txBox="1"/>
          <p:nvPr/>
        </p:nvSpPr>
        <p:spPr>
          <a:xfrm>
            <a:off x="484631" y="1758332"/>
            <a:ext cx="852798" cy="130805"/>
          </a:xfrm>
          <a:prstGeom prst="rect">
            <a:avLst/>
          </a:prstGeom>
          <a:noFill/>
        </p:spPr>
        <p:txBody>
          <a:bodyPr wrap="none" lIns="0" tIns="0" rIns="0" bIns="0">
            <a:spAutoFit/>
          </a:bodyPr>
          <a:lstStyle/>
          <a:p>
            <a:pPr algn="l"/>
            <a:r>
              <a:rPr sz="850" b="1">
                <a:solidFill>
                  <a:srgbClr val="2A3237"/>
                </a:solidFill>
              </a:rPr>
              <a:t>Total registrations</a:t>
            </a:r>
          </a:p>
        </p:txBody>
      </p:sp>
      <p:sp>
        <p:nvSpPr>
          <p:cNvPr id="22" name="kpi:community_total_registrations"/>
          <p:cNvSpPr txBox="1"/>
          <p:nvPr/>
        </p:nvSpPr>
        <p:spPr>
          <a:xfrm>
            <a:off x="484631" y="2023507"/>
            <a:ext cx="384721" cy="276999"/>
          </a:xfrm>
          <a:prstGeom prst="rect">
            <a:avLst/>
          </a:prstGeom>
          <a:noFill/>
        </p:spPr>
        <p:txBody>
          <a:bodyPr wrap="none" lIns="0" tIns="0" rIns="0" bIns="0">
            <a:spAutoFit/>
          </a:bodyPr>
          <a:lstStyle/>
          <a:p>
            <a:pPr algn="l"/>
            <a:r>
              <a:rPr sz="1800" b="1">
                <a:solidFill>
                  <a:srgbClr val="000000"/>
                </a:solidFill>
              </a:rPr>
              <a:t>590</a:t>
            </a:r>
          </a:p>
        </p:txBody>
      </p:sp>
      <p:sp>
        <p:nvSpPr>
          <p:cNvPr id="25" name="TextBox 24"/>
          <p:cNvSpPr txBox="1"/>
          <p:nvPr/>
        </p:nvSpPr>
        <p:spPr>
          <a:xfrm>
            <a:off x="484631" y="2352692"/>
            <a:ext cx="618759" cy="110800"/>
          </a:xfrm>
          <a:prstGeom prst="rect">
            <a:avLst/>
          </a:prstGeom>
          <a:noFill/>
        </p:spPr>
        <p:txBody>
          <a:bodyPr wrap="none" lIns="0" tIns="0" rIns="0" bIns="0">
            <a:spAutoFit/>
          </a:bodyPr>
          <a:lstStyle/>
          <a:p>
            <a:pPr algn="l"/>
            <a:r>
              <a:rPr lang="en-US" sz="720" b="1">
                <a:solidFill>
                  <a:srgbClr val="788082"/>
                </a:solidFill>
              </a:rPr>
              <a:t>R</a:t>
            </a:r>
            <a:r>
              <a:rPr sz="720" b="1">
                <a:solidFill>
                  <a:srgbClr val="788082"/>
                </a:solidFill>
              </a:rPr>
              <a:t>egistration list</a:t>
            </a:r>
          </a:p>
        </p:txBody>
      </p:sp>
      <p:sp>
        <p:nvSpPr>
          <p:cNvPr id="27" name="Rounded Rectangle 12"/>
          <p:cNvSpPr/>
          <p:nvPr/>
        </p:nvSpPr>
        <p:spPr>
          <a:xfrm>
            <a:off x="2194560" y="1639460"/>
            <a:ext cx="1719072" cy="896112"/>
          </a:xfrm>
          <a:prstGeom prst="roundRect">
            <a:avLst/>
          </a:prstGeom>
          <a:solidFill>
            <a:srgbClr val="FFFFFF"/>
          </a:solidFill>
          <a:ln w="8890">
            <a:solidFill>
              <a:srgbClr val="D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8" name="Rectangle 27"/>
          <p:cNvSpPr/>
          <p:nvPr/>
        </p:nvSpPr>
        <p:spPr>
          <a:xfrm>
            <a:off x="2194560" y="1639460"/>
            <a:ext cx="64008" cy="89611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9" name="TextBox 28"/>
          <p:cNvSpPr txBox="1"/>
          <p:nvPr/>
        </p:nvSpPr>
        <p:spPr>
          <a:xfrm>
            <a:off x="2359152" y="1758332"/>
            <a:ext cx="823944" cy="130805"/>
          </a:xfrm>
          <a:prstGeom prst="rect">
            <a:avLst/>
          </a:prstGeom>
          <a:noFill/>
        </p:spPr>
        <p:txBody>
          <a:bodyPr wrap="none" lIns="0" tIns="0" rIns="0" bIns="0">
            <a:spAutoFit/>
          </a:bodyPr>
          <a:lstStyle/>
          <a:p>
            <a:pPr algn="l"/>
            <a:r>
              <a:rPr sz="850" b="1">
                <a:solidFill>
                  <a:srgbClr val="2A3237"/>
                </a:solidFill>
              </a:rPr>
              <a:t>TEAMS members</a:t>
            </a:r>
          </a:p>
        </p:txBody>
      </p:sp>
      <p:sp>
        <p:nvSpPr>
          <p:cNvPr id="30" name="kpi:community_teams_members"/>
          <p:cNvSpPr txBox="1"/>
          <p:nvPr/>
        </p:nvSpPr>
        <p:spPr>
          <a:xfrm>
            <a:off x="2359152" y="2023507"/>
            <a:ext cx="384721" cy="276999"/>
          </a:xfrm>
          <a:prstGeom prst="rect">
            <a:avLst/>
          </a:prstGeom>
          <a:noFill/>
        </p:spPr>
        <p:txBody>
          <a:bodyPr wrap="none" lIns="0" tIns="0" rIns="0" bIns="0">
            <a:spAutoFit/>
          </a:bodyPr>
          <a:lstStyle/>
          <a:p>
            <a:pPr algn="l"/>
            <a:r>
              <a:rPr sz="1800" b="1">
                <a:solidFill>
                  <a:srgbClr val="000000"/>
                </a:solidFill>
              </a:rPr>
              <a:t>993</a:t>
            </a:r>
          </a:p>
        </p:txBody>
      </p:sp>
      <p:sp>
        <p:nvSpPr>
          <p:cNvPr id="31" name="TextBox 30"/>
          <p:cNvSpPr txBox="1"/>
          <p:nvPr/>
        </p:nvSpPr>
        <p:spPr>
          <a:xfrm>
            <a:off x="2359152" y="2352692"/>
            <a:ext cx="852798" cy="110800"/>
          </a:xfrm>
          <a:prstGeom prst="rect">
            <a:avLst/>
          </a:prstGeom>
          <a:noFill/>
        </p:spPr>
        <p:txBody>
          <a:bodyPr wrap="none" lIns="0" tIns="0" rIns="0" bIns="0">
            <a:spAutoFit/>
          </a:bodyPr>
          <a:lstStyle/>
          <a:p>
            <a:pPr algn="l"/>
            <a:r>
              <a:rPr lang="en-US" sz="720" b="1">
                <a:solidFill>
                  <a:srgbClr val="788082"/>
                </a:solidFill>
              </a:rPr>
              <a:t>C</a:t>
            </a:r>
            <a:r>
              <a:rPr sz="720" b="1">
                <a:solidFill>
                  <a:srgbClr val="788082"/>
                </a:solidFill>
              </a:rPr>
              <a:t>urrent Teams listing</a:t>
            </a:r>
          </a:p>
        </p:txBody>
      </p:sp>
      <p:sp>
        <p:nvSpPr>
          <p:cNvPr id="32" name="Rounded Rectangle 17"/>
          <p:cNvSpPr/>
          <p:nvPr/>
        </p:nvSpPr>
        <p:spPr>
          <a:xfrm>
            <a:off x="4069080" y="1639460"/>
            <a:ext cx="1719072" cy="896112"/>
          </a:xfrm>
          <a:prstGeom prst="roundRect">
            <a:avLst/>
          </a:prstGeom>
          <a:solidFill>
            <a:srgbClr val="FFFFFF"/>
          </a:solidFill>
          <a:ln w="8890">
            <a:solidFill>
              <a:srgbClr val="D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6" name="TextBox 35"/>
          <p:cNvSpPr txBox="1"/>
          <p:nvPr/>
        </p:nvSpPr>
        <p:spPr>
          <a:xfrm>
            <a:off x="4233672" y="1758332"/>
            <a:ext cx="450444" cy="130805"/>
          </a:xfrm>
          <a:prstGeom prst="rect">
            <a:avLst/>
          </a:prstGeom>
          <a:noFill/>
        </p:spPr>
        <p:txBody>
          <a:bodyPr wrap="none" lIns="0" tIns="0" rIns="0" bIns="0">
            <a:spAutoFit/>
          </a:bodyPr>
          <a:lstStyle/>
          <a:p>
            <a:pPr algn="l"/>
            <a:r>
              <a:rPr sz="850" b="1">
                <a:solidFill>
                  <a:srgbClr val="2A3237"/>
                </a:solidFill>
              </a:rPr>
              <a:t>Countries</a:t>
            </a:r>
          </a:p>
        </p:txBody>
      </p:sp>
      <p:sp>
        <p:nvSpPr>
          <p:cNvPr id="38" name="kpi:community_countries_reg_teams"/>
          <p:cNvSpPr txBox="1"/>
          <p:nvPr/>
        </p:nvSpPr>
        <p:spPr>
          <a:xfrm>
            <a:off x="4233672" y="2023507"/>
            <a:ext cx="716543" cy="276999"/>
          </a:xfrm>
          <a:prstGeom prst="rect">
            <a:avLst/>
          </a:prstGeom>
          <a:noFill/>
        </p:spPr>
        <p:txBody>
          <a:bodyPr wrap="none" lIns="0" tIns="0" rIns="0" bIns="0">
            <a:spAutoFit/>
          </a:bodyPr>
          <a:lstStyle/>
          <a:p>
            <a:pPr algn="l"/>
            <a:r>
              <a:rPr sz="1800" b="1">
                <a:solidFill>
                  <a:srgbClr val="000000"/>
                </a:solidFill>
              </a:rPr>
              <a:t>13 / 30</a:t>
            </a:r>
          </a:p>
        </p:txBody>
      </p:sp>
      <p:sp>
        <p:nvSpPr>
          <p:cNvPr id="39" name="TextBox 38"/>
          <p:cNvSpPr txBox="1"/>
          <p:nvPr/>
        </p:nvSpPr>
        <p:spPr>
          <a:xfrm>
            <a:off x="4233672" y="2352692"/>
            <a:ext cx="899285" cy="110800"/>
          </a:xfrm>
          <a:prstGeom prst="rect">
            <a:avLst/>
          </a:prstGeom>
          <a:noFill/>
        </p:spPr>
        <p:txBody>
          <a:bodyPr wrap="none" lIns="0" tIns="0" rIns="0" bIns="0">
            <a:spAutoFit/>
          </a:bodyPr>
          <a:lstStyle/>
          <a:p>
            <a:pPr algn="l"/>
            <a:r>
              <a:rPr lang="en-US" sz="720" b="1">
                <a:solidFill>
                  <a:srgbClr val="788082"/>
                </a:solidFill>
              </a:rPr>
              <a:t>R</a:t>
            </a:r>
            <a:r>
              <a:rPr sz="720" b="1">
                <a:solidFill>
                  <a:srgbClr val="788082"/>
                </a:solidFill>
              </a:rPr>
              <a:t>egistrations / TEAMS</a:t>
            </a:r>
          </a:p>
        </p:txBody>
      </p:sp>
      <p:sp>
        <p:nvSpPr>
          <p:cNvPr id="43" name="Rectangle 42"/>
          <p:cNvSpPr/>
          <p:nvPr/>
        </p:nvSpPr>
        <p:spPr>
          <a:xfrm>
            <a:off x="5930900" y="1639460"/>
            <a:ext cx="64008" cy="89611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44" name="TextBox 43"/>
          <p:cNvSpPr txBox="1"/>
          <p:nvPr/>
        </p:nvSpPr>
        <p:spPr>
          <a:xfrm>
            <a:off x="6108191" y="1758332"/>
            <a:ext cx="532197" cy="130805"/>
          </a:xfrm>
          <a:prstGeom prst="rect">
            <a:avLst/>
          </a:prstGeom>
          <a:noFill/>
        </p:spPr>
        <p:txBody>
          <a:bodyPr wrap="none" lIns="0" tIns="0" rIns="0" bIns="0">
            <a:spAutoFit/>
          </a:bodyPr>
          <a:lstStyle/>
          <a:p>
            <a:pPr algn="l"/>
            <a:r>
              <a:rPr sz="850" b="1">
                <a:solidFill>
                  <a:srgbClr val="2A3237"/>
                </a:solidFill>
              </a:rPr>
              <a:t>Companies</a:t>
            </a:r>
          </a:p>
        </p:txBody>
      </p:sp>
      <p:sp>
        <p:nvSpPr>
          <p:cNvPr id="45" name="kpi:community_companies_reg_teams"/>
          <p:cNvSpPr txBox="1"/>
          <p:nvPr/>
        </p:nvSpPr>
        <p:spPr>
          <a:xfrm>
            <a:off x="6108191" y="2023507"/>
            <a:ext cx="716543" cy="276999"/>
          </a:xfrm>
          <a:prstGeom prst="rect">
            <a:avLst/>
          </a:prstGeom>
          <a:noFill/>
        </p:spPr>
        <p:txBody>
          <a:bodyPr wrap="none" lIns="0" tIns="0" rIns="0" bIns="0">
            <a:spAutoFit/>
          </a:bodyPr>
          <a:lstStyle/>
          <a:p>
            <a:pPr algn="l"/>
            <a:r>
              <a:rPr sz="1800" b="1">
                <a:solidFill>
                  <a:srgbClr val="000000"/>
                </a:solidFill>
              </a:rPr>
              <a:t>80 / 54</a:t>
            </a:r>
          </a:p>
        </p:txBody>
      </p:sp>
      <p:sp>
        <p:nvSpPr>
          <p:cNvPr id="46" name="TextBox 45"/>
          <p:cNvSpPr txBox="1"/>
          <p:nvPr/>
        </p:nvSpPr>
        <p:spPr>
          <a:xfrm>
            <a:off x="6108191" y="2352692"/>
            <a:ext cx="899285" cy="110800"/>
          </a:xfrm>
          <a:prstGeom prst="rect">
            <a:avLst/>
          </a:prstGeom>
          <a:noFill/>
        </p:spPr>
        <p:txBody>
          <a:bodyPr wrap="none" lIns="0" tIns="0" rIns="0" bIns="0">
            <a:spAutoFit/>
          </a:bodyPr>
          <a:lstStyle/>
          <a:p>
            <a:pPr algn="l"/>
            <a:r>
              <a:rPr lang="en-US" sz="720" b="1">
                <a:solidFill>
                  <a:srgbClr val="788082"/>
                </a:solidFill>
              </a:rPr>
              <a:t>R</a:t>
            </a:r>
            <a:r>
              <a:rPr sz="720" b="1">
                <a:solidFill>
                  <a:srgbClr val="788082"/>
                </a:solidFill>
              </a:rPr>
              <a:t>egistrations / TEAMS</a:t>
            </a:r>
          </a:p>
        </p:txBody>
      </p:sp>
      <p:sp>
        <p:nvSpPr>
          <p:cNvPr id="47" name="Rounded Rectangle 27"/>
          <p:cNvSpPr/>
          <p:nvPr/>
        </p:nvSpPr>
        <p:spPr>
          <a:xfrm>
            <a:off x="7818119" y="1639460"/>
            <a:ext cx="1719072" cy="896112"/>
          </a:xfrm>
          <a:prstGeom prst="roundRect">
            <a:avLst/>
          </a:prstGeom>
          <a:solidFill>
            <a:srgbClr val="FFFFFF"/>
          </a:solidFill>
          <a:ln w="8890">
            <a:solidFill>
              <a:srgbClr val="D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49" name="Rectangle 48"/>
          <p:cNvSpPr/>
          <p:nvPr/>
        </p:nvSpPr>
        <p:spPr>
          <a:xfrm>
            <a:off x="7818119" y="1639460"/>
            <a:ext cx="64008" cy="896112"/>
          </a:xfrm>
          <a:prstGeom prst="rect">
            <a:avLst/>
          </a:prstGeom>
          <a:solidFill>
            <a:srgbClr val="A00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50" name="TextBox 49"/>
          <p:cNvSpPr txBox="1"/>
          <p:nvPr/>
        </p:nvSpPr>
        <p:spPr>
          <a:xfrm>
            <a:off x="7982711" y="1758332"/>
            <a:ext cx="1030731" cy="130805"/>
          </a:xfrm>
          <a:prstGeom prst="rect">
            <a:avLst/>
          </a:prstGeom>
          <a:noFill/>
        </p:spPr>
        <p:txBody>
          <a:bodyPr wrap="none" lIns="0" tIns="0" rIns="0" bIns="0">
            <a:spAutoFit/>
          </a:bodyPr>
          <a:lstStyle/>
          <a:p>
            <a:pPr algn="l"/>
            <a:r>
              <a:rPr sz="850" b="1">
                <a:solidFill>
                  <a:srgbClr val="2A3237"/>
                </a:solidFill>
              </a:rPr>
              <a:t>Top registration reach</a:t>
            </a:r>
          </a:p>
        </p:txBody>
      </p:sp>
      <p:sp>
        <p:nvSpPr>
          <p:cNvPr id="51" name="kpi:community_top_registration_country"/>
          <p:cNvSpPr txBox="1"/>
          <p:nvPr/>
        </p:nvSpPr>
        <p:spPr>
          <a:xfrm>
            <a:off x="7982711" y="2023507"/>
            <a:ext cx="920124" cy="276999"/>
          </a:xfrm>
          <a:prstGeom prst="rect">
            <a:avLst/>
          </a:prstGeom>
          <a:noFill/>
        </p:spPr>
        <p:txBody>
          <a:bodyPr wrap="none" lIns="0" tIns="0" rIns="0" bIns="0">
            <a:spAutoFit/>
          </a:bodyPr>
          <a:lstStyle/>
          <a:p>
            <a:pPr algn="l"/>
            <a:r>
              <a:rPr sz="1800" b="1">
                <a:solidFill>
                  <a:srgbClr val="000000"/>
                </a:solidFill>
              </a:rPr>
              <a:t>Germany</a:t>
            </a:r>
          </a:p>
        </p:txBody>
      </p:sp>
      <p:sp>
        <p:nvSpPr>
          <p:cNvPr id="52" name="kpi:community_top_registration_country_rate"/>
          <p:cNvSpPr txBox="1"/>
          <p:nvPr/>
        </p:nvSpPr>
        <p:spPr>
          <a:xfrm>
            <a:off x="7982711" y="2352692"/>
            <a:ext cx="825547" cy="110800"/>
          </a:xfrm>
          <a:prstGeom prst="rect">
            <a:avLst/>
          </a:prstGeom>
          <a:noFill/>
        </p:spPr>
        <p:txBody>
          <a:bodyPr wrap="none" lIns="0" tIns="0" rIns="0" bIns="0">
            <a:spAutoFit/>
          </a:bodyPr>
          <a:lstStyle/>
          <a:p>
            <a:pPr algn="l"/>
            <a:r>
              <a:rPr sz="720" b="1">
                <a:solidFill>
                  <a:srgbClr val="788082"/>
                </a:solidFill>
              </a:rPr>
              <a:t>9.64% of country HC</a:t>
            </a:r>
          </a:p>
        </p:txBody>
      </p:sp>
      <p:sp>
        <p:nvSpPr>
          <p:cNvPr id="53" name="Rounded Rectangle 32"/>
          <p:cNvSpPr/>
          <p:nvPr/>
        </p:nvSpPr>
        <p:spPr>
          <a:xfrm>
            <a:off x="9692640" y="1639460"/>
            <a:ext cx="1719072" cy="896112"/>
          </a:xfrm>
          <a:prstGeom prst="roundRect">
            <a:avLst/>
          </a:prstGeom>
          <a:solidFill>
            <a:srgbClr val="FFFFFF"/>
          </a:solidFill>
          <a:ln w="8890">
            <a:solidFill>
              <a:srgbClr val="D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54" name="TextBox 53"/>
          <p:cNvSpPr txBox="1"/>
          <p:nvPr/>
        </p:nvSpPr>
        <p:spPr>
          <a:xfrm>
            <a:off x="9857232" y="1758332"/>
            <a:ext cx="846386" cy="130805"/>
          </a:xfrm>
          <a:prstGeom prst="rect">
            <a:avLst/>
          </a:prstGeom>
          <a:noFill/>
        </p:spPr>
        <p:txBody>
          <a:bodyPr wrap="none" lIns="0" tIns="0" rIns="0" bIns="0">
            <a:spAutoFit/>
          </a:bodyPr>
          <a:lstStyle/>
          <a:p>
            <a:pPr algn="l"/>
            <a:r>
              <a:rPr sz="850" b="1">
                <a:solidFill>
                  <a:srgbClr val="2A3237"/>
                </a:solidFill>
              </a:rPr>
              <a:t>Top TEAMS reach</a:t>
            </a:r>
          </a:p>
        </p:txBody>
      </p:sp>
      <p:sp>
        <p:nvSpPr>
          <p:cNvPr id="55" name="kpi:community_top_teams_country"/>
          <p:cNvSpPr txBox="1"/>
          <p:nvPr/>
        </p:nvSpPr>
        <p:spPr>
          <a:xfrm>
            <a:off x="9857232" y="2023507"/>
            <a:ext cx="920124" cy="276999"/>
          </a:xfrm>
          <a:prstGeom prst="rect">
            <a:avLst/>
          </a:prstGeom>
          <a:noFill/>
        </p:spPr>
        <p:txBody>
          <a:bodyPr wrap="none" lIns="0" tIns="0" rIns="0" bIns="0">
            <a:spAutoFit/>
          </a:bodyPr>
          <a:lstStyle/>
          <a:p>
            <a:pPr algn="l"/>
            <a:r>
              <a:rPr sz="1800" b="1">
                <a:solidFill>
                  <a:srgbClr val="000000"/>
                </a:solidFill>
              </a:rPr>
              <a:t>Germany</a:t>
            </a:r>
          </a:p>
        </p:txBody>
      </p:sp>
      <p:sp>
        <p:nvSpPr>
          <p:cNvPr id="56" name="kpi:community_top_teams_country_rate"/>
          <p:cNvSpPr txBox="1"/>
          <p:nvPr/>
        </p:nvSpPr>
        <p:spPr>
          <a:xfrm>
            <a:off x="9857232" y="2352692"/>
            <a:ext cx="825547" cy="110800"/>
          </a:xfrm>
          <a:prstGeom prst="rect">
            <a:avLst/>
          </a:prstGeom>
          <a:noFill/>
        </p:spPr>
        <p:txBody>
          <a:bodyPr wrap="none" lIns="0" tIns="0" rIns="0" bIns="0">
            <a:spAutoFit/>
          </a:bodyPr>
          <a:lstStyle/>
          <a:p>
            <a:pPr algn="l"/>
            <a:r>
              <a:rPr sz="720" b="1">
                <a:solidFill>
                  <a:srgbClr val="788082"/>
                </a:solidFill>
              </a:rPr>
              <a:t>8.39% of country HC</a:t>
            </a:r>
          </a:p>
        </p:txBody>
      </p:sp>
      <p:sp>
        <p:nvSpPr>
          <p:cNvPr id="62" name="Rectangle 61"/>
          <p:cNvSpPr/>
          <p:nvPr/>
        </p:nvSpPr>
        <p:spPr>
          <a:xfrm>
            <a:off x="4079494" y="1652665"/>
            <a:ext cx="64008" cy="896112"/>
          </a:xfrm>
          <a:prstGeom prst="rect">
            <a:avLst/>
          </a:prstGeom>
          <a:solidFill>
            <a:srgbClr val="A00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63" name="Rectangle 62"/>
          <p:cNvSpPr/>
          <p:nvPr/>
        </p:nvSpPr>
        <p:spPr>
          <a:xfrm>
            <a:off x="9692640" y="1643856"/>
            <a:ext cx="64008" cy="896112"/>
          </a:xfrm>
          <a:prstGeom prst="rect">
            <a:avLst/>
          </a:prstGeom>
          <a:solidFill>
            <a:srgbClr val="FF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pic>
        <p:nvPicPr>
          <p:cNvPr id="8" name="chart:community_registrations_reach_country"/>
          <p:cNvPicPr>
            <a:picLocks noChangeAspect="1"/>
          </p:cNvPicPr>
          <p:nvPr/>
        </p:nvPicPr>
        <p:blipFill>
          <a:blip r:embed="rId2"/>
          <a:stretch>
            <a:fillRect/>
          </a:stretch>
        </p:blipFill>
        <p:spPr>
          <a:xfrm>
            <a:off x="1337429" y="3042972"/>
            <a:ext cx="3844298" cy="2217157"/>
          </a:xfrm>
          <a:prstGeom prst="rect">
            <a:avLst/>
          </a:prstGeom>
        </p:spPr>
      </p:pic>
      <p:pic>
        <p:nvPicPr>
          <p:cNvPr id="10" name="chart:community_teams_reach_country"/>
          <p:cNvPicPr>
            <a:picLocks noChangeAspect="1"/>
          </p:cNvPicPr>
          <p:nvPr/>
        </p:nvPicPr>
        <p:blipFill>
          <a:blip r:embed="rId3"/>
          <a:stretch>
            <a:fillRect/>
          </a:stretch>
        </p:blipFill>
        <p:spPr>
          <a:xfrm>
            <a:off x="6201815" y="2974803"/>
            <a:ext cx="3959090" cy="2370929"/>
          </a:xfrm>
          <a:prstGeom prst="rect">
            <a:avLst/>
          </a:prstGeom>
        </p:spPr>
      </p:pic>
      <p:sp>
        <p:nvSpPr>
          <p:cNvPr id="64"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3" name="Text Placeholder 2"/>
          <p:cNvSpPr>
            <a:spLocks noGrp="1"/>
          </p:cNvSpPr>
          <p:nvPr/>
        </p:nvSpPr>
        <p:spPr>
          <a:xfrm>
            <a:off x="839788" y="6138665"/>
            <a:ext cx="10514012" cy="263149"/>
          </a:xfrm>
          <a:prstGeom prst="rect">
            <a:avLst/>
          </a:prstGeom>
        </p:spPr>
        <p:txBody>
          <a:bodyPr/>
          <a:lstStyle/>
          <a:p>
            <a:endParaRPr lang="de-AT"/>
          </a:p>
        </p:txBody>
      </p:sp>
      <p:sp>
        <p:nvSpPr>
          <p:cNvPr id="4" name="Title 3"/>
          <p:cNvSpPr>
            <a:spLocks noGrp="1"/>
          </p:cNvSpPr>
          <p:nvPr/>
        </p:nvSpPr>
        <p:spPr>
          <a:xfrm>
            <a:off x="839788" y="495505"/>
            <a:ext cx="10514012" cy="1517338"/>
          </a:xfrm>
          <a:prstGeom prst="rect">
            <a:avLst/>
          </a:prstGeom>
        </p:spPr>
        <p:txBody>
          <a:bodyPr/>
          <a:lstStyle/>
          <a:p>
            <a:r>
              <a:rPr lang="en-US" sz="3600">
                <a:solidFill>
                  <a:srgbClr val="7A8285"/>
                </a:solidFill>
                <a:ea typeface="Aptos Display" pitchFamily="34" charset="-122"/>
                <a:cs typeface="Aptos Display" pitchFamily="34" charset="-120"/>
              </a:rPr>
              <a:t>AI demand is broad, practical and business-driven</a:t>
            </a:r>
            <a:br>
              <a:rPr lang="en-US">
                <a:solidFill>
                  <a:srgbClr val="E8ECF4"/>
                </a:solidFill>
              </a:rPr>
            </a:br>
            <a:r>
              <a:rPr lang="en-US" sz="2200">
                <a:solidFill>
                  <a:srgbClr val="9AA2A5"/>
                </a:solidFill>
                <a:ea typeface="Aptos" pitchFamily="34" charset="-122"/>
                <a:cs typeface="Aptos" pitchFamily="34" charset="-120"/>
              </a:rPr>
              <a:t>Interest spans general AI awareness, business use cases, automation and analytics</a:t>
            </a:r>
            <a:endParaRPr lang="de-AT" sz="2200"/>
          </a:p>
        </p:txBody>
      </p:sp>
      <p:sp>
        <p:nvSpPr>
          <p:cNvPr id="5" name="Date Placeholder 4"/>
          <p:cNvSpPr>
            <a:spLocks noGrp="1"/>
          </p:cNvSpPr>
          <p:nvPr/>
        </p:nvSpPr>
        <p:spPr>
          <a:xfrm>
            <a:off x="11063125" y="181996"/>
            <a:ext cx="873637" cy="153888"/>
          </a:xfrm>
          <a:prstGeom prst="rect">
            <a:avLst/>
          </a:prstGeom>
        </p:spPr>
        <p:txBody>
          <a:bodyPr/>
          <a:lstStyle/>
          <a:p>
            <a:r>
              <a:rPr lang="de-DE" sz="900">
                <a:solidFill>
                  <a:srgbClr val="9aa1b2"/>
                </a:solidFill>
              </a:rPr>
              <a:t>Demo data</a:t>
            </a:r>
            <a:endParaRPr lang="en-GB"/>
          </a:p>
        </p:txBody>
      </p:sp>
      <p:sp>
        <p:nvSpPr>
          <p:cNvPr id="6" name="Footer Placeholder 5"/>
          <p:cNvSpPr>
            <a:spLocks noGrp="1"/>
          </p:cNvSpPr>
          <p:nvPr/>
        </p:nvSpPr>
        <p:spPr>
          <a:xfrm>
            <a:off x="1466850" y="6587737"/>
            <a:ext cx="6953250" cy="184666"/>
          </a:xfrm>
          <a:prstGeom prst="rect">
            <a:avLst/>
          </a:prstGeom>
        </p:spPr>
        <p:txBody>
          <a:bodyPr/>
          <a:lstStyle/>
          <a:p>
            <a:r>
              <a:rPr lang="en-GB" sz="900">
                <a:solidFill>
                  <a:srgbClr val="9aa1b2"/>
                </a:solidFill>
              </a:rPr>
              <a:t>Contoso template</a:t>
            </a:r>
          </a:p>
        </p:txBody>
      </p:sp>
      <p:sp>
        <p:nvSpPr>
          <p:cNvPr id="7" name="Slide Number Placeholder 6"/>
          <p:cNvSpPr>
            <a:spLocks noGrp="1"/>
          </p:cNvSpPr>
          <p:nvPr/>
        </p:nvSpPr>
        <p:spPr>
          <a:xfrm>
            <a:off x="839788" y="6587737"/>
            <a:ext cx="347662" cy="184666"/>
          </a:xfrm>
          <a:prstGeom prst="rect">
            <a:avLst/>
          </a:prstGeom>
        </p:spPr>
        <p:txBody>
          <a:bodyPr/>
          <a:lstStyle/>
          <a:p>
            <a:pPr algn="l"/>
            <a:fld id="{64E38502-06D2-4E51-82FE-464E052045F9}" type="slidenum">
              <a:rPr lang="en-GB" smtClean="0">
                <a:solidFill>
                  <a:srgbClr val="E8ECF4"/>
                </a:solidFill>
              </a:rPr>
              <a:pPr algn="l"/>
              <a:t>13</a:t>
            </a:fld>
            <a:endParaRPr lang="en-GB"/>
          </a:p>
        </p:txBody>
      </p:sp>
      <p:grpSp>
        <p:nvGrpSpPr>
          <p:cNvPr id="12" name="Group 11"/>
          <p:cNvGrpSpPr/>
          <p:nvPr/>
        </p:nvGrpSpPr>
        <p:grpSpPr>
          <a:xfrm>
            <a:off x="6825932" y="2304057"/>
            <a:ext cx="4526280" cy="658368"/>
            <a:chOff x="6629400" y="1481328"/>
            <a:chExt cx="4526280" cy="658368"/>
          </a:xfrm>
        </p:grpSpPr>
        <p:sp>
          <p:nvSpPr>
            <p:cNvPr id="13" name="Shape 9"/>
            <p:cNvSpPr/>
            <p:nvPr/>
          </p:nvSpPr>
          <p:spPr>
            <a:xfrm>
              <a:off x="6629400" y="1481328"/>
              <a:ext cx="4526280" cy="658368"/>
            </a:xfrm>
            <a:prstGeom prst="roundRect">
              <a:avLst>
                <a:gd name="adj" fmla="val 19444"/>
              </a:avLst>
            </a:prstGeom>
            <a:solidFill>
              <a:srgbClr val="E8F5F6"/>
            </a:solidFill>
            <a:ln w="10160">
              <a:solidFill>
                <a:srgbClr val="E3E7EA"/>
              </a:solidFill>
              <a:prstDash val="solid"/>
            </a:ln>
          </p:spPr>
          <p:txBody>
            <a:bodyPr/>
            <a:lstStyle/>
            <a:p>
              <a:endParaRPr lang="de-AT"/>
            </a:p>
          </p:txBody>
        </p:sp>
        <p:sp>
          <p:nvSpPr>
            <p:cNvPr id="14" name="Shape 10"/>
            <p:cNvSpPr/>
            <p:nvPr/>
          </p:nvSpPr>
          <p:spPr>
            <a:xfrm>
              <a:off x="6629400" y="1481328"/>
              <a:ext cx="73152" cy="658368"/>
            </a:xfrm>
            <a:prstGeom prst="rect">
              <a:avLst/>
            </a:prstGeom>
            <a:solidFill>
              <a:srgbClr val="0070C0"/>
            </a:solidFill>
            <a:ln w="12700">
              <a:solidFill>
                <a:srgbClr val="007D8C"/>
              </a:solidFill>
              <a:prstDash val="solid"/>
            </a:ln>
          </p:spPr>
          <p:txBody>
            <a:bodyPr/>
            <a:lstStyle/>
            <a:p>
              <a:endParaRPr lang="de-AT"/>
            </a:p>
          </p:txBody>
        </p:sp>
        <p:sp>
          <p:nvSpPr>
            <p:cNvPr id="15" name="kpi:community_interest_insight"/>
            <p:cNvSpPr/>
            <p:nvPr/>
          </p:nvSpPr>
          <p:spPr>
            <a:xfrm>
              <a:off x="6812280" y="1636776"/>
              <a:ext cx="4206240" cy="429768"/>
            </a:xfrm>
            <a:prstGeom prst="rect">
              <a:avLst/>
            </a:prstGeom>
            <a:noFill/>
            <a:ln/>
          </p:spPr>
          <p:txBody>
            <a:bodyPr wrap="square" lIns="0" tIns="0" rIns="0" bIns="0" rtlCol="0" anchor="ctr">
              <a:normAutofit/>
            </a:bodyPr>
            <a:lstStyle/>
            <a:p>
              <a:r>
                <a:rPr lang="en-US" sz="1400">
                  <a:solidFill>
                    <a:srgbClr val="33393B"/>
                  </a:solidFill>
                  <a:ea typeface="Aptos" pitchFamily="34" charset="-122"/>
                  <a:cs typeface="Aptos" pitchFamily="34" charset="-120"/>
                </a:rPr>
                <a:t>29.36% General AI Interest — strong demand for awareness and orientation</a:t>
              </a:r>
              <a:endParaRPr lang="en-US" sz="1400"/>
            </a:p>
            <a:p>
              <a:pPr marL="0" indent="0">
                <a:buNone/>
              </a:pPr>
              <a:endParaRPr lang="en-US" sz="1350"/>
            </a:p>
          </p:txBody>
        </p:sp>
      </p:grpSp>
      <p:grpSp>
        <p:nvGrpSpPr>
          <p:cNvPr id="16" name="Group 15"/>
          <p:cNvGrpSpPr/>
          <p:nvPr/>
        </p:nvGrpSpPr>
        <p:grpSpPr>
          <a:xfrm>
            <a:off x="6825932" y="3218457"/>
            <a:ext cx="2167128" cy="502920"/>
            <a:chOff x="6629400" y="2395728"/>
            <a:chExt cx="2167128" cy="502920"/>
          </a:xfrm>
        </p:grpSpPr>
        <p:sp>
          <p:nvSpPr>
            <p:cNvPr id="17" name="Shape 12"/>
            <p:cNvSpPr/>
            <p:nvPr/>
          </p:nvSpPr>
          <p:spPr>
            <a:xfrm>
              <a:off x="6629400" y="2395728"/>
              <a:ext cx="2130552" cy="502920"/>
            </a:xfrm>
            <a:prstGeom prst="roundRect">
              <a:avLst>
                <a:gd name="adj" fmla="val 21818"/>
              </a:avLst>
            </a:prstGeom>
            <a:solidFill>
              <a:srgbClr val="FFFFFF"/>
            </a:solidFill>
            <a:ln w="10160">
              <a:solidFill>
                <a:srgbClr val="E1E5E8"/>
              </a:solidFill>
              <a:prstDash val="solid"/>
            </a:ln>
          </p:spPr>
          <p:txBody>
            <a:bodyPr/>
            <a:lstStyle/>
            <a:p>
              <a:endParaRPr lang="de-AT"/>
            </a:p>
          </p:txBody>
        </p:sp>
        <p:sp>
          <p:nvSpPr>
            <p:cNvPr id="18" name="Shape 13"/>
            <p:cNvSpPr/>
            <p:nvPr/>
          </p:nvSpPr>
          <p:spPr>
            <a:xfrm>
              <a:off x="6629400" y="2395728"/>
              <a:ext cx="64008" cy="502920"/>
            </a:xfrm>
            <a:prstGeom prst="rect">
              <a:avLst/>
            </a:prstGeom>
            <a:solidFill>
              <a:srgbClr val="EE9A53"/>
            </a:solidFill>
            <a:ln w="12700">
              <a:solidFill>
                <a:srgbClr val="EE9A53"/>
              </a:solidFill>
              <a:prstDash val="solid"/>
            </a:ln>
          </p:spPr>
          <p:txBody>
            <a:bodyPr/>
            <a:lstStyle/>
            <a:p>
              <a:endParaRPr lang="de-AT"/>
            </a:p>
          </p:txBody>
        </p:sp>
        <p:sp>
          <p:nvSpPr>
            <p:cNvPr id="19" name="kpi:community_interest_top1"/>
            <p:cNvSpPr/>
            <p:nvPr/>
          </p:nvSpPr>
          <p:spPr>
            <a:xfrm>
              <a:off x="6940296" y="2572228"/>
              <a:ext cx="1856232" cy="146304"/>
            </a:xfrm>
            <a:prstGeom prst="rect">
              <a:avLst/>
            </a:prstGeom>
            <a:noFill/>
            <a:ln/>
          </p:spPr>
          <p:txBody>
            <a:bodyPr wrap="square" lIns="0" tIns="0" rIns="0" bIns="0" rtlCol="0" anchor="ctr">
              <a:noAutofit/>
            </a:bodyPr>
            <a:lstStyle/>
            <a:p>
              <a:pPr marL="0" indent="0">
                <a:buNone/>
              </a:pPr>
              <a:r>
                <a:rPr lang="en-US" sz="1200" b="1">
                  <a:solidFill>
                    <a:srgbClr val="33393B"/>
                  </a:solidFill>
                  <a:ea typeface="Aptos" pitchFamily="34" charset="-122"/>
                  <a:cs typeface="Aptos" pitchFamily="34" charset="-120"/>
                </a:rPr>
                <a:t>Business use cases</a:t>
              </a:r>
              <a:endParaRPr lang="en-US" sz="1200"/>
            </a:p>
          </p:txBody>
        </p:sp>
      </p:grpSp>
      <p:grpSp>
        <p:nvGrpSpPr>
          <p:cNvPr id="20" name="Group 19"/>
          <p:cNvGrpSpPr/>
          <p:nvPr/>
        </p:nvGrpSpPr>
        <p:grpSpPr>
          <a:xfrm>
            <a:off x="9203372" y="3218457"/>
            <a:ext cx="2148840" cy="502920"/>
            <a:chOff x="9006840" y="2395728"/>
            <a:chExt cx="2148840" cy="502920"/>
          </a:xfrm>
        </p:grpSpPr>
        <p:sp>
          <p:nvSpPr>
            <p:cNvPr id="21" name="Shape 15"/>
            <p:cNvSpPr/>
            <p:nvPr/>
          </p:nvSpPr>
          <p:spPr>
            <a:xfrm>
              <a:off x="9006840" y="2395728"/>
              <a:ext cx="2148840" cy="502920"/>
            </a:xfrm>
            <a:prstGeom prst="roundRect">
              <a:avLst>
                <a:gd name="adj" fmla="val 21818"/>
              </a:avLst>
            </a:prstGeom>
            <a:solidFill>
              <a:srgbClr val="FFFFFF"/>
            </a:solidFill>
            <a:ln w="10160">
              <a:solidFill>
                <a:srgbClr val="E1E5E8"/>
              </a:solidFill>
              <a:prstDash val="solid"/>
            </a:ln>
          </p:spPr>
          <p:txBody>
            <a:bodyPr/>
            <a:lstStyle/>
            <a:p>
              <a:endParaRPr lang="de-AT"/>
            </a:p>
          </p:txBody>
        </p:sp>
        <p:sp>
          <p:nvSpPr>
            <p:cNvPr id="22" name="Shape 16"/>
            <p:cNvSpPr/>
            <p:nvPr/>
          </p:nvSpPr>
          <p:spPr>
            <a:xfrm>
              <a:off x="9006840" y="2395728"/>
              <a:ext cx="64008" cy="502920"/>
            </a:xfrm>
            <a:prstGeom prst="rect">
              <a:avLst/>
            </a:prstGeom>
            <a:solidFill>
              <a:srgbClr val="679C89"/>
            </a:solidFill>
            <a:ln w="12700">
              <a:solidFill>
                <a:srgbClr val="679C89"/>
              </a:solidFill>
              <a:prstDash val="solid"/>
            </a:ln>
          </p:spPr>
          <p:txBody>
            <a:bodyPr/>
            <a:lstStyle/>
            <a:p>
              <a:endParaRPr lang="de-AT"/>
            </a:p>
          </p:txBody>
        </p:sp>
        <p:sp>
          <p:nvSpPr>
            <p:cNvPr id="23" name="kpi:community_interest_top2"/>
            <p:cNvSpPr/>
            <p:nvPr/>
          </p:nvSpPr>
          <p:spPr>
            <a:xfrm>
              <a:off x="9280869" y="2572228"/>
              <a:ext cx="1874520" cy="146304"/>
            </a:xfrm>
            <a:prstGeom prst="rect">
              <a:avLst/>
            </a:prstGeom>
            <a:noFill/>
            <a:ln/>
          </p:spPr>
          <p:txBody>
            <a:bodyPr wrap="square" lIns="0" tIns="0" rIns="0" bIns="0" rtlCol="0" anchor="ctr">
              <a:noAutofit/>
            </a:bodyPr>
            <a:lstStyle/>
            <a:p>
              <a:pPr marL="0" indent="0">
                <a:buNone/>
              </a:pPr>
              <a:r>
                <a:rPr lang="en-US" sz="1200" b="1">
                  <a:solidFill>
                    <a:srgbClr val="33393B"/>
                  </a:solidFill>
                  <a:ea typeface="Aptos" pitchFamily="34" charset="-122"/>
                  <a:cs typeface="Aptos" pitchFamily="34" charset="-120"/>
                </a:rPr>
                <a:t>Automation &amp; efficiency</a:t>
              </a:r>
              <a:endParaRPr lang="en-US" sz="1200"/>
            </a:p>
          </p:txBody>
        </p:sp>
      </p:grpSp>
      <p:grpSp>
        <p:nvGrpSpPr>
          <p:cNvPr id="24" name="Group 23"/>
          <p:cNvGrpSpPr/>
          <p:nvPr/>
        </p:nvGrpSpPr>
        <p:grpSpPr>
          <a:xfrm>
            <a:off x="6825932" y="3931689"/>
            <a:ext cx="2130552" cy="502920"/>
            <a:chOff x="6629400" y="3108960"/>
            <a:chExt cx="2130552" cy="502920"/>
          </a:xfrm>
        </p:grpSpPr>
        <p:sp>
          <p:nvSpPr>
            <p:cNvPr id="25" name="Shape 18"/>
            <p:cNvSpPr/>
            <p:nvPr/>
          </p:nvSpPr>
          <p:spPr>
            <a:xfrm>
              <a:off x="6629400" y="3108960"/>
              <a:ext cx="2130552" cy="502920"/>
            </a:xfrm>
            <a:prstGeom prst="roundRect">
              <a:avLst>
                <a:gd name="adj" fmla="val 21818"/>
              </a:avLst>
            </a:prstGeom>
            <a:solidFill>
              <a:srgbClr val="FFFFFF"/>
            </a:solidFill>
            <a:ln w="10160">
              <a:solidFill>
                <a:srgbClr val="E1E5E8"/>
              </a:solidFill>
              <a:prstDash val="solid"/>
            </a:ln>
          </p:spPr>
          <p:txBody>
            <a:bodyPr/>
            <a:lstStyle/>
            <a:p>
              <a:endParaRPr lang="de-AT"/>
            </a:p>
          </p:txBody>
        </p:sp>
        <p:sp>
          <p:nvSpPr>
            <p:cNvPr id="26" name="Shape 19"/>
            <p:cNvSpPr/>
            <p:nvPr/>
          </p:nvSpPr>
          <p:spPr>
            <a:xfrm>
              <a:off x="6629400" y="3108960"/>
              <a:ext cx="64008" cy="502920"/>
            </a:xfrm>
            <a:prstGeom prst="rect">
              <a:avLst/>
            </a:prstGeom>
            <a:solidFill>
              <a:schemeClr val="accent4"/>
            </a:solidFill>
            <a:ln w="12700">
              <a:solidFill>
                <a:schemeClr val="accent4"/>
              </a:solidFill>
              <a:prstDash val="solid"/>
            </a:ln>
          </p:spPr>
          <p:txBody>
            <a:bodyPr/>
            <a:lstStyle/>
            <a:p>
              <a:endParaRPr lang="de-AT"/>
            </a:p>
          </p:txBody>
        </p:sp>
        <p:sp>
          <p:nvSpPr>
            <p:cNvPr id="27" name="kpi:community_interest_top3"/>
            <p:cNvSpPr/>
            <p:nvPr/>
          </p:nvSpPr>
          <p:spPr>
            <a:xfrm>
              <a:off x="6793992" y="3292451"/>
              <a:ext cx="1856232" cy="146304"/>
            </a:xfrm>
            <a:prstGeom prst="rect">
              <a:avLst/>
            </a:prstGeom>
            <a:noFill/>
            <a:ln/>
          </p:spPr>
          <p:txBody>
            <a:bodyPr wrap="square" lIns="0" tIns="0" rIns="0" bIns="0" rtlCol="0" anchor="ctr">
              <a:noAutofit/>
            </a:bodyPr>
            <a:lstStyle/>
            <a:p>
              <a:pPr marL="0" indent="0" algn="ctr">
                <a:buNone/>
              </a:pPr>
              <a:r>
                <a:rPr lang="en-US" sz="1200" b="1">
                  <a:solidFill>
                    <a:srgbClr val="33393B"/>
                  </a:solidFill>
                  <a:ea typeface="Aptos" pitchFamily="34" charset="-122"/>
                  <a:cs typeface="Aptos" pitchFamily="34" charset="-120"/>
                </a:rPr>
                <a:t>Analytics &amp; BI</a:t>
              </a:r>
              <a:endParaRPr lang="en-US" sz="1200"/>
            </a:p>
          </p:txBody>
        </p:sp>
      </p:grpSp>
      <p:grpSp>
        <p:nvGrpSpPr>
          <p:cNvPr id="28" name="Group 27"/>
          <p:cNvGrpSpPr/>
          <p:nvPr/>
        </p:nvGrpSpPr>
        <p:grpSpPr>
          <a:xfrm>
            <a:off x="9203372" y="3931689"/>
            <a:ext cx="2395728" cy="502920"/>
            <a:chOff x="9006840" y="3108960"/>
            <a:chExt cx="2395728" cy="502920"/>
          </a:xfrm>
        </p:grpSpPr>
        <p:sp>
          <p:nvSpPr>
            <p:cNvPr id="29" name="Shape 21"/>
            <p:cNvSpPr/>
            <p:nvPr/>
          </p:nvSpPr>
          <p:spPr>
            <a:xfrm>
              <a:off x="9006840" y="3108960"/>
              <a:ext cx="2148840" cy="502920"/>
            </a:xfrm>
            <a:prstGeom prst="roundRect">
              <a:avLst>
                <a:gd name="adj" fmla="val 21818"/>
              </a:avLst>
            </a:prstGeom>
            <a:solidFill>
              <a:srgbClr val="FFFFFF"/>
            </a:solidFill>
            <a:ln w="10160">
              <a:solidFill>
                <a:srgbClr val="E1E5E8"/>
              </a:solidFill>
              <a:prstDash val="solid"/>
            </a:ln>
          </p:spPr>
          <p:txBody>
            <a:bodyPr/>
            <a:lstStyle/>
            <a:p>
              <a:endParaRPr lang="de-AT"/>
            </a:p>
          </p:txBody>
        </p:sp>
        <p:sp>
          <p:nvSpPr>
            <p:cNvPr id="30" name="Shape 22"/>
            <p:cNvSpPr/>
            <p:nvPr/>
          </p:nvSpPr>
          <p:spPr>
            <a:xfrm>
              <a:off x="9006840" y="3108960"/>
              <a:ext cx="64008" cy="502920"/>
            </a:xfrm>
            <a:prstGeom prst="rect">
              <a:avLst/>
            </a:prstGeom>
            <a:solidFill>
              <a:srgbClr val="00B0F0"/>
            </a:solidFill>
            <a:ln w="12700">
              <a:solidFill>
                <a:srgbClr val="00B0F0"/>
              </a:solidFill>
              <a:prstDash val="solid"/>
            </a:ln>
          </p:spPr>
          <p:txBody>
            <a:bodyPr/>
            <a:lstStyle/>
            <a:p>
              <a:endParaRPr lang="de-AT"/>
            </a:p>
          </p:txBody>
        </p:sp>
        <p:sp>
          <p:nvSpPr>
            <p:cNvPr id="31" name="kpi:community_interest_top4"/>
            <p:cNvSpPr/>
            <p:nvPr/>
          </p:nvSpPr>
          <p:spPr>
            <a:xfrm>
              <a:off x="9528048" y="3268581"/>
              <a:ext cx="1874520" cy="146304"/>
            </a:xfrm>
            <a:prstGeom prst="rect">
              <a:avLst/>
            </a:prstGeom>
            <a:noFill/>
            <a:ln/>
          </p:spPr>
          <p:txBody>
            <a:bodyPr wrap="square" lIns="0" tIns="0" rIns="0" bIns="0" rtlCol="0" anchor="ctr">
              <a:noAutofit/>
            </a:bodyPr>
            <a:lstStyle/>
            <a:p>
              <a:pPr marL="0" indent="0">
                <a:buNone/>
              </a:pPr>
              <a:r>
                <a:rPr lang="en-US" sz="1200" b="1">
                  <a:solidFill>
                    <a:srgbClr val="33393B"/>
                  </a:solidFill>
                  <a:ea typeface="Aptos" pitchFamily="34" charset="-122"/>
                  <a:cs typeface="Aptos" pitchFamily="34" charset="-120"/>
                </a:rPr>
                <a:t>GenAI &amp; LLMs</a:t>
              </a:r>
              <a:endParaRPr lang="en-US" sz="1200"/>
            </a:p>
          </p:txBody>
        </p:sp>
      </p:grpSp>
      <p:sp>
        <p:nvSpPr>
          <p:cNvPr id="32" name="kpi:community_interest_narrative"/>
          <p:cNvSpPr/>
          <p:nvPr/>
        </p:nvSpPr>
        <p:spPr>
          <a:xfrm>
            <a:off x="6825932" y="4798854"/>
            <a:ext cx="4526280" cy="611850"/>
          </a:xfrm>
          <a:prstGeom prst="roundRect">
            <a:avLst>
              <a:gd name="adj" fmla="val 16471"/>
            </a:avLst>
          </a:prstGeom>
          <a:solidFill>
            <a:srgbClr val="FFFFFF"/>
          </a:solidFill>
          <a:ln w="10160">
            <a:solidFill>
              <a:srgbClr val="E3E7EA"/>
            </a:solidFill>
            <a:prstDash val="solid"/>
          </a:ln>
        </p:spPr>
        <p:txBody>
          <a:bodyPr/>
          <a:lstStyle/>
          <a:p>
            <a:pPr algn="ctr"/>
            <a:r>
              <a:rPr lang="en-US" sz="1200">
                <a:solidFill>
                  <a:srgbClr val="33393B"/>
                </a:solidFill>
                <a:latin typeface="Aptos" pitchFamily="34" charset="0"/>
                <a:ea typeface="Aptos" pitchFamily="34" charset="-122"/>
                <a:cs typeface="Aptos" pitchFamily="34" charset="-120"/>
              </a:rPr>
              <a:t>Demand is not purely technical — it is coming from business functions looking for practical value.</a:t>
            </a:r>
            <a:endParaRPr lang="en-US" sz="1200"/>
          </a:p>
          <a:p>
            <a:endParaRPr lang="de-AT"/>
          </a:p>
        </p:txBody>
      </p:sp>
      <p:sp>
        <p:nvSpPr>
          <p:cNvPr id="33" name="Shape 23"/>
          <p:cNvSpPr/>
          <p:nvPr/>
        </p:nvSpPr>
        <p:spPr>
          <a:xfrm>
            <a:off x="838367" y="5804443"/>
            <a:ext cx="7060078" cy="325625"/>
          </a:xfrm>
          <a:prstGeom prst="roundRect">
            <a:avLst>
              <a:gd name="adj" fmla="val 25862"/>
            </a:avLst>
          </a:prstGeom>
          <a:solidFill>
            <a:srgbClr val="FFFFFF"/>
          </a:solidFill>
          <a:ln w="10160">
            <a:solidFill>
              <a:srgbClr val="DDE4E6"/>
            </a:solidFill>
            <a:prstDash val="solid"/>
          </a:ln>
        </p:spPr>
        <p:txBody>
          <a:bodyPr/>
          <a:lstStyle/>
          <a:p>
            <a:endParaRPr lang="de-AT"/>
          </a:p>
        </p:txBody>
      </p:sp>
      <p:sp>
        <p:nvSpPr>
          <p:cNvPr id="34" name="Shape 24"/>
          <p:cNvSpPr/>
          <p:nvPr/>
        </p:nvSpPr>
        <p:spPr>
          <a:xfrm>
            <a:off x="839788" y="5804443"/>
            <a:ext cx="73053" cy="296597"/>
          </a:xfrm>
          <a:prstGeom prst="rect">
            <a:avLst/>
          </a:prstGeom>
          <a:solidFill>
            <a:srgbClr val="E4002B"/>
          </a:solidFill>
          <a:ln w="12700">
            <a:solidFill>
              <a:srgbClr val="E4002B"/>
            </a:solidFill>
            <a:prstDash val="solid"/>
          </a:ln>
        </p:spPr>
        <p:txBody>
          <a:bodyPr/>
          <a:lstStyle/>
          <a:p>
            <a:endParaRPr lang="de-AT"/>
          </a:p>
        </p:txBody>
      </p:sp>
      <p:sp>
        <p:nvSpPr>
          <p:cNvPr id="35" name="kpi:community_interest_action"/>
          <p:cNvSpPr/>
          <p:nvPr/>
        </p:nvSpPr>
        <p:spPr>
          <a:xfrm>
            <a:off x="1013619" y="5964595"/>
            <a:ext cx="6882199" cy="165473"/>
          </a:xfrm>
          <a:prstGeom prst="rect">
            <a:avLst/>
          </a:prstGeom>
          <a:noFill/>
          <a:ln/>
        </p:spPr>
        <p:txBody>
          <a:bodyPr wrap="square" lIns="0" tIns="0" rIns="0" bIns="0" rtlCol="0" anchor="ctr">
            <a:noAutofit/>
          </a:bodyPr>
          <a:lstStyle/>
          <a:p>
            <a:r>
              <a:rPr lang="en-US" sz="1100">
                <a:solidFill>
                  <a:srgbClr val="33393B"/>
                </a:solidFill>
                <a:ea typeface="Aptos" pitchFamily="34" charset="-122"/>
                <a:cs typeface="Aptos" pitchFamily="34" charset="-120"/>
              </a:rPr>
              <a:t>Position the community as a bridge between AI awareness, business value and hands-on enablement.</a:t>
            </a:r>
            <a:endParaRPr lang="en-US" sz="1100"/>
          </a:p>
          <a:p>
            <a:pPr marL="0" indent="0">
              <a:buNone/>
            </a:pPr>
            <a:endParaRPr lang="en-US" sz="1000"/>
          </a:p>
        </p:txBody>
      </p:sp>
      <p:sp>
        <p:nvSpPr>
          <p:cNvPr id="36" name="Shape 19"/>
          <p:cNvSpPr/>
          <p:nvPr/>
        </p:nvSpPr>
        <p:spPr>
          <a:xfrm>
            <a:off x="1013619" y="2295820"/>
            <a:ext cx="5445284" cy="3243326"/>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37" name="Text 20"/>
          <p:cNvSpPr/>
          <p:nvPr/>
        </p:nvSpPr>
        <p:spPr>
          <a:xfrm>
            <a:off x="1388246" y="2436316"/>
            <a:ext cx="5065776" cy="201168"/>
          </a:xfrm>
          <a:prstGeom prst="rect">
            <a:avLst/>
          </a:prstGeom>
          <a:noFill/>
          <a:ln/>
        </p:spPr>
        <p:txBody>
          <a:bodyPr wrap="square" lIns="0" tIns="0" rIns="0" bIns="0" rtlCol="0" anchor="ctr"/>
          <a:lstStyle/>
          <a:p>
            <a:pPr marL="0" indent="0">
              <a:buNone/>
            </a:pPr>
            <a:r>
              <a:rPr lang="en-US" sz="1200" b="1"/>
              <a:t>Interest Distribution</a:t>
            </a:r>
          </a:p>
        </p:txBody>
      </p:sp>
      <p:pic>
        <p:nvPicPr>
          <p:cNvPr id="8" name="chart:ai_interest_distribution"/>
          <p:cNvPicPr>
            <a:picLocks noChangeAspect="1"/>
          </p:cNvPicPr>
          <p:nvPr/>
        </p:nvPicPr>
        <p:blipFill>
          <a:blip r:embed="rId2"/>
          <a:stretch>
            <a:fillRect/>
          </a:stretch>
        </p:blipFill>
        <p:spPr>
          <a:xfrm>
            <a:off x="1468120" y="2634343"/>
            <a:ext cx="2795455" cy="2844803"/>
          </a:xfrm>
          <a:prstGeom prst="rect">
            <a:avLst/>
          </a:prstGeom>
        </p:spPr>
      </p:pic>
      <p:sp>
        <p:nvSpPr>
          <p:cNvPr id="38"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4" name="Titel 3"/>
          <p:cNvSpPr>
            <a:spLocks noGrp="1"/>
          </p:cNvSpPr>
          <p:nvPr/>
        </p:nvSpPr>
        <p:spPr>
          <a:xfrm>
            <a:off x="839788" y="654939"/>
            <a:ext cx="10514012" cy="1072601"/>
          </a:xfrm>
          <a:prstGeom prst="rect">
            <a:avLst/>
          </a:prstGeom>
        </p:spPr>
        <p:txBody>
          <a:bodyPr/>
          <a:lstStyle/>
          <a:p>
            <a:r>
              <a:rPr lang="en-US" sz="3600" noProof="0">
                <a:solidFill>
                  <a:srgbClr val="F2F3F6"/>
                </a:solidFill>
              </a:rPr>
              <a:t>Data &amp; AI Community Events</a:t>
            </a:r>
            <a:br>
              <a:rPr lang="en-US" noProof="0">
                <a:solidFill>
                  <a:srgbClr val="E8ECF4"/>
                </a:solidFill>
              </a:rPr>
            </a:br>
            <a:r>
              <a:rPr lang="en-US" sz="2200" noProof="0">
                <a:solidFill>
                  <a:srgbClr val="A6ADAF"/>
                </a:solidFill>
              </a:rPr>
              <a:t>Strong engagement across four Data &amp; AI community events</a:t>
            </a:r>
            <a:br>
              <a:rPr lang="en-US" sz="2400" noProof="0">
                <a:solidFill>
                  <a:srgbClr val="A6ADAF"/>
                </a:solidFill>
              </a:rPr>
            </a:br>
            <a:endParaRPr lang="en-US" sz="2400" noProof="0">
              <a:solidFill>
                <a:srgbClr val="A6ADAF"/>
              </a:solidFill>
            </a:endParaRPr>
          </a:p>
        </p:txBody>
      </p:sp>
      <p:sp>
        <p:nvSpPr>
          <p:cNvPr id="6" name="Fußzeilenplatzhalter 5"/>
          <p:cNvSpPr>
            <a:spLocks noGrp="1"/>
          </p:cNvSpPr>
          <p:nvPr/>
        </p:nvSpPr>
        <p:spPr>
          <a:xfrm>
            <a:off x="1466850" y="6587737"/>
            <a:ext cx="6953250" cy="18466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aa1b2"/>
                </a:solidFill>
                <a:effectLst/>
                <a:uLnTx/>
                <a:uFillTx/>
                <a:latin typeface="Roboto Light"/>
                <a:ea typeface="+mn-ea"/>
                <a:cs typeface="+mn-cs"/>
              </a:rPr>
              <a:t>Data &amp; AI @ Contoso</a:t>
            </a:r>
          </a:p>
        </p:txBody>
      </p:sp>
      <p:sp>
        <p:nvSpPr>
          <p:cNvPr id="7" name="Foliennummernplatzhalter 6"/>
          <p:cNvSpPr>
            <a:spLocks noGrp="1"/>
          </p:cNvSpPr>
          <p:nvPr/>
        </p:nvSpPr>
        <p:spPr>
          <a:xfrm>
            <a:off x="839788" y="6587737"/>
            <a:ext cx="347662" cy="18466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4E38502-06D2-4E51-82FE-464E052045F9}" type="slidenum">
              <a:rPr kumimoji="0" lang="en-US" sz="1200" b="0" i="0" u="none" strike="noStrike" kern="1200" cap="none" spc="0" normalizeH="0" baseline="0" noProof="0" smtClean="0">
                <a:ln>
                  <a:noFill/>
                </a:ln>
                <a:solidFill>
                  <a:srgbClr val="E8ECF4"/>
                </a:solidFill>
                <a:effectLst/>
                <a:uLnTx/>
                <a:uFillTx/>
                <a:latin typeface="Roboto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srgbClr val="E8ECF4"/>
              </a:solidFill>
              <a:effectLst/>
              <a:uLnTx/>
              <a:uFillTx/>
              <a:latin typeface="Roboto Light"/>
              <a:ea typeface="+mn-ea"/>
              <a:cs typeface="+mn-cs"/>
            </a:endParaRPr>
          </a:p>
        </p:txBody>
      </p:sp>
      <p:sp>
        <p:nvSpPr>
          <p:cNvPr id="5" name="Textplatzhalter 4"/>
          <p:cNvSpPr>
            <a:spLocks noGrp="1"/>
          </p:cNvSpPr>
          <p:nvPr/>
        </p:nvSpPr>
        <p:spPr>
          <a:xfrm>
            <a:off x="839788" y="6138665"/>
            <a:ext cx="10514012" cy="263149"/>
          </a:xfrm>
          <a:prstGeom prst="rect">
            <a:avLst/>
          </a:prstGeom>
        </p:spPr>
        <p:txBody>
          <a:bodyPr/>
          <a:lstStyle/>
          <a:p>
            <a:endParaRPr lang="en-US" noProof="0"/>
          </a:p>
        </p:txBody>
      </p:sp>
      <p:grpSp>
        <p:nvGrpSpPr>
          <p:cNvPr id="47" name="Group 46"/>
          <p:cNvGrpSpPr/>
          <p:nvPr/>
        </p:nvGrpSpPr>
        <p:grpSpPr>
          <a:xfrm>
            <a:off x="1466850" y="1858345"/>
            <a:ext cx="8677656" cy="868680"/>
            <a:chOff x="1306068" y="1858345"/>
            <a:chExt cx="8677656" cy="868680"/>
          </a:xfrm>
        </p:grpSpPr>
        <p:sp>
          <p:nvSpPr>
            <p:cNvPr id="10" name="Shape 4"/>
            <p:cNvSpPr/>
            <p:nvPr/>
          </p:nvSpPr>
          <p:spPr>
            <a:xfrm>
              <a:off x="1306068"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1" name="kpi:events_count"/>
            <p:cNvSpPr/>
            <p:nvPr/>
          </p:nvSpPr>
          <p:spPr>
            <a:xfrm>
              <a:off x="1443228"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E4002B"/>
                  </a:solidFill>
                  <a:ea typeface="Aptos Display" pitchFamily="34" charset="-122"/>
                  <a:cs typeface="Aptos Display" pitchFamily="34" charset="-120"/>
                </a:rPr>
                <a:t>4</a:t>
              </a:r>
              <a:endParaRPr lang="en-US" sz="2400" b="1"/>
            </a:p>
          </p:txBody>
        </p:sp>
        <p:sp>
          <p:nvSpPr>
            <p:cNvPr id="12" name="Text 6"/>
            <p:cNvSpPr/>
            <p:nvPr/>
          </p:nvSpPr>
          <p:spPr>
            <a:xfrm>
              <a:off x="1379220" y="2379553"/>
              <a:ext cx="1865376" cy="182880"/>
            </a:xfrm>
            <a:prstGeom prst="rect">
              <a:avLst/>
            </a:prstGeom>
            <a:noFill/>
            <a:ln/>
          </p:spPr>
          <p:txBody>
            <a:bodyPr wrap="square" lIns="0" tIns="0" rIns="0" bIns="0" rtlCol="0" anchor="ctr">
              <a:normAutofit/>
            </a:bodyPr>
            <a:lstStyle/>
            <a:p>
              <a:pPr marL="0" indent="0" algn="ctr">
                <a:buNone/>
              </a:pPr>
              <a:r>
                <a:rPr lang="en-US" sz="950" b="1">
                  <a:solidFill>
                    <a:srgbClr val="7A8285"/>
                  </a:solidFill>
                  <a:ea typeface="Aptos" pitchFamily="34" charset="-122"/>
                  <a:cs typeface="Aptos" pitchFamily="34" charset="-120"/>
                </a:rPr>
                <a:t>Events</a:t>
              </a:r>
              <a:endParaRPr lang="en-US" sz="950" b="1"/>
            </a:p>
          </p:txBody>
        </p:sp>
        <p:grpSp>
          <p:nvGrpSpPr>
            <p:cNvPr id="46" name="Group 45"/>
            <p:cNvGrpSpPr/>
            <p:nvPr/>
          </p:nvGrpSpPr>
          <p:grpSpPr>
            <a:xfrm>
              <a:off x="3528060" y="1858345"/>
              <a:ext cx="6455664" cy="868680"/>
              <a:chOff x="3528060" y="1858345"/>
              <a:chExt cx="6455664" cy="868680"/>
            </a:xfrm>
          </p:grpSpPr>
          <p:sp>
            <p:nvSpPr>
              <p:cNvPr id="13" name="Shape 7"/>
              <p:cNvSpPr/>
              <p:nvPr/>
            </p:nvSpPr>
            <p:spPr>
              <a:xfrm>
                <a:off x="3528060"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4" name="kpi:events_total_participants"/>
              <p:cNvSpPr/>
              <p:nvPr/>
            </p:nvSpPr>
            <p:spPr>
              <a:xfrm>
                <a:off x="3665220"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8C3A62"/>
                    </a:solidFill>
                    <a:ea typeface="Aptos Display" pitchFamily="34" charset="-122"/>
                    <a:cs typeface="Aptos Display" pitchFamily="34" charset="-120"/>
                  </a:rPr>
                  <a:t>1.45K</a:t>
                </a:r>
                <a:endParaRPr lang="en-US" sz="2400" b="1">
                  <a:solidFill>
                    <a:srgbClr val="8C3A62"/>
                  </a:solidFill>
                </a:endParaRPr>
              </a:p>
            </p:txBody>
          </p:sp>
          <p:sp>
            <p:nvSpPr>
              <p:cNvPr id="15" name="Text 9"/>
              <p:cNvSpPr/>
              <p:nvPr/>
            </p:nvSpPr>
            <p:spPr>
              <a:xfrm>
                <a:off x="3601212" y="2379553"/>
                <a:ext cx="1865376" cy="182880"/>
              </a:xfrm>
              <a:prstGeom prst="rect">
                <a:avLst/>
              </a:prstGeom>
              <a:noFill/>
              <a:ln/>
            </p:spPr>
            <p:txBody>
              <a:bodyPr wrap="square" lIns="0" tIns="0" rIns="0" bIns="0" rtlCol="0" anchor="ctr">
                <a:normAutofit/>
              </a:bodyPr>
              <a:lstStyle/>
              <a:p>
                <a:pPr marL="0" indent="0" algn="ctr">
                  <a:buNone/>
                </a:pPr>
                <a:r>
                  <a:rPr lang="en-US" sz="950" b="1">
                    <a:solidFill>
                      <a:srgbClr val="7A8285"/>
                    </a:solidFill>
                    <a:ea typeface="Aptos" pitchFamily="34" charset="-122"/>
                    <a:cs typeface="Aptos" pitchFamily="34" charset="-120"/>
                  </a:rPr>
                  <a:t>Total participants</a:t>
                </a:r>
                <a:endParaRPr lang="en-US" sz="950" b="1"/>
              </a:p>
            </p:txBody>
          </p:sp>
          <p:grpSp>
            <p:nvGrpSpPr>
              <p:cNvPr id="45" name="Group 44"/>
              <p:cNvGrpSpPr/>
              <p:nvPr/>
            </p:nvGrpSpPr>
            <p:grpSpPr>
              <a:xfrm>
                <a:off x="5750052" y="1858345"/>
                <a:ext cx="4233672" cy="868680"/>
                <a:chOff x="5750052" y="1858345"/>
                <a:chExt cx="4233672" cy="868680"/>
              </a:xfrm>
            </p:grpSpPr>
            <p:sp>
              <p:nvSpPr>
                <p:cNvPr id="16" name="Shape 10"/>
                <p:cNvSpPr/>
                <p:nvPr/>
              </p:nvSpPr>
              <p:spPr>
                <a:xfrm>
                  <a:off x="5750052"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7" name="kpi:events_unique_participants"/>
                <p:cNvSpPr/>
                <p:nvPr/>
              </p:nvSpPr>
              <p:spPr>
                <a:xfrm>
                  <a:off x="5887212"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0D8492"/>
                      </a:solidFill>
                      <a:ea typeface="Aptos Display" pitchFamily="34" charset="-122"/>
                      <a:cs typeface="Aptos Display" pitchFamily="34" charset="-120"/>
                    </a:rPr>
                    <a:t>722</a:t>
                  </a:r>
                  <a:endParaRPr lang="en-US" sz="2400" b="1">
                    <a:solidFill>
                      <a:srgbClr val="0D8492"/>
                    </a:solidFill>
                  </a:endParaRPr>
                </a:p>
              </p:txBody>
            </p:sp>
            <p:sp>
              <p:nvSpPr>
                <p:cNvPr id="18" name="Text 12"/>
                <p:cNvSpPr/>
                <p:nvPr/>
              </p:nvSpPr>
              <p:spPr>
                <a:xfrm>
                  <a:off x="5823204" y="2379553"/>
                  <a:ext cx="1865376" cy="182880"/>
                </a:xfrm>
                <a:prstGeom prst="rect">
                  <a:avLst/>
                </a:prstGeom>
                <a:noFill/>
                <a:ln/>
              </p:spPr>
              <p:txBody>
                <a:bodyPr wrap="square" lIns="0" tIns="0" rIns="0" bIns="0" rtlCol="0" anchor="ctr">
                  <a:normAutofit/>
                </a:bodyPr>
                <a:lstStyle/>
                <a:p>
                  <a:pPr marL="0" indent="0" algn="ctr">
                    <a:buNone/>
                  </a:pPr>
                  <a:r>
                    <a:rPr lang="en-US" sz="950" b="1">
                      <a:solidFill>
                        <a:srgbClr val="7A8285"/>
                      </a:solidFill>
                      <a:ea typeface="Aptos" pitchFamily="34" charset="-122"/>
                      <a:cs typeface="Aptos" pitchFamily="34" charset="-120"/>
                    </a:rPr>
                    <a:t>Unique participants</a:t>
                  </a:r>
                  <a:endParaRPr lang="en-US" sz="950" b="1"/>
                </a:p>
              </p:txBody>
            </p:sp>
            <p:grpSp>
              <p:nvGrpSpPr>
                <p:cNvPr id="44" name="Group 43"/>
                <p:cNvGrpSpPr/>
                <p:nvPr/>
              </p:nvGrpSpPr>
              <p:grpSpPr>
                <a:xfrm>
                  <a:off x="7972044" y="1858345"/>
                  <a:ext cx="2011680" cy="868680"/>
                  <a:chOff x="7972044" y="1858345"/>
                  <a:chExt cx="2011680" cy="868680"/>
                </a:xfrm>
              </p:grpSpPr>
              <p:sp>
                <p:nvSpPr>
                  <p:cNvPr id="19" name="Shape 13"/>
                  <p:cNvSpPr/>
                  <p:nvPr/>
                </p:nvSpPr>
                <p:spPr>
                  <a:xfrm>
                    <a:off x="7972044"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20" name="kpi:events_speakers"/>
                  <p:cNvSpPr/>
                  <p:nvPr/>
                </p:nvSpPr>
                <p:spPr>
                  <a:xfrm>
                    <a:off x="8109204" y="2004649"/>
                    <a:ext cx="1737360" cy="310896"/>
                  </a:xfrm>
                  <a:prstGeom prst="rect">
                    <a:avLst/>
                  </a:prstGeom>
                  <a:noFill/>
                  <a:ln/>
                </p:spPr>
                <p:txBody>
                  <a:bodyPr wrap="square" lIns="0" tIns="0" rIns="0" bIns="0" rtlCol="0" anchor="ctr">
                    <a:normAutofit/>
                  </a:bodyPr>
                  <a:lstStyle/>
                  <a:p>
                    <a:pPr algn="ctr"/>
                    <a:r>
                      <a:rPr lang="en-US" sz="2000" b="1">
                        <a:solidFill>
                          <a:srgbClr val="AC3A4F"/>
                        </a:solidFill>
                        <a:ea typeface="Aptos Display" pitchFamily="34" charset="-122"/>
                        <a:cs typeface="Aptos Display" pitchFamily="34" charset="-120"/>
                      </a:rPr>
                      <a:t>11 </a:t>
                    </a:r>
                    <a:endParaRPr lang="en-US" sz="2000" b="1">
                      <a:solidFill>
                        <a:srgbClr val="AC3A4F"/>
                      </a:solidFill>
                    </a:endParaRPr>
                  </a:p>
                </p:txBody>
              </p:sp>
              <p:sp>
                <p:nvSpPr>
                  <p:cNvPr id="21" name="Text 15"/>
                  <p:cNvSpPr/>
                  <p:nvPr/>
                </p:nvSpPr>
                <p:spPr>
                  <a:xfrm>
                    <a:off x="8045196" y="2379553"/>
                    <a:ext cx="1865376" cy="182880"/>
                  </a:xfrm>
                  <a:prstGeom prst="rect">
                    <a:avLst/>
                  </a:prstGeom>
                  <a:noFill/>
                  <a:ln/>
                </p:spPr>
                <p:txBody>
                  <a:bodyPr wrap="square" lIns="0" tIns="0" rIns="0" bIns="0" rtlCol="0" anchor="ctr">
                    <a:normAutofit/>
                  </a:bodyPr>
                  <a:lstStyle/>
                  <a:p>
                    <a:pPr algn="ctr"/>
                    <a:r>
                      <a:rPr lang="en-US" sz="950" b="1">
                        <a:solidFill>
                          <a:srgbClr val="7A8285"/>
                        </a:solidFill>
                        <a:ea typeface="Roboto Light"/>
                        <a:cs typeface="Roboto Light"/>
                      </a:rPr>
                      <a:t>Speakers</a:t>
                    </a:r>
                  </a:p>
                </p:txBody>
              </p:sp>
            </p:grpSp>
          </p:grpSp>
        </p:grpSp>
      </p:grpSp>
      <p:sp>
        <p:nvSpPr>
          <p:cNvPr id="23" name="Shape 19"/>
          <p:cNvSpPr/>
          <p:nvPr/>
        </p:nvSpPr>
        <p:spPr>
          <a:xfrm>
            <a:off x="896049" y="2916365"/>
            <a:ext cx="4835358" cy="2501469"/>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24" name="Text 20"/>
          <p:cNvSpPr/>
          <p:nvPr/>
        </p:nvSpPr>
        <p:spPr>
          <a:xfrm>
            <a:off x="1443228" y="3184381"/>
            <a:ext cx="5065776" cy="201168"/>
          </a:xfrm>
          <a:prstGeom prst="rect">
            <a:avLst/>
          </a:prstGeom>
          <a:noFill/>
          <a:ln/>
        </p:spPr>
        <p:txBody>
          <a:bodyPr wrap="square" lIns="0" tIns="0" rIns="0" bIns="0" rtlCol="0" anchor="ctr"/>
          <a:lstStyle/>
          <a:p>
            <a:pPr marL="0" indent="0">
              <a:buNone/>
            </a:pPr>
            <a:r>
              <a:rPr lang="en-US" sz="1200" b="1">
                <a:solidFill>
                  <a:srgbClr val="33393B"/>
                </a:solidFill>
                <a:ea typeface="Aptos" pitchFamily="34" charset="-122"/>
                <a:cs typeface="Aptos" pitchFamily="34" charset="-120"/>
              </a:rPr>
              <a:t>Participants per event</a:t>
            </a:r>
            <a:endParaRPr lang="en-US" sz="1200">
              <a:ea typeface="Roboto Light"/>
              <a:cs typeface="Roboto Light"/>
            </a:endParaRPr>
          </a:p>
        </p:txBody>
      </p:sp>
      <p:sp>
        <p:nvSpPr>
          <p:cNvPr id="33" name="Shape 21"/>
          <p:cNvSpPr/>
          <p:nvPr/>
        </p:nvSpPr>
        <p:spPr>
          <a:xfrm>
            <a:off x="5926830" y="2916904"/>
            <a:ext cx="4811028" cy="2503341"/>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lIns="91440" tIns="45720" rIns="91440" bIns="45720" anchor="t"/>
          <a:lstStyle/>
          <a:p>
            <a:pPr>
              <a:buFont typeface=""/>
              <a:buChar char="•"/>
            </a:pPr>
            <a:endParaRPr lang="en-US"/>
          </a:p>
          <a:p>
            <a:pPr>
              <a:buFont typeface=""/>
              <a:buChar char="•"/>
            </a:pPr>
            <a:endParaRPr lang="en-US"/>
          </a:p>
          <a:p>
            <a:pPr>
              <a:buFont typeface=""/>
              <a:buChar char="•"/>
            </a:pPr>
            <a:r>
              <a:rPr lang="en-US" sz="1200"/>
              <a:t>Focus on </a:t>
            </a:r>
            <a:r>
              <a:rPr lang="en-US" sz="1200" b="1"/>
              <a:t>strategy, governance, academy, platform, and AI use cases</a:t>
            </a:r>
            <a:r>
              <a:rPr lang="en-US" sz="1200"/>
              <a:t> </a:t>
            </a:r>
            <a:endParaRPr lang="en-US" sz="1200">
              <a:ea typeface="Roboto Light"/>
              <a:cs typeface="Roboto Light"/>
            </a:endParaRPr>
          </a:p>
          <a:p>
            <a:endParaRPr lang="en-US" sz="1200">
              <a:ea typeface="Roboto Light"/>
              <a:cs typeface="Roboto Light"/>
            </a:endParaRPr>
          </a:p>
          <a:p>
            <a:pPr>
              <a:buFont typeface=""/>
              <a:buChar char="•"/>
            </a:pPr>
            <a:r>
              <a:rPr lang="en-US" sz="1200"/>
              <a:t>Showcased practical use cases: </a:t>
            </a:r>
            <a:r>
              <a:rPr lang="en-US" sz="1200" b="1"/>
              <a:t>Fraud Detection, Underwriting Assistant, Sales Call Assistant, Contract Review Tool, </a:t>
            </a:r>
            <a:r>
              <a:rPr lang="en-US" sz="1200" b="1" err="1"/>
              <a:t>Data</a:t>
            </a:r>
            <a:r>
              <a:rPr lang="en-US" sz="1200" b="1"/>
              <a:t> Wiki</a:t>
            </a:r>
            <a:endParaRPr lang="en-US" sz="1200" b="1">
              <a:ea typeface="Roboto Light"/>
              <a:cs typeface="Roboto Light"/>
            </a:endParaRPr>
          </a:p>
          <a:p>
            <a:pPr>
              <a:buFont typeface=""/>
              <a:buChar char="•"/>
            </a:pPr>
            <a:endParaRPr lang="en-US" sz="1200" b="1">
              <a:ea typeface="+mn-lt"/>
              <a:cs typeface="+mn-lt"/>
            </a:endParaRPr>
          </a:p>
          <a:p>
            <a:pPr>
              <a:buFont typeface=""/>
              <a:buChar char="•"/>
            </a:pPr>
            <a:r>
              <a:rPr lang="en-US" sz="1200">
                <a:ea typeface="+mn-lt"/>
                <a:cs typeface="+mn-lt"/>
              </a:rPr>
              <a:t>Included speakers from </a:t>
            </a:r>
            <a:r>
              <a:rPr lang="en-US" sz="1200" b="1">
                <a:ea typeface="+mn-lt"/>
                <a:cs typeface="+mn-lt"/>
              </a:rPr>
              <a:t>Contoso, LITWARE, WOODGROVE, ADATUM, and Databricks</a:t>
            </a:r>
            <a:endParaRPr lang="en-US" sz="1200" b="1">
              <a:ea typeface="Roboto Light"/>
              <a:cs typeface="Roboto Light"/>
            </a:endParaRPr>
          </a:p>
        </p:txBody>
      </p:sp>
      <p:sp>
        <p:nvSpPr>
          <p:cNvPr id="34" name="Text 22"/>
          <p:cNvSpPr/>
          <p:nvPr/>
        </p:nvSpPr>
        <p:spPr>
          <a:xfrm>
            <a:off x="6292004" y="3181805"/>
            <a:ext cx="5065776" cy="201168"/>
          </a:xfrm>
          <a:prstGeom prst="rect">
            <a:avLst/>
          </a:prstGeom>
          <a:noFill/>
          <a:ln/>
        </p:spPr>
        <p:txBody>
          <a:bodyPr wrap="square" lIns="0" tIns="0" rIns="0" bIns="0" rtlCol="0" anchor="ctr"/>
          <a:lstStyle/>
          <a:p>
            <a:r>
              <a:rPr lang="en-US" sz="1200" b="1">
                <a:solidFill>
                  <a:srgbClr val="33393B"/>
                </a:solidFill>
                <a:ea typeface="Roboto Light"/>
                <a:cs typeface="Roboto Light"/>
              </a:rPr>
              <a:t>Community Events Topics</a:t>
            </a:r>
          </a:p>
        </p:txBody>
      </p:sp>
      <p:sp>
        <p:nvSpPr>
          <p:cNvPr id="38" name="Shape 23"/>
          <p:cNvSpPr/>
          <p:nvPr/>
        </p:nvSpPr>
        <p:spPr>
          <a:xfrm>
            <a:off x="863212" y="5804443"/>
            <a:ext cx="7406773" cy="296597"/>
          </a:xfrm>
          <a:prstGeom prst="roundRect">
            <a:avLst>
              <a:gd name="adj" fmla="val 25862"/>
            </a:avLst>
          </a:prstGeom>
          <a:solidFill>
            <a:srgbClr val="FFFFFF"/>
          </a:solidFill>
          <a:ln w="10160">
            <a:solidFill>
              <a:srgbClr val="DDE4E6"/>
            </a:solidFill>
            <a:prstDash val="solid"/>
          </a:ln>
        </p:spPr>
        <p:txBody>
          <a:bodyPr/>
          <a:lstStyle/>
          <a:p>
            <a:endParaRPr lang="de-AT" sz="2000"/>
          </a:p>
        </p:txBody>
      </p:sp>
      <p:sp>
        <p:nvSpPr>
          <p:cNvPr id="39" name="Shape 24"/>
          <p:cNvSpPr/>
          <p:nvPr/>
        </p:nvSpPr>
        <p:spPr>
          <a:xfrm>
            <a:off x="863213" y="5797217"/>
            <a:ext cx="73053" cy="296597"/>
          </a:xfrm>
          <a:prstGeom prst="rect">
            <a:avLst/>
          </a:prstGeom>
          <a:solidFill>
            <a:srgbClr val="E4002B"/>
          </a:solidFill>
          <a:ln w="12700">
            <a:solidFill>
              <a:srgbClr val="E4002B"/>
            </a:solidFill>
            <a:prstDash val="solid"/>
          </a:ln>
        </p:spPr>
        <p:txBody>
          <a:bodyPr/>
          <a:lstStyle/>
          <a:p>
            <a:endParaRPr lang="de-AT"/>
          </a:p>
        </p:txBody>
      </p:sp>
      <p:sp>
        <p:nvSpPr>
          <p:cNvPr id="40" name="Text 25"/>
          <p:cNvSpPr/>
          <p:nvPr/>
        </p:nvSpPr>
        <p:spPr>
          <a:xfrm>
            <a:off x="1030105" y="5884549"/>
            <a:ext cx="9907761" cy="121931"/>
          </a:xfrm>
          <a:prstGeom prst="rect">
            <a:avLst/>
          </a:prstGeom>
          <a:noFill/>
          <a:ln/>
        </p:spPr>
        <p:txBody>
          <a:bodyPr wrap="square" lIns="0" tIns="0" rIns="0" bIns="0" rtlCol="0" anchor="ctr">
            <a:noAutofit/>
          </a:bodyPr>
          <a:lstStyle/>
          <a:p>
            <a:pPr marL="0" indent="0">
              <a:buNone/>
            </a:pPr>
            <a:r>
              <a:rPr lang="en-US" sz="1400">
                <a:solidFill>
                  <a:srgbClr val="33393B"/>
                </a:solidFill>
                <a:ea typeface="Aptos" pitchFamily="34" charset="-122"/>
                <a:cs typeface="Aptos" pitchFamily="34" charset="-120"/>
              </a:rPr>
              <a:t>Consistent event engagement shows that Data &amp; AI topics are relevant beyond group</a:t>
            </a:r>
            <a:endParaRPr lang="en-US" sz="1400">
              <a:ea typeface="Roboto Light"/>
              <a:cs typeface="Roboto Light"/>
            </a:endParaRPr>
          </a:p>
        </p:txBody>
      </p:sp>
      <p:pic>
        <p:nvPicPr>
          <p:cNvPr id="9" name="chart:events_participants_per_event"/>
          <p:cNvPicPr>
            <a:picLocks noChangeAspect="1"/>
          </p:cNvPicPr>
          <p:nvPr/>
        </p:nvPicPr>
        <p:blipFill>
          <a:blip r:embed="rId2"/>
          <a:stretch>
            <a:fillRect/>
          </a:stretch>
        </p:blipFill>
        <p:spPr>
          <a:xfrm>
            <a:off x="1187451" y="3390728"/>
            <a:ext cx="4083962" cy="1944723"/>
          </a:xfrm>
          <a:prstGeom prst="rect">
            <a:avLst/>
          </a:prstGeom>
        </p:spPr>
      </p:pic>
      <p:sp>
        <p:nvSpPr>
          <p:cNvPr id="48"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4" name="Titel 3"/>
          <p:cNvSpPr>
            <a:spLocks noGrp="1"/>
          </p:cNvSpPr>
          <p:nvPr/>
        </p:nvSpPr>
        <p:spPr>
          <a:xfrm>
            <a:off x="839788" y="654939"/>
            <a:ext cx="10514012" cy="1386533"/>
          </a:xfrm>
          <a:prstGeom prst="rect">
            <a:avLst/>
          </a:prstGeom>
        </p:spPr>
        <p:txBody>
          <a:bodyPr/>
          <a:lstStyle/>
          <a:p>
            <a:r>
              <a:rPr lang="de-AT" sz="3600">
                <a:solidFill>
                  <a:srgbClr val="788082"/>
                </a:solidFill>
                <a:latin typeface="+mn-lt"/>
              </a:rPr>
              <a:t>Data &amp; AI Events </a:t>
            </a:r>
            <a:r>
              <a:rPr lang="de-AT" sz="3600" err="1">
                <a:solidFill>
                  <a:srgbClr val="788082"/>
                </a:solidFill>
                <a:latin typeface="+mn-lt"/>
              </a:rPr>
              <a:t>Participation</a:t>
            </a:r>
            <a:r>
              <a:rPr lang="de-AT" sz="3600">
                <a:solidFill>
                  <a:srgbClr val="788082"/>
                </a:solidFill>
                <a:latin typeface="+mn-lt"/>
              </a:rPr>
              <a:t> </a:t>
            </a:r>
            <a:r>
              <a:rPr lang="de-AT" sz="3600" err="1">
                <a:solidFill>
                  <a:srgbClr val="788082"/>
                </a:solidFill>
                <a:latin typeface="+mn-lt"/>
              </a:rPr>
              <a:t>Overview</a:t>
            </a:r>
            <a:br>
              <a:rPr lang="de-AT">
                <a:solidFill>
                  <a:srgbClr val="788082"/>
                </a:solidFill>
                <a:latin typeface="+mn-lt"/>
              </a:rPr>
            </a:br>
            <a:r>
              <a:rPr lang="en-US" sz="2200">
                <a:solidFill>
                  <a:schemeClr val="accent1"/>
                </a:solidFill>
                <a:latin typeface="+mn-lt"/>
              </a:rPr>
              <a:t>Shown as % of total headcount to compare reach across countries and companies</a:t>
            </a:r>
            <a:br>
              <a:rPr lang="en-US" sz="2400">
                <a:solidFill>
                  <a:srgbClr val="E8ECF4"/>
                </a:solidFill>
                <a:latin typeface="Arial"/>
              </a:rPr>
            </a:br>
            <a:br>
              <a:rPr lang="en-US" sz="2400" noProof="0">
                <a:solidFill>
                  <a:srgbClr val="A6ADAF"/>
                </a:solidFill>
                <a:latin typeface="+mn-lt"/>
              </a:rPr>
            </a:br>
            <a:endParaRPr lang="en-US" sz="2400" noProof="0">
              <a:solidFill>
                <a:srgbClr val="A6ADAF"/>
              </a:solidFill>
              <a:latin typeface="+mn-lt"/>
            </a:endParaRPr>
          </a:p>
        </p:txBody>
      </p:sp>
      <p:sp>
        <p:nvSpPr>
          <p:cNvPr id="6" name="Fußzeilenplatzhalter 5"/>
          <p:cNvSpPr>
            <a:spLocks noGrp="1"/>
          </p:cNvSpPr>
          <p:nvPr/>
        </p:nvSpPr>
        <p:spPr>
          <a:xfrm>
            <a:off x="1466850" y="6587737"/>
            <a:ext cx="6953250" cy="18466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aa1b2"/>
                </a:solidFill>
                <a:effectLst/>
                <a:uLnTx/>
                <a:uFillTx/>
                <a:latin typeface="Roboto Light"/>
                <a:ea typeface="+mn-ea"/>
                <a:cs typeface="+mn-cs"/>
              </a:rPr>
              <a:t>Data &amp; AI @ Contoso</a:t>
            </a:r>
          </a:p>
        </p:txBody>
      </p:sp>
      <p:sp>
        <p:nvSpPr>
          <p:cNvPr id="7" name="Foliennummernplatzhalter 6"/>
          <p:cNvSpPr>
            <a:spLocks noGrp="1"/>
          </p:cNvSpPr>
          <p:nvPr/>
        </p:nvSpPr>
        <p:spPr>
          <a:xfrm>
            <a:off x="839788" y="6587737"/>
            <a:ext cx="347662" cy="18466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4E38502-06D2-4E51-82FE-464E052045F9}" type="slidenum">
              <a:rPr kumimoji="0" lang="en-US" sz="1200" b="0" i="0" u="none" strike="noStrike" kern="1200" cap="none" spc="0" normalizeH="0" baseline="0" noProof="0" smtClean="0">
                <a:ln>
                  <a:noFill/>
                </a:ln>
                <a:solidFill>
                  <a:srgbClr val="E8ECF4"/>
                </a:solidFill>
                <a:effectLst/>
                <a:uLnTx/>
                <a:uFillTx/>
                <a:latin typeface="Roboto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srgbClr val="E8ECF4"/>
              </a:solidFill>
              <a:effectLst/>
              <a:uLnTx/>
              <a:uFillTx/>
              <a:latin typeface="Roboto Light"/>
              <a:ea typeface="+mn-ea"/>
              <a:cs typeface="+mn-cs"/>
            </a:endParaRPr>
          </a:p>
        </p:txBody>
      </p:sp>
      <p:sp>
        <p:nvSpPr>
          <p:cNvPr id="5" name="Textplatzhalter 4"/>
          <p:cNvSpPr>
            <a:spLocks noGrp="1"/>
          </p:cNvSpPr>
          <p:nvPr/>
        </p:nvSpPr>
        <p:spPr>
          <a:xfrm>
            <a:off x="839788" y="6138665"/>
            <a:ext cx="10514012" cy="263149"/>
          </a:xfrm>
          <a:prstGeom prst="rect">
            <a:avLst/>
          </a:prstGeom>
        </p:spPr>
        <p:txBody>
          <a:bodyPr/>
          <a:lstStyle/>
          <a:p>
            <a:endParaRPr lang="en-US" noProof="0"/>
          </a:p>
        </p:txBody>
      </p:sp>
      <p:sp>
        <p:nvSpPr>
          <p:cNvPr id="23" name="Shape 19"/>
          <p:cNvSpPr/>
          <p:nvPr/>
        </p:nvSpPr>
        <p:spPr>
          <a:xfrm>
            <a:off x="896049" y="2916365"/>
            <a:ext cx="4835358" cy="2501469"/>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24" name="Text 20"/>
          <p:cNvSpPr/>
          <p:nvPr/>
        </p:nvSpPr>
        <p:spPr>
          <a:xfrm>
            <a:off x="1443228" y="3184381"/>
            <a:ext cx="5065776" cy="201168"/>
          </a:xfrm>
          <a:prstGeom prst="rect">
            <a:avLst/>
          </a:prstGeom>
          <a:noFill/>
          <a:ln/>
        </p:spPr>
        <p:txBody>
          <a:bodyPr wrap="square" lIns="0" tIns="0" rIns="0" bIns="0" rtlCol="0" anchor="ctr"/>
          <a:lstStyle/>
          <a:p>
            <a:r>
              <a:rPr lang="en-US" sz="1200" b="1">
                <a:solidFill>
                  <a:srgbClr val="2D373C"/>
                </a:solidFill>
              </a:rPr>
              <a:t>Participation % of Total Headcount by Country</a:t>
            </a:r>
          </a:p>
          <a:p>
            <a:pPr marL="0" indent="0">
              <a:buNone/>
            </a:pPr>
            <a:endParaRPr lang="en-US" sz="1200">
              <a:ea typeface="Roboto Light"/>
              <a:cs typeface="Roboto Light"/>
            </a:endParaRPr>
          </a:p>
        </p:txBody>
      </p:sp>
      <p:sp>
        <p:nvSpPr>
          <p:cNvPr id="33" name="Shape 21"/>
          <p:cNvSpPr/>
          <p:nvPr/>
        </p:nvSpPr>
        <p:spPr>
          <a:xfrm>
            <a:off x="5926830" y="2916904"/>
            <a:ext cx="4811028" cy="2503341"/>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lIns="91440" tIns="45720" rIns="91440" bIns="45720" anchor="t"/>
          <a:lstStyle/>
          <a:p>
            <a:pPr>
              <a:buFont typeface=""/>
              <a:buChar char="•"/>
            </a:pPr>
            <a:endParaRPr lang="en-US"/>
          </a:p>
          <a:p>
            <a:endParaRPr lang="en-US"/>
          </a:p>
        </p:txBody>
      </p:sp>
      <p:sp>
        <p:nvSpPr>
          <p:cNvPr id="34" name="Text 22"/>
          <p:cNvSpPr/>
          <p:nvPr/>
        </p:nvSpPr>
        <p:spPr>
          <a:xfrm>
            <a:off x="6292004" y="3181805"/>
            <a:ext cx="5065776" cy="201168"/>
          </a:xfrm>
          <a:prstGeom prst="rect">
            <a:avLst/>
          </a:prstGeom>
          <a:noFill/>
          <a:ln/>
        </p:spPr>
        <p:txBody>
          <a:bodyPr wrap="square" lIns="0" tIns="0" rIns="0" bIns="0" rtlCol="0" anchor="ctr"/>
          <a:lstStyle/>
          <a:p>
            <a:r>
              <a:rPr lang="en-US" sz="1200" b="1">
                <a:solidFill>
                  <a:srgbClr val="2D373C"/>
                </a:solidFill>
              </a:rPr>
              <a:t>Top Companies by Participation %</a:t>
            </a:r>
          </a:p>
          <a:p>
            <a:endParaRPr lang="en-US" sz="1200" b="1">
              <a:solidFill>
                <a:srgbClr val="33393B"/>
              </a:solidFill>
              <a:ea typeface="Roboto Light"/>
              <a:cs typeface="Roboto Light"/>
            </a:endParaRPr>
          </a:p>
        </p:txBody>
      </p:sp>
      <p:sp>
        <p:nvSpPr>
          <p:cNvPr id="38" name="Shape 23"/>
          <p:cNvSpPr/>
          <p:nvPr/>
        </p:nvSpPr>
        <p:spPr>
          <a:xfrm>
            <a:off x="863212" y="5804443"/>
            <a:ext cx="7406773" cy="296597"/>
          </a:xfrm>
          <a:prstGeom prst="roundRect">
            <a:avLst>
              <a:gd name="adj" fmla="val 25862"/>
            </a:avLst>
          </a:prstGeom>
          <a:solidFill>
            <a:srgbClr val="FFFFFF"/>
          </a:solidFill>
          <a:ln w="10160">
            <a:solidFill>
              <a:srgbClr val="DDE4E6"/>
            </a:solidFill>
            <a:prstDash val="solid"/>
          </a:ln>
        </p:spPr>
        <p:txBody>
          <a:bodyPr/>
          <a:lstStyle/>
          <a:p>
            <a:endParaRPr lang="de-AT" sz="2000"/>
          </a:p>
        </p:txBody>
      </p:sp>
      <p:sp>
        <p:nvSpPr>
          <p:cNvPr id="39" name="Shape 24"/>
          <p:cNvSpPr/>
          <p:nvPr/>
        </p:nvSpPr>
        <p:spPr>
          <a:xfrm>
            <a:off x="863213" y="5797217"/>
            <a:ext cx="73053" cy="296597"/>
          </a:xfrm>
          <a:prstGeom prst="rect">
            <a:avLst/>
          </a:prstGeom>
          <a:solidFill>
            <a:srgbClr val="E4002B"/>
          </a:solidFill>
          <a:ln w="12700">
            <a:solidFill>
              <a:srgbClr val="E4002B"/>
            </a:solidFill>
            <a:prstDash val="solid"/>
          </a:ln>
        </p:spPr>
        <p:txBody>
          <a:bodyPr/>
          <a:lstStyle/>
          <a:p>
            <a:endParaRPr lang="de-AT"/>
          </a:p>
        </p:txBody>
      </p:sp>
      <p:sp>
        <p:nvSpPr>
          <p:cNvPr id="40" name="Text 25"/>
          <p:cNvSpPr/>
          <p:nvPr/>
        </p:nvSpPr>
        <p:spPr>
          <a:xfrm>
            <a:off x="1030105" y="5884549"/>
            <a:ext cx="9907761" cy="121931"/>
          </a:xfrm>
          <a:prstGeom prst="rect">
            <a:avLst/>
          </a:prstGeom>
          <a:noFill/>
          <a:ln/>
        </p:spPr>
        <p:txBody>
          <a:bodyPr wrap="square" lIns="0" tIns="0" rIns="0" bIns="0" rtlCol="0" anchor="ctr">
            <a:noAutofit/>
          </a:bodyPr>
          <a:lstStyle/>
          <a:p>
            <a:r>
              <a:rPr lang="en-US" sz="1400"/>
              <a:t>Broad participation demonstrates strong interest in Data &amp; AI events.</a:t>
            </a:r>
            <a:endParaRPr lang="en-US" sz="1400">
              <a:ea typeface="Roboto Light"/>
              <a:cs typeface="Roboto Light"/>
            </a:endParaRPr>
          </a:p>
        </p:txBody>
      </p:sp>
      <p:pic>
        <p:nvPicPr>
          <p:cNvPr id="35" name="chart:events_participation_company"/>
          <p:cNvPicPr>
            <a:picLocks noChangeAspect="1"/>
          </p:cNvPicPr>
          <p:nvPr/>
        </p:nvPicPr>
        <p:blipFill>
          <a:blip r:embed="rId2"/>
          <a:stretch>
            <a:fillRect/>
          </a:stretch>
        </p:blipFill>
        <p:spPr>
          <a:xfrm>
            <a:off x="6256021" y="3326569"/>
            <a:ext cx="4221480" cy="2033676"/>
          </a:xfrm>
          <a:prstGeom prst="rect">
            <a:avLst/>
          </a:prstGeom>
        </p:spPr>
      </p:pic>
      <p:pic>
        <p:nvPicPr>
          <p:cNvPr id="37" name="chart:events_participation_country"/>
          <p:cNvPicPr>
            <a:picLocks noChangeAspect="1"/>
          </p:cNvPicPr>
          <p:nvPr/>
        </p:nvPicPr>
        <p:blipFill>
          <a:blip r:embed="rId3"/>
          <a:stretch>
            <a:fillRect/>
          </a:stretch>
        </p:blipFill>
        <p:spPr>
          <a:xfrm>
            <a:off x="1030105" y="3384433"/>
            <a:ext cx="4601075" cy="1951429"/>
          </a:xfrm>
          <a:prstGeom prst="rect">
            <a:avLst/>
          </a:prstGeom>
        </p:spPr>
      </p:pic>
      <p:grpSp>
        <p:nvGrpSpPr>
          <p:cNvPr id="50" name="Group 49"/>
          <p:cNvGrpSpPr/>
          <p:nvPr/>
        </p:nvGrpSpPr>
        <p:grpSpPr>
          <a:xfrm>
            <a:off x="2645307" y="1702117"/>
            <a:ext cx="6172200" cy="876341"/>
            <a:chOff x="3665220" y="1637096"/>
            <a:chExt cx="6172200" cy="876341"/>
          </a:xfrm>
        </p:grpSpPr>
        <p:sp>
          <p:nvSpPr>
            <p:cNvPr id="2" name="Rounded Rectangle 12"/>
            <p:cNvSpPr/>
            <p:nvPr/>
          </p:nvSpPr>
          <p:spPr>
            <a:xfrm>
              <a:off x="3665220" y="1637096"/>
              <a:ext cx="1965960" cy="868680"/>
            </a:xfrm>
            <a:prstGeom prst="roundRect">
              <a:avLst/>
            </a:prstGeom>
            <a:solidFill>
              <a:srgbClr val="FFFFFF"/>
            </a:solidFill>
            <a:ln w="10160">
              <a:solidFill>
                <a:srgbClr val="DCE0E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8" name="Rectangle 7"/>
            <p:cNvSpPr/>
            <p:nvPr/>
          </p:nvSpPr>
          <p:spPr>
            <a:xfrm>
              <a:off x="3665220" y="1637096"/>
              <a:ext cx="73152" cy="868680"/>
            </a:xfrm>
            <a:prstGeom prst="rect">
              <a:avLst/>
            </a:prstGeom>
            <a:solidFill>
              <a:srgbClr val="00846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2" name="TextBox 14"/>
            <p:cNvSpPr txBox="1"/>
            <p:nvPr/>
          </p:nvSpPr>
          <p:spPr>
            <a:xfrm>
              <a:off x="3829812" y="1783399"/>
              <a:ext cx="946093" cy="238527"/>
            </a:xfrm>
            <a:prstGeom prst="rect">
              <a:avLst/>
            </a:prstGeom>
            <a:noFill/>
          </p:spPr>
          <p:txBody>
            <a:bodyPr wrap="non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950" b="1">
                  <a:solidFill>
                    <a:srgbClr val="2D373C"/>
                  </a:solidFill>
                </a:rPr>
                <a:t>Country leader</a:t>
              </a:r>
            </a:p>
          </p:txBody>
        </p:sp>
        <p:sp>
          <p:nvSpPr>
            <p:cNvPr id="25" name="kpi:events_country_leader"/>
            <p:cNvSpPr txBox="1"/>
            <p:nvPr/>
          </p:nvSpPr>
          <p:spPr>
            <a:xfrm>
              <a:off x="3829812" y="1987995"/>
              <a:ext cx="1104790" cy="369332"/>
            </a:xfrm>
            <a:prstGeom prst="rect">
              <a:avLst/>
            </a:prstGeom>
            <a:noFill/>
          </p:spPr>
          <p:txBody>
            <a:bodyPr wrap="non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800" b="1">
                  <a:solidFill>
                    <a:srgbClr val="141414"/>
                  </a:solidFill>
                </a:rPr>
                <a:t>Germany</a:t>
              </a:r>
            </a:p>
          </p:txBody>
        </p:sp>
        <p:sp>
          <p:nvSpPr>
            <p:cNvPr id="26" name="kpi:events_country_leader_rate"/>
            <p:cNvSpPr txBox="1"/>
            <p:nvPr/>
          </p:nvSpPr>
          <p:spPr>
            <a:xfrm>
              <a:off x="3875532" y="2276284"/>
              <a:ext cx="978153" cy="206210"/>
            </a:xfrm>
            <a:prstGeom prst="rect">
              <a:avLst/>
            </a:prstGeom>
            <a:noFill/>
          </p:spPr>
          <p:txBody>
            <a:bodyPr wrap="non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740" b="0">
                  <a:solidFill>
                    <a:srgbClr val="788082"/>
                  </a:solidFill>
                </a:rPr>
                <a:t>11.34% participation</a:t>
              </a:r>
            </a:p>
          </p:txBody>
        </p:sp>
        <p:sp>
          <p:nvSpPr>
            <p:cNvPr id="27" name="Rounded Rectangle 17"/>
            <p:cNvSpPr/>
            <p:nvPr/>
          </p:nvSpPr>
          <p:spPr>
            <a:xfrm>
              <a:off x="5768340" y="1637096"/>
              <a:ext cx="1965960" cy="868680"/>
            </a:xfrm>
            <a:prstGeom prst="roundRect">
              <a:avLst/>
            </a:prstGeom>
            <a:solidFill>
              <a:srgbClr val="FFFFFF"/>
            </a:solidFill>
            <a:ln w="10160">
              <a:solidFill>
                <a:srgbClr val="DCE0E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8" name="Rectangle 27"/>
            <p:cNvSpPr/>
            <p:nvPr/>
          </p:nvSpPr>
          <p:spPr>
            <a:xfrm>
              <a:off x="5768340" y="1637096"/>
              <a:ext cx="73152" cy="868680"/>
            </a:xfrm>
            <a:prstGeom prst="rect">
              <a:avLst/>
            </a:prstGeom>
            <a:solidFill>
              <a:srgbClr val="A0005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9" name="TextBox 19"/>
            <p:cNvSpPr txBox="1"/>
            <p:nvPr/>
          </p:nvSpPr>
          <p:spPr>
            <a:xfrm>
              <a:off x="5932932" y="1783399"/>
              <a:ext cx="1037463" cy="238527"/>
            </a:xfrm>
            <a:prstGeom prst="rect">
              <a:avLst/>
            </a:prstGeom>
            <a:noFill/>
          </p:spPr>
          <p:txBody>
            <a:bodyPr wrap="non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950" b="1">
                  <a:solidFill>
                    <a:srgbClr val="2D373C"/>
                  </a:solidFill>
                </a:rPr>
                <a:t>Company leader</a:t>
              </a:r>
            </a:p>
          </p:txBody>
        </p:sp>
        <p:sp>
          <p:nvSpPr>
            <p:cNvPr id="30" name="kpi:events_company_leader"/>
            <p:cNvSpPr txBox="1"/>
            <p:nvPr/>
          </p:nvSpPr>
          <p:spPr>
            <a:xfrm>
              <a:off x="5932932" y="1995752"/>
              <a:ext cx="1382110" cy="369332"/>
            </a:xfrm>
            <a:prstGeom prst="rect">
              <a:avLst/>
            </a:prstGeom>
            <a:noFill/>
          </p:spPr>
          <p:txBody>
            <a:bodyPr wrap="non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800" b="1">
                  <a:solidFill>
                    <a:srgbClr val="141414"/>
                  </a:solidFill>
                </a:rPr>
                <a:t>Contoso Holding</a:t>
              </a:r>
            </a:p>
          </p:txBody>
        </p:sp>
        <p:sp>
          <p:nvSpPr>
            <p:cNvPr id="31" name="kpi:events_company_leader_rate"/>
            <p:cNvSpPr txBox="1"/>
            <p:nvPr/>
          </p:nvSpPr>
          <p:spPr>
            <a:xfrm>
              <a:off x="5963412" y="2297899"/>
              <a:ext cx="1031051" cy="206210"/>
            </a:xfrm>
            <a:prstGeom prst="rect">
              <a:avLst/>
            </a:prstGeom>
            <a:noFill/>
          </p:spPr>
          <p:txBody>
            <a:bodyPr wrap="non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740" b="0">
                  <a:solidFill>
                    <a:srgbClr val="788082"/>
                  </a:solidFill>
                </a:rPr>
                <a:t>64.89% participation</a:t>
              </a:r>
            </a:p>
          </p:txBody>
        </p:sp>
        <p:sp>
          <p:nvSpPr>
            <p:cNvPr id="41" name="Rounded Rectangle 17"/>
            <p:cNvSpPr/>
            <p:nvPr/>
          </p:nvSpPr>
          <p:spPr>
            <a:xfrm>
              <a:off x="7871460" y="1644757"/>
              <a:ext cx="1965960" cy="868680"/>
            </a:xfrm>
            <a:prstGeom prst="roundRect">
              <a:avLst/>
            </a:prstGeom>
            <a:solidFill>
              <a:srgbClr val="FFFFFF"/>
            </a:solidFill>
            <a:ln w="10160">
              <a:solidFill>
                <a:srgbClr val="DCE0E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42" name="Rectangle 41"/>
            <p:cNvSpPr/>
            <p:nvPr/>
          </p:nvSpPr>
          <p:spPr>
            <a:xfrm>
              <a:off x="7871460" y="1644757"/>
              <a:ext cx="73152" cy="868680"/>
            </a:xfrm>
            <a:prstGeom prst="rect">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43" name="TextBox 19"/>
            <p:cNvSpPr txBox="1"/>
            <p:nvPr/>
          </p:nvSpPr>
          <p:spPr>
            <a:xfrm>
              <a:off x="8036052" y="1791060"/>
              <a:ext cx="814647" cy="238527"/>
            </a:xfrm>
            <a:prstGeom prst="rect">
              <a:avLst/>
            </a:prstGeom>
            <a:noFill/>
          </p:spPr>
          <p:txBody>
            <a:bodyPr wrap="non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50" b="1">
                  <a:solidFill>
                    <a:srgbClr val="2D373C"/>
                  </a:solidFill>
                </a:rPr>
                <a:t>Overall Rate</a:t>
              </a:r>
              <a:endParaRPr sz="950" b="1">
                <a:solidFill>
                  <a:srgbClr val="2D373C"/>
                </a:solidFill>
              </a:endParaRPr>
            </a:p>
          </p:txBody>
        </p:sp>
        <p:sp>
          <p:nvSpPr>
            <p:cNvPr id="48" name="kpi:events_overall_rate"/>
            <p:cNvSpPr txBox="1"/>
            <p:nvPr/>
          </p:nvSpPr>
          <p:spPr>
            <a:xfrm>
              <a:off x="8036052" y="2003413"/>
              <a:ext cx="780983" cy="369332"/>
            </a:xfrm>
            <a:prstGeom prst="rect">
              <a:avLst/>
            </a:prstGeom>
            <a:noFill/>
          </p:spPr>
          <p:txBody>
            <a:bodyPr wrap="non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800" b="1">
                  <a:solidFill>
                    <a:srgbClr val="141414"/>
                  </a:solidFill>
                </a:rPr>
                <a:t>2.20%</a:t>
              </a:r>
              <a:endParaRPr sz="1800" b="1">
                <a:solidFill>
                  <a:srgbClr val="141414"/>
                </a:solidFill>
              </a:endParaRPr>
            </a:p>
          </p:txBody>
        </p:sp>
        <p:sp>
          <p:nvSpPr>
            <p:cNvPr id="49" name="TextBox 21"/>
            <p:cNvSpPr txBox="1"/>
            <p:nvPr/>
          </p:nvSpPr>
          <p:spPr>
            <a:xfrm>
              <a:off x="8066532" y="2305560"/>
              <a:ext cx="1457450" cy="206210"/>
            </a:xfrm>
            <a:prstGeom prst="rect">
              <a:avLst/>
            </a:prstGeom>
            <a:noFill/>
          </p:spPr>
          <p:txBody>
            <a:bodyPr wrap="non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740">
                  <a:solidFill>
                    <a:srgbClr val="788082"/>
                  </a:solidFill>
                </a:rPr>
                <a:t>Of total employee</a:t>
              </a:r>
              <a:r>
                <a:rPr sz="740" b="0">
                  <a:solidFill>
                    <a:srgbClr val="788082"/>
                  </a:solidFill>
                </a:rPr>
                <a:t> participation</a:t>
              </a:r>
            </a:p>
          </p:txBody>
        </p:sp>
      </p:grpSp>
      <p:sp>
        <p:nvSpPr>
          <p:cNvPr id="51"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itle 1"/>
          <p:cNvSpPr>
            <a:spLocks noGrp="1"/>
          </p:cNvSpPr>
          <p:nvPr/>
        </p:nvSpPr>
        <p:spPr>
          <a:xfrm>
            <a:off x="2585803" y="3633150"/>
            <a:ext cx="7511795" cy="1412694"/>
          </a:xfrm>
          <a:prstGeom prst="rect">
            <a:avLst/>
          </a:prstGeom>
        </p:spPr>
        <p:txBody>
          <a:bodyPr/>
          <a:lstStyle/>
          <a:p>
            <a:r>
              <a:rPr lang="de-AT" sz="2600">
                <a:solidFill>
                  <a:srgbClr val="F2F3F6"/>
                </a:solidFill>
              </a:rPr>
              <a:t>Cross-</a:t>
            </a:r>
            <a:r>
              <a:rPr lang="de-AT" err="1" sz="2600">
                <a:solidFill>
                  <a:srgbClr val="F2F3F6"/>
                </a:solidFill>
              </a:rPr>
              <a:t>Participation</a:t>
            </a:r>
            <a:r>
              <a:rPr lang="de-AT" sz="2600">
                <a:solidFill>
                  <a:srgbClr val="F2F3F6"/>
                </a:solidFill>
              </a:rPr>
              <a:t> </a:t>
            </a:r>
            <a:r>
              <a:rPr lang="de-AT" err="1" sz="2600">
                <a:solidFill>
                  <a:srgbClr val="F2F3F6"/>
                </a:solidFill>
              </a:rPr>
              <a:t>Across</a:t>
            </a:r>
            <a:r>
              <a:rPr lang="de-AT" sz="2600">
                <a:solidFill>
                  <a:srgbClr val="F2F3F6"/>
                </a:solidFill>
              </a:rPr>
              <a:t> Learning</a:t>
            </a:r>
          </a:p>
        </p:txBody>
      </p:sp>
      <p:sp>
        <p:nvSpPr>
          <p:cNvPr id="3" name="Subtitle 2"/>
          <p:cNvSpPr>
            <a:spLocks noGrp="1"/>
          </p:cNvSpPr>
          <p:nvPr/>
        </p:nvSpPr>
        <p:spPr>
          <a:xfrm>
            <a:off x="2585804" y="5080769"/>
            <a:ext cx="7511795" cy="701731"/>
          </a:xfrm>
          <a:prstGeom prst="rect">
            <a:avLst/>
          </a:prstGeom>
        </p:spPr>
        <p:txBody>
          <a:bodyPr/>
          <a:lstStyle/>
          <a:p>
            <a:r>
              <a:rPr lang="en-US" sz="1600">
                <a:solidFill>
                  <a:srgbClr val="9aa1b2"/>
                </a:solidFill>
              </a:rPr>
              <a:t>Cross participation and capability development across the Group</a:t>
            </a:r>
            <a:endParaRPr lang="de-AT"/>
          </a:p>
        </p:txBody>
      </p:sp>
      <p:sp>
        <p:nvSpPr>
          <p:cNvPr id="4"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3" name="Text Placeholder 2"/>
          <p:cNvSpPr>
            <a:spLocks noGrp="1"/>
          </p:cNvSpPr>
          <p:nvPr/>
        </p:nvSpPr>
        <p:spPr>
          <a:xfrm>
            <a:off x="839788" y="6138665"/>
            <a:ext cx="10514012" cy="263149"/>
          </a:xfrm>
          <a:prstGeom prst="rect">
            <a:avLst/>
          </a:prstGeom>
        </p:spPr>
        <p:txBody>
          <a:bodyPr/>
          <a:lstStyle/>
          <a:p>
            <a:endParaRPr lang="de-AT"/>
          </a:p>
        </p:txBody>
      </p:sp>
      <p:sp>
        <p:nvSpPr>
          <p:cNvPr id="4" name="Title 3"/>
          <p:cNvSpPr>
            <a:spLocks noGrp="1"/>
          </p:cNvSpPr>
          <p:nvPr/>
        </p:nvSpPr>
        <p:spPr>
          <a:xfrm>
            <a:off x="876314" y="230793"/>
            <a:ext cx="10514012" cy="1674305"/>
          </a:xfrm>
          <a:prstGeom prst="rect">
            <a:avLst/>
          </a:prstGeom>
        </p:spPr>
        <p:txBody>
          <a:bodyPr/>
          <a:lstStyle/>
          <a:p>
            <a:r>
              <a:rPr lang="de-AT" sz="3600">
                <a:solidFill>
                  <a:srgbClr val="F2F3F6"/>
                </a:solidFill>
              </a:rPr>
              <a:t>Data &amp; AI </a:t>
            </a:r>
            <a:r>
              <a:rPr lang="de-AT" sz="3600" err="1">
                <a:solidFill>
                  <a:srgbClr val="F2F3F6"/>
                </a:solidFill>
              </a:rPr>
              <a:t>Program</a:t>
            </a:r>
            <a:r>
              <a:rPr lang="de-AT" sz="3600">
                <a:solidFill>
                  <a:srgbClr val="F2F3F6"/>
                </a:solidFill>
              </a:rPr>
              <a:t> </a:t>
            </a:r>
            <a:r>
              <a:rPr lang="de-AT" sz="3600" err="1">
                <a:solidFill>
                  <a:srgbClr val="F2F3F6"/>
                </a:solidFill>
              </a:rPr>
              <a:t>Reach</a:t>
            </a:r>
            <a:r>
              <a:rPr lang="de-AT" sz="3600">
                <a:solidFill>
                  <a:srgbClr val="F2F3F6"/>
                </a:solidFill>
              </a:rPr>
              <a:t> </a:t>
            </a:r>
            <a:r>
              <a:rPr lang="de-AT" sz="3600" err="1">
                <a:solidFill>
                  <a:srgbClr val="F2F3F6"/>
                </a:solidFill>
              </a:rPr>
              <a:t>Overview</a:t>
            </a:r>
            <a:br>
              <a:rPr lang="en-US" sz="2200">
                <a:solidFill>
                  <a:srgbClr val="9AA2A5"/>
                </a:solidFill>
                <a:ea typeface="Aptos" pitchFamily="34" charset="-122"/>
                <a:cs typeface="Aptos Display" pitchFamily="34" charset="-120"/>
              </a:rPr>
            </a:br>
            <a:r>
              <a:rPr lang="en-US" sz="2200">
                <a:solidFill>
                  <a:srgbClr val="F2F3F6"/>
                </a:solidFill>
              </a:rPr>
              <a:t>Combined participation across Data &amp; AI learning and community initiatives</a:t>
            </a:r>
            <a:br>
              <a:rPr lang="en-US" sz="2400">
                <a:solidFill>
                  <a:srgbClr val="E8ECF4"/>
                </a:solidFill>
              </a:rPr>
            </a:br>
            <a:br>
              <a:rPr lang="en-US" sz="2400">
                <a:solidFill>
                  <a:srgbClr val="E8ECF4"/>
                </a:solidFill>
              </a:rPr>
            </a:br>
            <a:endParaRPr lang="de-AT" sz="2400"/>
          </a:p>
        </p:txBody>
      </p:sp>
      <p:sp>
        <p:nvSpPr>
          <p:cNvPr id="5" name="Date Placeholder 4"/>
          <p:cNvSpPr>
            <a:spLocks noGrp="1"/>
          </p:cNvSpPr>
          <p:nvPr/>
        </p:nvSpPr>
        <p:spPr>
          <a:xfrm>
            <a:off x="11063125" y="181996"/>
            <a:ext cx="873637" cy="153888"/>
          </a:xfrm>
          <a:prstGeom prst="rect">
            <a:avLst/>
          </a:prstGeom>
        </p:spPr>
        <p:txBody>
          <a:bodyPr/>
          <a:lstStyle/>
          <a:p>
            <a:r>
              <a:rPr lang="de-DE" sz="900">
                <a:solidFill>
                  <a:srgbClr val="9aa1b2"/>
                </a:solidFill>
              </a:rPr>
              <a:t>Demo data</a:t>
            </a:r>
            <a:endParaRPr lang="en-GB"/>
          </a:p>
        </p:txBody>
      </p:sp>
      <p:sp>
        <p:nvSpPr>
          <p:cNvPr id="6" name="Footer Placeholder 5"/>
          <p:cNvSpPr>
            <a:spLocks noGrp="1"/>
          </p:cNvSpPr>
          <p:nvPr/>
        </p:nvSpPr>
        <p:spPr>
          <a:xfrm>
            <a:off x="1436787" y="6583761"/>
            <a:ext cx="6953250" cy="36933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aa1b2"/>
                </a:solidFill>
                <a:effectLst/>
                <a:uLnTx/>
                <a:uFillTx/>
                <a:latin typeface="Roboto Light"/>
                <a:ea typeface="+mn-ea"/>
                <a:cs typeface="+mn-cs"/>
              </a:rPr>
              <a:t>Data &amp; AI @ Contoso</a:t>
            </a:r>
          </a:p>
          <a:p>
            <a:endParaRPr lang="en-GB"/>
          </a:p>
        </p:txBody>
      </p:sp>
      <p:sp>
        <p:nvSpPr>
          <p:cNvPr id="7" name="Slide Number Placeholder 6"/>
          <p:cNvSpPr>
            <a:spLocks noGrp="1"/>
          </p:cNvSpPr>
          <p:nvPr/>
        </p:nvSpPr>
        <p:spPr>
          <a:xfrm>
            <a:off x="839788" y="6587737"/>
            <a:ext cx="347662" cy="184666"/>
          </a:xfrm>
          <a:prstGeom prst="rect">
            <a:avLst/>
          </a:prstGeom>
        </p:spPr>
        <p:txBody>
          <a:bodyPr/>
          <a:lstStyle/>
          <a:p>
            <a:pPr algn="l"/>
            <a:fld id="{64E38502-06D2-4E51-82FE-464E052045F9}" type="slidenum">
              <a:rPr lang="en-GB" smtClean="0">
                <a:solidFill>
                  <a:srgbClr val="E8ECF4"/>
                </a:solidFill>
              </a:rPr>
              <a:pPr algn="l"/>
              <a:t>17</a:t>
            </a:fld>
            <a:endParaRPr lang="en-GB"/>
          </a:p>
        </p:txBody>
      </p:sp>
      <p:sp>
        <p:nvSpPr>
          <p:cNvPr id="33" name="Shape 23"/>
          <p:cNvSpPr/>
          <p:nvPr/>
        </p:nvSpPr>
        <p:spPr>
          <a:xfrm>
            <a:off x="831686" y="5766641"/>
            <a:ext cx="6313706" cy="332882"/>
          </a:xfrm>
          <a:prstGeom prst="roundRect">
            <a:avLst>
              <a:gd name="adj" fmla="val 25862"/>
            </a:avLst>
          </a:prstGeom>
          <a:solidFill>
            <a:srgbClr val="FFFFFF"/>
          </a:solidFill>
          <a:ln w="10160">
            <a:solidFill>
              <a:srgbClr val="DDE4E6"/>
            </a:solidFill>
            <a:prstDash val="solid"/>
          </a:ln>
        </p:spPr>
        <p:txBody>
          <a:bodyPr/>
          <a:lstStyle/>
          <a:p>
            <a:r>
              <a:rPr lang="de-AT" sz="900"/>
              <a:t>Cross-</a:t>
            </a:r>
            <a:r>
              <a:rPr lang="de-AT" sz="900" err="1"/>
              <a:t>program</a:t>
            </a:r>
            <a:r>
              <a:rPr lang="de-AT" sz="900"/>
              <a:t> </a:t>
            </a:r>
            <a:r>
              <a:rPr lang="de-AT" sz="900" err="1"/>
              <a:t>view</a:t>
            </a:r>
            <a:r>
              <a:rPr lang="de-AT" sz="900"/>
              <a:t> </a:t>
            </a:r>
            <a:r>
              <a:rPr lang="de-AT" sz="900" err="1"/>
              <a:t>combining</a:t>
            </a:r>
            <a:r>
              <a:rPr lang="de-AT" sz="900"/>
              <a:t> </a:t>
            </a:r>
            <a:r>
              <a:rPr lang="de-AT" sz="900" b="1"/>
              <a:t>5 </a:t>
            </a:r>
            <a:r>
              <a:rPr lang="de-AT" sz="900" b="1" err="1"/>
              <a:t>programs</a:t>
            </a:r>
            <a:r>
              <a:rPr lang="de-AT" sz="900"/>
              <a:t>: Data &amp; AI </a:t>
            </a:r>
            <a:r>
              <a:rPr lang="de-AT" sz="900" err="1"/>
              <a:t>Literacy</a:t>
            </a:r>
            <a:r>
              <a:rPr lang="de-AT" sz="900"/>
              <a:t> (Beacont/ITP/</a:t>
            </a:r>
            <a:r>
              <a:rPr lang="de-AT" sz="900" err="1"/>
              <a:t>PlanTrack</a:t>
            </a:r>
            <a:r>
              <a:rPr lang="de-AT" sz="900"/>
              <a:t>), Databricks </a:t>
            </a:r>
            <a:r>
              <a:rPr lang="de-AT" sz="900" err="1"/>
              <a:t>Completions</a:t>
            </a:r>
            <a:r>
              <a:rPr lang="de-AT" sz="900"/>
              <a:t>, Lakehouse Guild, and Data &amp; AI Community </a:t>
            </a:r>
          </a:p>
          <a:p>
            <a:endParaRPr lang="de-AT" sz="900"/>
          </a:p>
        </p:txBody>
      </p:sp>
      <p:sp>
        <p:nvSpPr>
          <p:cNvPr id="34" name="Shape 24"/>
          <p:cNvSpPr/>
          <p:nvPr/>
        </p:nvSpPr>
        <p:spPr>
          <a:xfrm>
            <a:off x="839788" y="5804443"/>
            <a:ext cx="73053" cy="296597"/>
          </a:xfrm>
          <a:prstGeom prst="rect">
            <a:avLst/>
          </a:prstGeom>
          <a:solidFill>
            <a:srgbClr val="E4002B"/>
          </a:solidFill>
          <a:ln w="12700">
            <a:solidFill>
              <a:srgbClr val="E4002B"/>
            </a:solidFill>
            <a:prstDash val="solid"/>
          </a:ln>
        </p:spPr>
        <p:txBody>
          <a:bodyPr/>
          <a:lstStyle/>
          <a:p>
            <a:endParaRPr lang="de-AT"/>
          </a:p>
        </p:txBody>
      </p:sp>
      <p:sp>
        <p:nvSpPr>
          <p:cNvPr id="35" name="Text 25"/>
          <p:cNvSpPr/>
          <p:nvPr/>
        </p:nvSpPr>
        <p:spPr>
          <a:xfrm>
            <a:off x="1015902" y="5664981"/>
            <a:ext cx="6862102" cy="612385"/>
          </a:xfrm>
          <a:prstGeom prst="rect">
            <a:avLst/>
          </a:prstGeom>
          <a:noFill/>
          <a:ln/>
        </p:spPr>
        <p:txBody>
          <a:bodyPr wrap="square" lIns="0" tIns="0" rIns="0" bIns="0" rtlCol="0" anchor="ctr">
            <a:noAutofit/>
          </a:bodyPr>
          <a:lstStyle/>
          <a:p>
            <a:endParaRPr lang="en-US" sz="1100"/>
          </a:p>
        </p:txBody>
      </p:sp>
      <p:grpSp>
        <p:nvGrpSpPr>
          <p:cNvPr id="25" name="Group 24"/>
          <p:cNvGrpSpPr/>
          <p:nvPr/>
        </p:nvGrpSpPr>
        <p:grpSpPr>
          <a:xfrm>
            <a:off x="409471" y="2539860"/>
            <a:ext cx="3490280" cy="2841344"/>
            <a:chOff x="1006362" y="2328856"/>
            <a:chExt cx="5432713" cy="3225617"/>
          </a:xfrm>
        </p:grpSpPr>
        <p:sp>
          <p:nvSpPr>
            <p:cNvPr id="26" name="Shape 19"/>
            <p:cNvSpPr/>
            <p:nvPr/>
          </p:nvSpPr>
          <p:spPr>
            <a:xfrm>
              <a:off x="1006362" y="2328856"/>
              <a:ext cx="5263856" cy="3225617"/>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27" name="Text 20"/>
            <p:cNvSpPr/>
            <p:nvPr/>
          </p:nvSpPr>
          <p:spPr>
            <a:xfrm>
              <a:off x="1373299" y="2505881"/>
              <a:ext cx="5065776" cy="201169"/>
            </a:xfrm>
            <a:prstGeom prst="rect">
              <a:avLst/>
            </a:prstGeom>
            <a:noFill/>
            <a:ln/>
          </p:spPr>
          <p:txBody>
            <a:bodyPr wrap="square" lIns="0" tIns="0" rIns="0" bIns="0" rtlCol="0" anchor="ctr"/>
            <a:lstStyle/>
            <a:p>
              <a:r>
                <a:rPr lang="en-US" sz="1200" b="1"/>
                <a:t> Country Headcount % – All Programs (Map)</a:t>
              </a:r>
            </a:p>
          </p:txBody>
        </p:sp>
      </p:grpSp>
      <p:sp>
        <p:nvSpPr>
          <p:cNvPr id="28" name="Shape 19"/>
          <p:cNvSpPr/>
          <p:nvPr/>
        </p:nvSpPr>
        <p:spPr>
          <a:xfrm>
            <a:off x="3988539" y="2539149"/>
            <a:ext cx="3957840" cy="2841344"/>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31" name="Text 20"/>
          <p:cNvSpPr/>
          <p:nvPr/>
        </p:nvSpPr>
        <p:spPr>
          <a:xfrm>
            <a:off x="4166719" y="2789374"/>
            <a:ext cx="3868448" cy="191060"/>
          </a:xfrm>
          <a:prstGeom prst="rect">
            <a:avLst/>
          </a:prstGeom>
          <a:noFill/>
          <a:ln/>
        </p:spPr>
        <p:txBody>
          <a:bodyPr wrap="square" lIns="0" tIns="0" rIns="0" bIns="0" rtlCol="0" anchor="ctr"/>
          <a:lstStyle/>
          <a:p>
            <a:r>
              <a:rPr lang="en-US" sz="1200" b="1"/>
              <a:t>Top 5 Countries – Cross-Programs Reach</a:t>
            </a:r>
          </a:p>
          <a:p>
            <a:r>
              <a:rPr lang="en-US" sz="1200" b="1"/>
              <a:t> </a:t>
            </a:r>
          </a:p>
        </p:txBody>
      </p:sp>
      <p:sp>
        <p:nvSpPr>
          <p:cNvPr id="37" name="Shape 19"/>
          <p:cNvSpPr/>
          <p:nvPr/>
        </p:nvSpPr>
        <p:spPr>
          <a:xfrm>
            <a:off x="8124559" y="2539149"/>
            <a:ext cx="3746457" cy="2841344"/>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40" name="Text 20"/>
          <p:cNvSpPr/>
          <p:nvPr/>
        </p:nvSpPr>
        <p:spPr>
          <a:xfrm>
            <a:off x="8213347" y="2722809"/>
            <a:ext cx="3868448" cy="191060"/>
          </a:xfrm>
          <a:prstGeom prst="rect">
            <a:avLst/>
          </a:prstGeom>
          <a:noFill/>
          <a:ln/>
        </p:spPr>
        <p:txBody>
          <a:bodyPr wrap="square" lIns="0" tIns="0" rIns="0" bIns="0" rtlCol="0" anchor="ctr"/>
          <a:lstStyle/>
          <a:p>
            <a:r>
              <a:rPr lang="en-US" sz="1200" b="1"/>
              <a:t>Top 5 Companies – Cross-Program Reach</a:t>
            </a:r>
          </a:p>
        </p:txBody>
      </p:sp>
      <p:pic>
        <p:nvPicPr>
          <p:cNvPr id="23" name="chart:cross_program_countries"/>
          <p:cNvPicPr>
            <a:picLocks noChangeAspect="1"/>
          </p:cNvPicPr>
          <p:nvPr/>
        </p:nvPicPr>
        <p:blipFill>
          <a:blip r:embed="rId2"/>
          <a:stretch>
            <a:fillRect/>
          </a:stretch>
        </p:blipFill>
        <p:spPr>
          <a:xfrm>
            <a:off x="4048539" y="3002369"/>
            <a:ext cx="3837840" cy="2248962"/>
          </a:xfrm>
          <a:prstGeom prst="rect">
            <a:avLst/>
          </a:prstGeom>
        </p:spPr>
      </p:pic>
      <p:pic>
        <p:nvPicPr>
          <p:cNvPr id="36" name="chart:cross_program_country_map"/>
          <p:cNvPicPr>
            <a:picLocks noChangeAspect="1"/>
          </p:cNvPicPr>
          <p:nvPr/>
        </p:nvPicPr>
        <p:blipFill>
          <a:blip r:embed="rId3"/>
          <a:stretch>
            <a:fillRect/>
          </a:stretch>
        </p:blipFill>
        <p:spPr>
          <a:xfrm>
            <a:off x="469471" y="3033527"/>
            <a:ext cx="3261796" cy="2186646"/>
          </a:xfrm>
          <a:prstGeom prst="rect">
            <a:avLst/>
          </a:prstGeom>
        </p:spPr>
      </p:pic>
      <p:pic>
        <p:nvPicPr>
          <p:cNvPr id="42" name="chart:cross_program_companies"/>
          <p:cNvPicPr>
            <a:picLocks noChangeAspect="1"/>
          </p:cNvPicPr>
          <p:nvPr/>
        </p:nvPicPr>
        <p:blipFill>
          <a:blip r:embed="rId4"/>
          <a:stretch>
            <a:fillRect/>
          </a:stretch>
        </p:blipFill>
        <p:spPr>
          <a:xfrm>
            <a:off x="8435508" y="3066472"/>
            <a:ext cx="2954818" cy="2092287"/>
          </a:xfrm>
          <a:prstGeom prst="rect">
            <a:avLst/>
          </a:prstGeom>
        </p:spPr>
      </p:pic>
      <p:grpSp>
        <p:nvGrpSpPr>
          <p:cNvPr id="47" name="Group 46"/>
          <p:cNvGrpSpPr/>
          <p:nvPr/>
        </p:nvGrpSpPr>
        <p:grpSpPr>
          <a:xfrm>
            <a:off x="1485191" y="1381809"/>
            <a:ext cx="8662380" cy="868680"/>
            <a:chOff x="2691420" y="1447287"/>
            <a:chExt cx="8662380" cy="868680"/>
          </a:xfrm>
        </p:grpSpPr>
        <p:grpSp>
          <p:nvGrpSpPr>
            <p:cNvPr id="10" name="Group 9"/>
            <p:cNvGrpSpPr/>
            <p:nvPr/>
          </p:nvGrpSpPr>
          <p:grpSpPr>
            <a:xfrm>
              <a:off x="2691420" y="1447287"/>
              <a:ext cx="6455664" cy="868680"/>
              <a:chOff x="1306068" y="1858345"/>
              <a:chExt cx="6455664" cy="868680"/>
            </a:xfrm>
          </p:grpSpPr>
          <p:sp>
            <p:nvSpPr>
              <p:cNvPr id="11" name="Shape 4"/>
              <p:cNvSpPr/>
              <p:nvPr/>
            </p:nvSpPr>
            <p:spPr>
              <a:xfrm>
                <a:off x="1306068"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2" name="kpi:cross_involved_countries"/>
              <p:cNvSpPr/>
              <p:nvPr/>
            </p:nvSpPr>
            <p:spPr>
              <a:xfrm>
                <a:off x="1443228"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E4002B"/>
                    </a:solidFill>
                    <a:ea typeface="Roboto Light"/>
                    <a:cs typeface="Roboto Light"/>
                  </a:rPr>
                  <a:t>18</a:t>
                </a:r>
              </a:p>
            </p:txBody>
          </p:sp>
          <p:sp>
            <p:nvSpPr>
              <p:cNvPr id="13" name="Text 6"/>
              <p:cNvSpPr/>
              <p:nvPr/>
            </p:nvSpPr>
            <p:spPr>
              <a:xfrm>
                <a:off x="1379220" y="2379553"/>
                <a:ext cx="1865376" cy="182880"/>
              </a:xfrm>
              <a:prstGeom prst="rect">
                <a:avLst/>
              </a:prstGeom>
              <a:noFill/>
              <a:ln/>
            </p:spPr>
            <p:txBody>
              <a:bodyPr wrap="square" lIns="0" tIns="0" rIns="0" bIns="0" rtlCol="0" anchor="ctr">
                <a:normAutofit/>
              </a:bodyPr>
              <a:lstStyle/>
              <a:p>
                <a:pPr algn="ctr"/>
                <a:r>
                  <a:rPr lang="en-US" sz="950" b="1">
                    <a:solidFill>
                      <a:srgbClr val="7E8789"/>
                    </a:solidFill>
                  </a:rPr>
                  <a:t>Involved Countries</a:t>
                </a:r>
              </a:p>
            </p:txBody>
          </p:sp>
          <p:grpSp>
            <p:nvGrpSpPr>
              <p:cNvPr id="14" name="Group 13"/>
              <p:cNvGrpSpPr/>
              <p:nvPr/>
            </p:nvGrpSpPr>
            <p:grpSpPr>
              <a:xfrm>
                <a:off x="3528060" y="1858345"/>
                <a:ext cx="4233672" cy="868680"/>
                <a:chOff x="3528060" y="1858345"/>
                <a:chExt cx="4233672" cy="868680"/>
              </a:xfrm>
            </p:grpSpPr>
            <p:sp>
              <p:nvSpPr>
                <p:cNvPr id="15" name="Shape 7"/>
                <p:cNvSpPr/>
                <p:nvPr/>
              </p:nvSpPr>
              <p:spPr>
                <a:xfrm>
                  <a:off x="3528060"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6" name="kpi:cross_participation_rate"/>
                <p:cNvSpPr/>
                <p:nvPr/>
              </p:nvSpPr>
              <p:spPr>
                <a:xfrm>
                  <a:off x="3665220"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8C3A62"/>
                      </a:solidFill>
                    </a:rPr>
                    <a:t>29.6%</a:t>
                  </a:r>
                </a:p>
              </p:txBody>
            </p:sp>
            <p:sp>
              <p:nvSpPr>
                <p:cNvPr id="17" name="Text 9"/>
                <p:cNvSpPr/>
                <p:nvPr/>
              </p:nvSpPr>
              <p:spPr>
                <a:xfrm>
                  <a:off x="3601212" y="2417089"/>
                  <a:ext cx="1865376" cy="182880"/>
                </a:xfrm>
                <a:prstGeom prst="rect">
                  <a:avLst/>
                </a:prstGeom>
                <a:noFill/>
                <a:ln/>
              </p:spPr>
              <p:txBody>
                <a:bodyPr wrap="square" lIns="0" tIns="0" rIns="0" bIns="0" rtlCol="0" anchor="ctr">
                  <a:noAutofit/>
                </a:bodyPr>
                <a:lstStyle/>
                <a:p>
                  <a:pPr algn="ctr"/>
                  <a:r>
                    <a:rPr lang="en-US" sz="900" b="1">
                      <a:solidFill>
                        <a:srgbClr val="7E8789"/>
                      </a:solidFill>
                    </a:rPr>
                    <a:t>Cross </a:t>
                  </a:r>
                  <a:r>
                    <a:rPr lang="en-US" sz="900" b="1" err="1">
                      <a:solidFill>
                        <a:srgbClr val="7E8789"/>
                      </a:solidFill>
                    </a:rPr>
                    <a:t>Paritcipation</a:t>
                  </a:r>
                  <a:r>
                    <a:rPr lang="en-US" sz="900" b="1">
                      <a:solidFill>
                        <a:srgbClr val="7E8789"/>
                      </a:solidFill>
                    </a:rPr>
                    <a:t> Rate</a:t>
                  </a:r>
                </a:p>
              </p:txBody>
            </p:sp>
            <p:grpSp>
              <p:nvGrpSpPr>
                <p:cNvPr id="18" name="Group 17"/>
                <p:cNvGrpSpPr/>
                <p:nvPr/>
              </p:nvGrpSpPr>
              <p:grpSpPr>
                <a:xfrm>
                  <a:off x="5750052" y="1858345"/>
                  <a:ext cx="2011680" cy="868680"/>
                  <a:chOff x="5750052" y="1858345"/>
                  <a:chExt cx="2011680" cy="868680"/>
                </a:xfrm>
              </p:grpSpPr>
              <p:sp>
                <p:nvSpPr>
                  <p:cNvPr id="19" name="Shape 10"/>
                  <p:cNvSpPr/>
                  <p:nvPr/>
                </p:nvSpPr>
                <p:spPr>
                  <a:xfrm>
                    <a:off x="5750052"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20" name="kpi:cross_involved_companies"/>
                  <p:cNvSpPr/>
                  <p:nvPr/>
                </p:nvSpPr>
                <p:spPr>
                  <a:xfrm>
                    <a:off x="5887212" y="2036587"/>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0D8492"/>
                        </a:solidFill>
                      </a:rPr>
                      <a:t>58</a:t>
                    </a:r>
                  </a:p>
                </p:txBody>
              </p:sp>
              <p:sp>
                <p:nvSpPr>
                  <p:cNvPr id="21" name="Text 12"/>
                  <p:cNvSpPr/>
                  <p:nvPr/>
                </p:nvSpPr>
                <p:spPr>
                  <a:xfrm>
                    <a:off x="5823204" y="2379553"/>
                    <a:ext cx="1865376" cy="182880"/>
                  </a:xfrm>
                  <a:prstGeom prst="rect">
                    <a:avLst/>
                  </a:prstGeom>
                  <a:noFill/>
                  <a:ln/>
                </p:spPr>
                <p:txBody>
                  <a:bodyPr wrap="square" lIns="0" tIns="0" rIns="0" bIns="0" rtlCol="0" anchor="ctr">
                    <a:normAutofit/>
                  </a:bodyPr>
                  <a:lstStyle/>
                  <a:p>
                    <a:pPr algn="ctr"/>
                    <a:endParaRPr lang="en-US" sz="950" b="1">
                      <a:solidFill>
                        <a:srgbClr val="7A8285"/>
                      </a:solidFill>
                    </a:endParaRPr>
                  </a:p>
                </p:txBody>
              </p:sp>
            </p:grpSp>
          </p:grpSp>
        </p:grpSp>
        <p:sp>
          <p:nvSpPr>
            <p:cNvPr id="24" name="Text 9"/>
            <p:cNvSpPr/>
            <p:nvPr/>
          </p:nvSpPr>
          <p:spPr>
            <a:xfrm>
              <a:off x="7272564" y="2007637"/>
              <a:ext cx="1865376" cy="182880"/>
            </a:xfrm>
            <a:prstGeom prst="rect">
              <a:avLst/>
            </a:prstGeom>
            <a:noFill/>
            <a:ln/>
          </p:spPr>
          <p:txBody>
            <a:bodyPr wrap="square" lIns="0" tIns="0" rIns="0" bIns="0" rtlCol="0" anchor="ctr">
              <a:noAutofit/>
            </a:bodyPr>
            <a:lstStyle/>
            <a:p>
              <a:pPr algn="ctr"/>
              <a:r>
                <a:rPr lang="en-US" sz="900" b="1">
                  <a:solidFill>
                    <a:srgbClr val="7E8789"/>
                  </a:solidFill>
                </a:rPr>
                <a:t>Involved Companies</a:t>
              </a:r>
            </a:p>
          </p:txBody>
        </p:sp>
        <p:sp>
          <p:nvSpPr>
            <p:cNvPr id="43" name="Shape 7"/>
            <p:cNvSpPr/>
            <p:nvPr/>
          </p:nvSpPr>
          <p:spPr>
            <a:xfrm>
              <a:off x="9342120" y="1447287"/>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44" name="Text 9"/>
            <p:cNvSpPr/>
            <p:nvPr/>
          </p:nvSpPr>
          <p:spPr>
            <a:xfrm>
              <a:off x="9427428" y="2037552"/>
              <a:ext cx="1865376" cy="182880"/>
            </a:xfrm>
            <a:prstGeom prst="rect">
              <a:avLst/>
            </a:prstGeom>
            <a:noFill/>
            <a:ln/>
          </p:spPr>
          <p:txBody>
            <a:bodyPr wrap="square" lIns="0" tIns="0" rIns="0" bIns="0" rtlCol="0" anchor="ctr">
              <a:noAutofit/>
            </a:bodyPr>
            <a:lstStyle/>
            <a:p>
              <a:pPr algn="ctr"/>
              <a:r>
                <a:rPr lang="de-AT" sz="900" b="1">
                  <a:solidFill>
                    <a:srgbClr val="7E8789"/>
                  </a:solidFill>
                </a:rPr>
                <a:t>Overall % of Group Headcount</a:t>
              </a:r>
              <a:endParaRPr lang="en-US" sz="900" b="1">
                <a:solidFill>
                  <a:srgbClr val="7E8789"/>
                </a:solidFill>
              </a:endParaRPr>
            </a:p>
          </p:txBody>
        </p:sp>
        <p:sp>
          <p:nvSpPr>
            <p:cNvPr id="45" name="kpi:cross_group_headcount_rate"/>
            <p:cNvSpPr/>
            <p:nvPr/>
          </p:nvSpPr>
          <p:spPr>
            <a:xfrm>
              <a:off x="9500580" y="1658922"/>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E66D00"/>
                  </a:solidFill>
                </a:rPr>
                <a:t>3.1%</a:t>
              </a:r>
            </a:p>
          </p:txBody>
        </p:sp>
      </p:grpSp>
      <p:sp>
        <p:nvSpPr>
          <p:cNvPr id="48"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3" name="Text Placeholder 2"/>
          <p:cNvSpPr>
            <a:spLocks noGrp="1"/>
          </p:cNvSpPr>
          <p:nvPr/>
        </p:nvSpPr>
        <p:spPr>
          <a:xfrm>
            <a:off x="839788" y="6138665"/>
            <a:ext cx="10514012" cy="263149"/>
          </a:xfrm>
          <a:prstGeom prst="rect">
            <a:avLst/>
          </a:prstGeom>
        </p:spPr>
        <p:txBody>
          <a:bodyPr/>
          <a:lstStyle/>
          <a:p>
            <a:endParaRPr lang="de-AT"/>
          </a:p>
        </p:txBody>
      </p:sp>
      <p:sp>
        <p:nvSpPr>
          <p:cNvPr id="4" name="Title 3"/>
          <p:cNvSpPr>
            <a:spLocks noGrp="1"/>
          </p:cNvSpPr>
          <p:nvPr/>
        </p:nvSpPr>
        <p:spPr>
          <a:xfrm>
            <a:off x="876314" y="339158"/>
            <a:ext cx="10514012" cy="1465016"/>
          </a:xfrm>
          <a:prstGeom prst="rect">
            <a:avLst/>
          </a:prstGeom>
        </p:spPr>
        <p:txBody>
          <a:bodyPr/>
          <a:lstStyle/>
          <a:p>
            <a:r>
              <a:rPr lang="de-AT" sz="4000">
                <a:solidFill>
                  <a:srgbClr val="F2F3F6"/>
                </a:solidFill>
              </a:rPr>
              <a:t>Data &amp; AI </a:t>
            </a:r>
            <a:r>
              <a:rPr lang="de-AT" sz="4000" err="1">
                <a:solidFill>
                  <a:srgbClr val="F2F3F6"/>
                </a:solidFill>
              </a:rPr>
              <a:t>Program</a:t>
            </a:r>
            <a:r>
              <a:rPr lang="de-AT" sz="4000">
                <a:solidFill>
                  <a:srgbClr val="F2F3F6"/>
                </a:solidFill>
              </a:rPr>
              <a:t> Training </a:t>
            </a:r>
            <a:r>
              <a:rPr lang="de-AT" sz="4000" err="1">
                <a:solidFill>
                  <a:srgbClr val="F2F3F6"/>
                </a:solidFill>
              </a:rPr>
              <a:t>Overview</a:t>
            </a:r>
            <a:br>
              <a:rPr lang="en-US" sz="2400">
                <a:solidFill>
                  <a:srgbClr val="9AA2A5"/>
                </a:solidFill>
                <a:ea typeface="Aptos" pitchFamily="34" charset="-122"/>
                <a:cs typeface="Aptos Display" pitchFamily="34" charset="-120"/>
              </a:rPr>
            </a:br>
            <a:r>
              <a:rPr lang="en-US" sz="2400">
                <a:solidFill>
                  <a:srgbClr val="F2F3F6"/>
                </a:solidFill>
              </a:rPr>
              <a:t>Combined participation across Data &amp; AI and Databricks learning</a:t>
            </a:r>
            <a:br>
              <a:rPr lang="en-US" sz="2400">
                <a:solidFill>
                  <a:srgbClr val="E8ECF4"/>
                </a:solidFill>
              </a:rPr>
            </a:br>
            <a:br>
              <a:rPr lang="en-US" sz="2400">
                <a:solidFill>
                  <a:srgbClr val="E8ECF4"/>
                </a:solidFill>
              </a:rPr>
            </a:br>
            <a:endParaRPr lang="de-AT" sz="2400"/>
          </a:p>
        </p:txBody>
      </p:sp>
      <p:sp>
        <p:nvSpPr>
          <p:cNvPr id="5" name="Date Placeholder 4"/>
          <p:cNvSpPr>
            <a:spLocks noGrp="1"/>
          </p:cNvSpPr>
          <p:nvPr/>
        </p:nvSpPr>
        <p:spPr>
          <a:xfrm>
            <a:off x="11063125" y="181996"/>
            <a:ext cx="873637" cy="153888"/>
          </a:xfrm>
          <a:prstGeom prst="rect">
            <a:avLst/>
          </a:prstGeom>
        </p:spPr>
        <p:txBody>
          <a:bodyPr/>
          <a:lstStyle/>
          <a:p>
            <a:r>
              <a:rPr lang="de-DE" sz="900">
                <a:solidFill>
                  <a:srgbClr val="9aa1b2"/>
                </a:solidFill>
              </a:rPr>
              <a:t>Demo data</a:t>
            </a:r>
            <a:endParaRPr lang="en-GB"/>
          </a:p>
        </p:txBody>
      </p:sp>
      <p:sp>
        <p:nvSpPr>
          <p:cNvPr id="6" name="Footer Placeholder 5"/>
          <p:cNvSpPr>
            <a:spLocks noGrp="1"/>
          </p:cNvSpPr>
          <p:nvPr/>
        </p:nvSpPr>
        <p:spPr>
          <a:xfrm>
            <a:off x="1436787" y="6583761"/>
            <a:ext cx="6953250" cy="36933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aa1b2"/>
                </a:solidFill>
                <a:effectLst/>
                <a:uLnTx/>
                <a:uFillTx/>
                <a:latin typeface="Roboto Light"/>
                <a:ea typeface="+mn-ea"/>
                <a:cs typeface="+mn-cs"/>
              </a:rPr>
              <a:t>Data &amp; AI @ Contoso</a:t>
            </a:r>
          </a:p>
          <a:p>
            <a:endParaRPr lang="en-GB"/>
          </a:p>
        </p:txBody>
      </p:sp>
      <p:sp>
        <p:nvSpPr>
          <p:cNvPr id="7" name="Slide Number Placeholder 6"/>
          <p:cNvSpPr>
            <a:spLocks noGrp="1"/>
          </p:cNvSpPr>
          <p:nvPr/>
        </p:nvSpPr>
        <p:spPr>
          <a:xfrm>
            <a:off x="839788" y="6587737"/>
            <a:ext cx="347662" cy="184666"/>
          </a:xfrm>
          <a:prstGeom prst="rect">
            <a:avLst/>
          </a:prstGeom>
        </p:spPr>
        <p:txBody>
          <a:bodyPr/>
          <a:lstStyle/>
          <a:p>
            <a:pPr algn="l"/>
            <a:fld id="{64E38502-06D2-4E51-82FE-464E052045F9}" type="slidenum">
              <a:rPr lang="en-GB" smtClean="0">
                <a:solidFill>
                  <a:srgbClr val="E8ECF4"/>
                </a:solidFill>
              </a:rPr>
              <a:pPr algn="l"/>
              <a:t>18</a:t>
            </a:fld>
            <a:endParaRPr lang="en-GB"/>
          </a:p>
        </p:txBody>
      </p:sp>
      <p:sp>
        <p:nvSpPr>
          <p:cNvPr id="33" name="Shape 23"/>
          <p:cNvSpPr/>
          <p:nvPr/>
        </p:nvSpPr>
        <p:spPr>
          <a:xfrm>
            <a:off x="831686" y="5766641"/>
            <a:ext cx="6313706" cy="332882"/>
          </a:xfrm>
          <a:prstGeom prst="roundRect">
            <a:avLst>
              <a:gd name="adj" fmla="val 25862"/>
            </a:avLst>
          </a:prstGeom>
          <a:solidFill>
            <a:srgbClr val="FFFFFF"/>
          </a:solidFill>
          <a:ln w="10160">
            <a:solidFill>
              <a:srgbClr val="DDE4E6"/>
            </a:solidFill>
            <a:prstDash val="solid"/>
          </a:ln>
        </p:spPr>
        <p:txBody>
          <a:bodyPr/>
          <a:lstStyle/>
          <a:p>
            <a:r>
              <a:rPr lang="en-US" sz="900"/>
              <a:t>Employees participated in </a:t>
            </a:r>
            <a:r>
              <a:rPr lang="en-US" sz="900" b="1"/>
              <a:t>both</a:t>
            </a:r>
            <a:r>
              <a:rPr lang="en-US" sz="900"/>
              <a:t> Data Literacy programs (</a:t>
            </a:r>
            <a:r>
              <a:rPr lang="en-US" sz="900" err="1"/>
              <a:t>Beacont</a:t>
            </a:r>
            <a:r>
              <a:rPr lang="en-US" sz="900"/>
              <a:t>/ITP/</a:t>
            </a:r>
            <a:r>
              <a:rPr lang="en-US" sz="900" err="1"/>
              <a:t>PlanTrack</a:t>
            </a:r>
            <a:r>
              <a:rPr lang="en-US" sz="900"/>
              <a:t>) </a:t>
            </a:r>
            <a:r>
              <a:rPr lang="en-US" sz="900" b="1"/>
              <a:t>and</a:t>
            </a:r>
            <a:r>
              <a:rPr lang="en-US" sz="900"/>
              <a:t> completed Databricks training — showing breadth of engagement across Contoso's data upskilling initiatives.</a:t>
            </a:r>
            <a:endParaRPr lang="de-AT" sz="900"/>
          </a:p>
          <a:p>
            <a:endParaRPr lang="de-AT" sz="900"/>
          </a:p>
        </p:txBody>
      </p:sp>
      <p:sp>
        <p:nvSpPr>
          <p:cNvPr id="34" name="Shape 24"/>
          <p:cNvSpPr/>
          <p:nvPr/>
        </p:nvSpPr>
        <p:spPr>
          <a:xfrm>
            <a:off x="839788" y="5804443"/>
            <a:ext cx="73053" cy="296597"/>
          </a:xfrm>
          <a:prstGeom prst="rect">
            <a:avLst/>
          </a:prstGeom>
          <a:solidFill>
            <a:srgbClr val="E4002B"/>
          </a:solidFill>
          <a:ln w="12700">
            <a:solidFill>
              <a:srgbClr val="E4002B"/>
            </a:solidFill>
            <a:prstDash val="solid"/>
          </a:ln>
        </p:spPr>
        <p:txBody>
          <a:bodyPr/>
          <a:lstStyle/>
          <a:p>
            <a:endParaRPr lang="de-AT"/>
          </a:p>
        </p:txBody>
      </p:sp>
      <p:sp>
        <p:nvSpPr>
          <p:cNvPr id="35" name="Text 25"/>
          <p:cNvSpPr/>
          <p:nvPr/>
        </p:nvSpPr>
        <p:spPr>
          <a:xfrm>
            <a:off x="1015902" y="5664981"/>
            <a:ext cx="6862102" cy="612385"/>
          </a:xfrm>
          <a:prstGeom prst="rect">
            <a:avLst/>
          </a:prstGeom>
          <a:noFill/>
          <a:ln/>
        </p:spPr>
        <p:txBody>
          <a:bodyPr wrap="square" lIns="0" tIns="0" rIns="0" bIns="0" rtlCol="0" anchor="ctr">
            <a:noAutofit/>
          </a:bodyPr>
          <a:lstStyle/>
          <a:p>
            <a:endParaRPr lang="en-US" sz="1100"/>
          </a:p>
        </p:txBody>
      </p:sp>
      <p:grpSp>
        <p:nvGrpSpPr>
          <p:cNvPr id="25" name="Group 24"/>
          <p:cNvGrpSpPr/>
          <p:nvPr/>
        </p:nvGrpSpPr>
        <p:grpSpPr>
          <a:xfrm>
            <a:off x="409471" y="2539860"/>
            <a:ext cx="3381797" cy="2841344"/>
            <a:chOff x="1006362" y="2328856"/>
            <a:chExt cx="5263856" cy="3225617"/>
          </a:xfrm>
        </p:grpSpPr>
        <p:sp>
          <p:nvSpPr>
            <p:cNvPr id="26" name="Shape 19"/>
            <p:cNvSpPr/>
            <p:nvPr/>
          </p:nvSpPr>
          <p:spPr>
            <a:xfrm>
              <a:off x="1006362" y="2328856"/>
              <a:ext cx="5263856" cy="3225617"/>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27" name="Text 20"/>
            <p:cNvSpPr/>
            <p:nvPr/>
          </p:nvSpPr>
          <p:spPr>
            <a:xfrm>
              <a:off x="1183417" y="2497300"/>
              <a:ext cx="5065776" cy="201169"/>
            </a:xfrm>
            <a:prstGeom prst="rect">
              <a:avLst/>
            </a:prstGeom>
            <a:noFill/>
            <a:ln/>
          </p:spPr>
          <p:txBody>
            <a:bodyPr wrap="square" lIns="0" tIns="0" rIns="0" bIns="0" rtlCol="0" anchor="ctr"/>
            <a:lstStyle/>
            <a:p>
              <a:r>
                <a:rPr lang="en-US" sz="1200" b="1"/>
                <a:t> Country Headcount % – Cross-Program Training</a:t>
              </a:r>
            </a:p>
          </p:txBody>
        </p:sp>
      </p:grpSp>
      <p:sp>
        <p:nvSpPr>
          <p:cNvPr id="28" name="Shape 19"/>
          <p:cNvSpPr/>
          <p:nvPr/>
        </p:nvSpPr>
        <p:spPr>
          <a:xfrm>
            <a:off x="3988539" y="2539149"/>
            <a:ext cx="3957840" cy="2841344"/>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31" name="Text 20"/>
          <p:cNvSpPr/>
          <p:nvPr/>
        </p:nvSpPr>
        <p:spPr>
          <a:xfrm>
            <a:off x="4166719" y="2789374"/>
            <a:ext cx="3868448" cy="191060"/>
          </a:xfrm>
          <a:prstGeom prst="rect">
            <a:avLst/>
          </a:prstGeom>
          <a:noFill/>
          <a:ln/>
        </p:spPr>
        <p:txBody>
          <a:bodyPr wrap="square" lIns="0" tIns="0" rIns="0" bIns="0" rtlCol="0" anchor="ctr"/>
          <a:lstStyle/>
          <a:p>
            <a:r>
              <a:rPr lang="en-US" sz="1200" b="1"/>
              <a:t>Top 5 Countries – Cross-Program Reach</a:t>
            </a:r>
          </a:p>
          <a:p>
            <a:r>
              <a:rPr lang="en-US" sz="1200" b="1"/>
              <a:t> (Data Literacy + Databricks Training</a:t>
            </a:r>
            <a:r>
              <a:rPr lang="en-US" sz="1200"/>
              <a:t>)</a:t>
            </a:r>
            <a:endParaRPr lang="en-US" sz="1200" b="1"/>
          </a:p>
        </p:txBody>
      </p:sp>
      <p:sp>
        <p:nvSpPr>
          <p:cNvPr id="37" name="Shape 19"/>
          <p:cNvSpPr/>
          <p:nvPr/>
        </p:nvSpPr>
        <p:spPr>
          <a:xfrm>
            <a:off x="8124559" y="2539149"/>
            <a:ext cx="3746457" cy="2841344"/>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endParaRPr lang="de-AT"/>
          </a:p>
        </p:txBody>
      </p:sp>
      <p:sp>
        <p:nvSpPr>
          <p:cNvPr id="40" name="Text 20"/>
          <p:cNvSpPr/>
          <p:nvPr/>
        </p:nvSpPr>
        <p:spPr>
          <a:xfrm>
            <a:off x="8213347" y="2722809"/>
            <a:ext cx="3868448" cy="191060"/>
          </a:xfrm>
          <a:prstGeom prst="rect">
            <a:avLst/>
          </a:prstGeom>
          <a:noFill/>
          <a:ln/>
        </p:spPr>
        <p:txBody>
          <a:bodyPr wrap="square" lIns="0" tIns="0" rIns="0" bIns="0" rtlCol="0" anchor="ctr"/>
          <a:lstStyle/>
          <a:p>
            <a:r>
              <a:rPr lang="en-US" sz="1200" b="1"/>
              <a:t>Top 5 Companies – Cross-Program Reach</a:t>
            </a:r>
          </a:p>
          <a:p>
            <a:r>
              <a:rPr lang="en-US" sz="1200" b="1"/>
              <a:t> (Data Literacy + Databricks Training)</a:t>
            </a:r>
          </a:p>
        </p:txBody>
      </p:sp>
      <p:pic>
        <p:nvPicPr>
          <p:cNvPr id="48" name="chart:cross_training_countries"/>
          <p:cNvPicPr>
            <a:picLocks noChangeAspect="1"/>
          </p:cNvPicPr>
          <p:nvPr/>
        </p:nvPicPr>
        <p:blipFill>
          <a:blip r:embed="rId2"/>
          <a:stretch>
            <a:fillRect/>
          </a:stretch>
        </p:blipFill>
        <p:spPr>
          <a:xfrm>
            <a:off x="4127170" y="3259984"/>
            <a:ext cx="3720746" cy="1786770"/>
          </a:xfrm>
          <a:prstGeom prst="rect">
            <a:avLst/>
          </a:prstGeom>
        </p:spPr>
      </p:pic>
      <p:pic>
        <p:nvPicPr>
          <p:cNvPr id="50" name="chart:cross_training_companies"/>
          <p:cNvPicPr>
            <a:picLocks noChangeAspect="1"/>
          </p:cNvPicPr>
          <p:nvPr/>
        </p:nvPicPr>
        <p:blipFill>
          <a:blip r:embed="rId3"/>
          <a:stretch>
            <a:fillRect/>
          </a:stretch>
        </p:blipFill>
        <p:spPr>
          <a:xfrm>
            <a:off x="8213348" y="3074140"/>
            <a:ext cx="3597668" cy="1870094"/>
          </a:xfrm>
          <a:prstGeom prst="rect">
            <a:avLst/>
          </a:prstGeom>
        </p:spPr>
      </p:pic>
      <p:pic>
        <p:nvPicPr>
          <p:cNvPr id="54" name="chart:cross_training_country_map"/>
          <p:cNvPicPr>
            <a:picLocks noChangeAspect="1"/>
          </p:cNvPicPr>
          <p:nvPr/>
        </p:nvPicPr>
        <p:blipFill>
          <a:blip r:embed="rId4"/>
          <a:stretch>
            <a:fillRect/>
          </a:stretch>
        </p:blipFill>
        <p:spPr>
          <a:xfrm>
            <a:off x="469471" y="2955118"/>
            <a:ext cx="3261797" cy="2235675"/>
          </a:xfrm>
          <a:prstGeom prst="rect">
            <a:avLst/>
          </a:prstGeom>
        </p:spPr>
      </p:pic>
      <p:grpSp>
        <p:nvGrpSpPr>
          <p:cNvPr id="59" name="Group 58"/>
          <p:cNvGrpSpPr/>
          <p:nvPr/>
        </p:nvGrpSpPr>
        <p:grpSpPr>
          <a:xfrm>
            <a:off x="1368940" y="1443512"/>
            <a:ext cx="8677656" cy="898097"/>
            <a:chOff x="2691420" y="1417870"/>
            <a:chExt cx="8677656" cy="898097"/>
          </a:xfrm>
        </p:grpSpPr>
        <p:grpSp>
          <p:nvGrpSpPr>
            <p:cNvPr id="10" name="Group 9"/>
            <p:cNvGrpSpPr/>
            <p:nvPr/>
          </p:nvGrpSpPr>
          <p:grpSpPr>
            <a:xfrm>
              <a:off x="2691420" y="1447287"/>
              <a:ext cx="6455664" cy="868680"/>
              <a:chOff x="1306068" y="1858345"/>
              <a:chExt cx="6455664" cy="868680"/>
            </a:xfrm>
          </p:grpSpPr>
          <p:sp>
            <p:nvSpPr>
              <p:cNvPr id="11" name="Shape 4"/>
              <p:cNvSpPr/>
              <p:nvPr/>
            </p:nvSpPr>
            <p:spPr>
              <a:xfrm>
                <a:off x="1306068"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2" name="kpi:dual_companies"/>
              <p:cNvSpPr/>
              <p:nvPr/>
            </p:nvSpPr>
            <p:spPr>
              <a:xfrm>
                <a:off x="1443228"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E4002B"/>
                    </a:solidFill>
                    <a:ea typeface="Roboto Light"/>
                    <a:cs typeface="Roboto Light"/>
                  </a:rPr>
                  <a:t>12</a:t>
                </a:r>
              </a:p>
            </p:txBody>
          </p:sp>
          <p:sp>
            <p:nvSpPr>
              <p:cNvPr id="13" name="Text 6"/>
              <p:cNvSpPr/>
              <p:nvPr/>
            </p:nvSpPr>
            <p:spPr>
              <a:xfrm>
                <a:off x="1379220" y="2379553"/>
                <a:ext cx="1865376" cy="182880"/>
              </a:xfrm>
              <a:prstGeom prst="rect">
                <a:avLst/>
              </a:prstGeom>
              <a:noFill/>
              <a:ln/>
            </p:spPr>
            <p:txBody>
              <a:bodyPr wrap="square" lIns="0" tIns="0" rIns="0" bIns="0" rtlCol="0" anchor="ctr">
                <a:normAutofit fontScale="92500"/>
              </a:bodyPr>
              <a:lstStyle/>
              <a:p>
                <a:pPr algn="ctr"/>
                <a:r>
                  <a:rPr lang="de-AT" sz="1000" b="1">
                    <a:solidFill>
                      <a:srgbClr val="7E8789"/>
                    </a:solidFill>
                  </a:rPr>
                  <a:t>Companies </a:t>
                </a:r>
                <a:r>
                  <a:rPr lang="de-AT" sz="1000" b="1" err="1">
                    <a:solidFill>
                      <a:srgbClr val="7E8789"/>
                    </a:solidFill>
                  </a:rPr>
                  <a:t>with</a:t>
                </a:r>
                <a:r>
                  <a:rPr lang="de-AT" sz="1000" b="1">
                    <a:solidFill>
                      <a:srgbClr val="7E8789"/>
                    </a:solidFill>
                  </a:rPr>
                  <a:t> Dual </a:t>
                </a:r>
                <a:r>
                  <a:rPr lang="de-AT" sz="1000" b="1" err="1">
                    <a:solidFill>
                      <a:srgbClr val="7E8789"/>
                    </a:solidFill>
                  </a:rPr>
                  <a:t>Participation</a:t>
                </a:r>
                <a:endParaRPr lang="en-US" sz="950" b="1">
                  <a:solidFill>
                    <a:srgbClr val="7E8789"/>
                  </a:solidFill>
                </a:endParaRPr>
              </a:p>
            </p:txBody>
          </p:sp>
          <p:grpSp>
            <p:nvGrpSpPr>
              <p:cNvPr id="14" name="Group 13"/>
              <p:cNvGrpSpPr/>
              <p:nvPr/>
            </p:nvGrpSpPr>
            <p:grpSpPr>
              <a:xfrm>
                <a:off x="3528060" y="1858345"/>
                <a:ext cx="4233672" cy="868680"/>
                <a:chOff x="3528060" y="1858345"/>
                <a:chExt cx="4233672" cy="868680"/>
              </a:xfrm>
            </p:grpSpPr>
            <p:sp>
              <p:nvSpPr>
                <p:cNvPr id="15" name="Shape 7"/>
                <p:cNvSpPr/>
                <p:nvPr/>
              </p:nvSpPr>
              <p:spPr>
                <a:xfrm>
                  <a:off x="3528060"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6" name="kpi:dual_participation_rate"/>
                <p:cNvSpPr/>
                <p:nvPr/>
              </p:nvSpPr>
              <p:spPr>
                <a:xfrm>
                  <a:off x="3665220"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8C3A62"/>
                      </a:solidFill>
                    </a:rPr>
                    <a:t>39.4%</a:t>
                  </a:r>
                </a:p>
              </p:txBody>
            </p:sp>
            <p:sp>
              <p:nvSpPr>
                <p:cNvPr id="17" name="Text 9"/>
                <p:cNvSpPr/>
                <p:nvPr/>
              </p:nvSpPr>
              <p:spPr>
                <a:xfrm>
                  <a:off x="3601212" y="2417089"/>
                  <a:ext cx="1865376" cy="182880"/>
                </a:xfrm>
                <a:prstGeom prst="rect">
                  <a:avLst/>
                </a:prstGeom>
                <a:noFill/>
                <a:ln/>
              </p:spPr>
              <p:txBody>
                <a:bodyPr wrap="square" lIns="0" tIns="0" rIns="0" bIns="0" rtlCol="0" anchor="ctr">
                  <a:noAutofit/>
                </a:bodyPr>
                <a:lstStyle/>
                <a:p>
                  <a:pPr algn="ctr"/>
                  <a:r>
                    <a:rPr lang="de-AT" sz="900" b="1">
                      <a:solidFill>
                        <a:srgbClr val="7E8789"/>
                      </a:solidFill>
                    </a:rPr>
                    <a:t>Dual </a:t>
                  </a:r>
                  <a:r>
                    <a:rPr lang="de-AT" sz="900" b="1" err="1">
                      <a:solidFill>
                        <a:srgbClr val="7E8789"/>
                      </a:solidFill>
                      <a:effectLst/>
                    </a:rPr>
                    <a:t>Participation</a:t>
                  </a:r>
                  <a:r>
                    <a:rPr lang="de-AT" sz="900" b="1">
                      <a:solidFill>
                        <a:srgbClr val="7E8789"/>
                      </a:solidFill>
                      <a:effectLst/>
                    </a:rPr>
                    <a:t> Rate</a:t>
                  </a:r>
                  <a:endParaRPr lang="en-US" sz="900" b="1">
                    <a:solidFill>
                      <a:srgbClr val="7E8789"/>
                    </a:solidFill>
                  </a:endParaRPr>
                </a:p>
              </p:txBody>
            </p:sp>
            <p:grpSp>
              <p:nvGrpSpPr>
                <p:cNvPr id="18" name="Group 17"/>
                <p:cNvGrpSpPr/>
                <p:nvPr/>
              </p:nvGrpSpPr>
              <p:grpSpPr>
                <a:xfrm>
                  <a:off x="5750052" y="1858345"/>
                  <a:ext cx="2011680" cy="868680"/>
                  <a:chOff x="5750052" y="1858345"/>
                  <a:chExt cx="2011680" cy="868680"/>
                </a:xfrm>
              </p:grpSpPr>
              <p:sp>
                <p:nvSpPr>
                  <p:cNvPr id="19" name="Shape 10"/>
                  <p:cNvSpPr/>
                  <p:nvPr/>
                </p:nvSpPr>
                <p:spPr>
                  <a:xfrm>
                    <a:off x="5750052"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20" name="kpi:dual_countries"/>
                  <p:cNvSpPr/>
                  <p:nvPr/>
                </p:nvSpPr>
                <p:spPr>
                  <a:xfrm>
                    <a:off x="5887212" y="2036587"/>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0D8492"/>
                        </a:solidFill>
                      </a:rPr>
                      <a:t>10</a:t>
                    </a:r>
                  </a:p>
                </p:txBody>
              </p:sp>
              <p:sp>
                <p:nvSpPr>
                  <p:cNvPr id="21" name="Text 12"/>
                  <p:cNvSpPr/>
                  <p:nvPr/>
                </p:nvSpPr>
                <p:spPr>
                  <a:xfrm>
                    <a:off x="5823204" y="2379553"/>
                    <a:ext cx="1865376" cy="182880"/>
                  </a:xfrm>
                  <a:prstGeom prst="rect">
                    <a:avLst/>
                  </a:prstGeom>
                  <a:noFill/>
                  <a:ln/>
                </p:spPr>
                <p:txBody>
                  <a:bodyPr wrap="square" lIns="0" tIns="0" rIns="0" bIns="0" rtlCol="0" anchor="ctr">
                    <a:normAutofit/>
                  </a:bodyPr>
                  <a:lstStyle/>
                  <a:p>
                    <a:pPr algn="ctr"/>
                    <a:endParaRPr lang="en-US" sz="950" b="1">
                      <a:solidFill>
                        <a:srgbClr val="7A8285"/>
                      </a:solidFill>
                    </a:endParaRPr>
                  </a:p>
                </p:txBody>
              </p:sp>
            </p:grpSp>
          </p:grpSp>
        </p:grpSp>
        <p:sp>
          <p:nvSpPr>
            <p:cNvPr id="24" name="Text 9"/>
            <p:cNvSpPr/>
            <p:nvPr/>
          </p:nvSpPr>
          <p:spPr>
            <a:xfrm>
              <a:off x="7272564" y="2007637"/>
              <a:ext cx="1865376" cy="182880"/>
            </a:xfrm>
            <a:prstGeom prst="rect">
              <a:avLst/>
            </a:prstGeom>
            <a:noFill/>
            <a:ln/>
          </p:spPr>
          <p:txBody>
            <a:bodyPr wrap="square" lIns="0" tIns="0" rIns="0" bIns="0" rtlCol="0" anchor="ctr">
              <a:noAutofit/>
            </a:bodyPr>
            <a:lstStyle/>
            <a:p>
              <a:pPr algn="ctr"/>
              <a:r>
                <a:rPr lang="de-AT" sz="900" b="1">
                  <a:solidFill>
                    <a:srgbClr val="7E8789"/>
                  </a:solidFill>
                </a:rPr>
                <a:t>Countries </a:t>
              </a:r>
              <a:r>
                <a:rPr lang="de-AT" sz="900" b="1" err="1">
                  <a:solidFill>
                    <a:srgbClr val="7E8789"/>
                  </a:solidFill>
                </a:rPr>
                <a:t>with</a:t>
              </a:r>
              <a:r>
                <a:rPr lang="de-AT" sz="900" b="1">
                  <a:solidFill>
                    <a:srgbClr val="7E8789"/>
                  </a:solidFill>
                </a:rPr>
                <a:t> Dual </a:t>
              </a:r>
              <a:r>
                <a:rPr lang="de-AT" sz="900" b="1" err="1">
                  <a:solidFill>
                    <a:srgbClr val="7E8789"/>
                  </a:solidFill>
                </a:rPr>
                <a:t>Participation</a:t>
              </a:r>
              <a:endParaRPr lang="en-US" sz="900" b="1">
                <a:solidFill>
                  <a:srgbClr val="7E8789"/>
                </a:solidFill>
              </a:endParaRPr>
            </a:p>
          </p:txBody>
        </p:sp>
        <p:sp>
          <p:nvSpPr>
            <p:cNvPr id="55" name="Shape 7"/>
            <p:cNvSpPr/>
            <p:nvPr/>
          </p:nvSpPr>
          <p:spPr>
            <a:xfrm>
              <a:off x="9357396" y="1417870"/>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56" name="Text 9"/>
            <p:cNvSpPr/>
            <p:nvPr/>
          </p:nvSpPr>
          <p:spPr>
            <a:xfrm>
              <a:off x="9442704" y="2008135"/>
              <a:ext cx="1865376" cy="182880"/>
            </a:xfrm>
            <a:prstGeom prst="rect">
              <a:avLst/>
            </a:prstGeom>
            <a:noFill/>
            <a:ln/>
          </p:spPr>
          <p:txBody>
            <a:bodyPr wrap="square" lIns="0" tIns="0" rIns="0" bIns="0" rtlCol="0" anchor="ctr">
              <a:noAutofit/>
            </a:bodyPr>
            <a:lstStyle/>
            <a:p>
              <a:pPr algn="ctr"/>
              <a:r>
                <a:rPr lang="de-AT" sz="900" b="1">
                  <a:solidFill>
                    <a:srgbClr val="7E8789"/>
                  </a:solidFill>
                </a:rPr>
                <a:t>Overall % of Group Headcount</a:t>
              </a:r>
              <a:endParaRPr lang="en-US" sz="900" b="1">
                <a:solidFill>
                  <a:srgbClr val="7E8789"/>
                </a:solidFill>
              </a:endParaRPr>
            </a:p>
          </p:txBody>
        </p:sp>
        <p:sp>
          <p:nvSpPr>
            <p:cNvPr id="57" name="kpi:dual_group_headcount_rate"/>
            <p:cNvSpPr/>
            <p:nvPr/>
          </p:nvSpPr>
          <p:spPr>
            <a:xfrm>
              <a:off x="9515856" y="1629505"/>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a:solidFill>
                    <a:srgbClr val="E66D00"/>
                  </a:solidFill>
                </a:rPr>
                <a:t>1.3%</a:t>
              </a:r>
            </a:p>
          </p:txBody>
        </p:sp>
      </p:grpSp>
      <p:sp>
        <p:nvSpPr>
          <p:cNvPr id="60"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itle 1"/>
          <p:cNvSpPr>
            <a:spLocks noGrp="1"/>
          </p:cNvSpPr>
          <p:nvPr/>
        </p:nvSpPr>
        <p:spPr>
          <a:xfrm>
            <a:off x="2585803" y="4339497"/>
            <a:ext cx="7511795" cy="706347"/>
          </a:xfrm>
          <a:prstGeom prst="rect">
            <a:avLst/>
          </a:prstGeom>
        </p:spPr>
        <p:txBody>
          <a:bodyPr/>
          <a:lstStyle/>
          <a:p>
            <a:r>
              <a:rPr lang="de-AT" dirty="0" err="1" sz="2600">
                <a:solidFill>
                  <a:srgbClr val="F2F3F6"/>
                </a:solidFill>
              </a:rPr>
              <a:t>PlanTrack</a:t>
            </a:r>
            <a:r>
              <a:rPr lang="de-AT" dirty="0" sz="2600">
                <a:solidFill>
                  <a:srgbClr val="F2F3F6"/>
                </a:solidFill>
              </a:rPr>
              <a:t> Appendix</a:t>
            </a:r>
            <a:endParaRPr lang="de-AT" dirty="0" err="1"/>
          </a:p>
        </p:txBody>
      </p:sp>
      <p:sp>
        <p:nvSpPr>
          <p:cNvPr id="3" name="Subtitle 2"/>
          <p:cNvSpPr>
            <a:spLocks noGrp="1"/>
          </p:cNvSpPr>
          <p:nvPr/>
        </p:nvSpPr>
        <p:spPr>
          <a:xfrm>
            <a:off x="2585804" y="5080769"/>
            <a:ext cx="7511795" cy="350865"/>
          </a:xfrm>
          <a:prstGeom prst="rect">
            <a:avLst/>
          </a:prstGeom>
        </p:spPr>
        <p:txBody>
          <a:bodyPr/>
          <a:lstStyle/>
          <a:p>
            <a:r>
              <a:rPr lang="en-US" sz="1600">
                <a:solidFill>
                  <a:srgbClr val="9aa1b2"/>
                </a:solidFill>
                <a:latin typeface="Roboto Thin"/>
                <a:ea typeface="Roboto Thin"/>
                <a:cs typeface="Roboto Thin"/>
              </a:rPr>
              <a:t>Group License Usage Across the Group</a:t>
            </a:r>
            <a:endParaRPr lang="en-US"/>
          </a:p>
        </p:txBody>
      </p:sp>
      <p:sp>
        <p:nvSpPr>
          <p:cNvPr id="4" name="Date Placeholder 3"/>
          <p:cNvSpPr>
            <a:spLocks noGrp="1"/>
          </p:cNvSpPr>
          <p:nvPr/>
        </p:nvSpPr>
        <p:spPr>
          <a:xfrm>
            <a:off x="839788" y="6587736"/>
            <a:ext cx="1049967" cy="184666"/>
          </a:xfrm>
          <a:prstGeom prst="rect">
            <a:avLst/>
          </a:prstGeom>
        </p:spPr>
        <p:txBody>
          <a:bodyPr/>
          <a:lstStyle/>
          <a:p>
            <a:r>
              <a:rPr lang="de-DE" sz="900">
                <a:solidFill>
                  <a:srgbClr val="9aa1b2"/>
                </a:solidFill>
              </a:rPr>
              <a:t>Demo data</a:t>
            </a:r>
            <a:endParaRPr lang="de-AT"/>
          </a:p>
        </p:txBody>
      </p:sp>
      <p:sp>
        <p:nvSpPr>
          <p:cNvPr id="5"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5" name="Shape 3"/>
          <p:cNvSpPr/>
          <p:nvPr/>
        </p:nvSpPr>
        <p:spPr>
          <a:xfrm>
            <a:off x="841248" y="1265355"/>
            <a:ext cx="10561320" cy="658368"/>
          </a:xfrm>
          <a:prstGeom prst="roundRect">
            <a:avLst>
              <a:gd name="adj" fmla="val 11111"/>
            </a:avLst>
          </a:prstGeom>
          <a:solidFill>
            <a:srgbClr val="F9FAFA"/>
          </a:solidFill>
          <a:ln w="9525">
            <a:solidFill>
              <a:srgbClr val="E1E5E8"/>
            </a:solidFill>
            <a:prstDash val="solid"/>
          </a:ln>
        </p:spPr>
        <p:txBody>
          <a:bodyPr/>
          <a:lstStyle/>
          <a:p>
            <a:endParaRPr lang="de-AT"/>
          </a:p>
        </p:txBody>
      </p:sp>
      <p:sp>
        <p:nvSpPr>
          <p:cNvPr id="6" name="Text 4"/>
          <p:cNvSpPr/>
          <p:nvPr/>
        </p:nvSpPr>
        <p:spPr>
          <a:xfrm>
            <a:off x="1016525" y="1345865"/>
            <a:ext cx="10168128" cy="256032"/>
          </a:xfrm>
          <a:prstGeom prst="rect">
            <a:avLst/>
          </a:prstGeom>
          <a:noFill/>
          <a:ln/>
        </p:spPr>
        <p:txBody>
          <a:bodyPr wrap="square" lIns="381" tIns="381" rIns="381" bIns="381" rtlCol="0" anchor="t">
            <a:noAutofit/>
          </a:bodyPr>
          <a:lstStyle/>
          <a:p>
            <a:r>
              <a:rPr lang="en-US" sz="1400" dirty="0">
                <a:solidFill>
                  <a:srgbClr val="33383B"/>
                </a:solidFill>
                <a:latin typeface="Roboto Light"/>
                <a:ea typeface="Roboto Light"/>
                <a:cs typeface="Roboto Light"/>
              </a:rPr>
              <a:t> </a:t>
            </a:r>
            <a:r>
              <a:rPr lang="en-US" sz="1400" dirty="0">
                <a:solidFill>
                  <a:srgbClr val="33383B"/>
                </a:solidFill>
                <a:ea typeface="+mn-lt"/>
                <a:cs typeface="+mn-lt"/>
              </a:rPr>
              <a:t>This view explains how license utilization is calculated and what to consider before comparing entities. The exact numbers and rankings are shown on </a:t>
            </a:r>
            <a:r>
              <a:rPr lang="en-US" sz="1400" dirty="0" err="1">
                <a:solidFill>
                  <a:srgbClr val="33383B"/>
                </a:solidFill>
                <a:ea typeface="+mn-lt"/>
                <a:cs typeface="+mn-lt"/>
              </a:rPr>
              <a:t>thedetailed</a:t>
            </a:r>
            <a:r>
              <a:rPr lang="en-US" sz="1400" dirty="0">
                <a:solidFill>
                  <a:srgbClr val="33383B"/>
                </a:solidFill>
                <a:ea typeface="+mn-lt"/>
                <a:cs typeface="+mn-lt"/>
              </a:rPr>
              <a:t> utilization slides</a:t>
            </a:r>
            <a:endParaRPr lang="en-US" sz="1400" dirty="0">
              <a:solidFill>
                <a:srgbClr val="000000"/>
              </a:solidFill>
              <a:ea typeface="+mn-lt"/>
              <a:cs typeface="+mn-lt"/>
            </a:endParaRPr>
          </a:p>
        </p:txBody>
      </p:sp>
      <p:sp>
        <p:nvSpPr>
          <p:cNvPr id="9" name="Shape 7"/>
          <p:cNvSpPr/>
          <p:nvPr/>
        </p:nvSpPr>
        <p:spPr>
          <a:xfrm>
            <a:off x="1042416" y="2816352"/>
            <a:ext cx="1033272" cy="237744"/>
          </a:xfrm>
          <a:prstGeom prst="roundRect">
            <a:avLst>
              <a:gd name="adj" fmla="val 30769"/>
            </a:avLst>
          </a:prstGeom>
          <a:solidFill>
            <a:srgbClr val="FFFFFF"/>
          </a:solidFill>
          <a:ln w="12700">
            <a:solidFill>
              <a:srgbClr val="FFFFFF">
                <a:alpha val="0"/>
              </a:srgbClr>
            </a:solidFill>
            <a:prstDash val="solid"/>
          </a:ln>
        </p:spPr>
        <p:txBody>
          <a:bodyPr/>
          <a:lstStyle/>
          <a:p>
            <a:endParaRPr lang="de-AT"/>
          </a:p>
        </p:txBody>
      </p:sp>
      <p:sp>
        <p:nvSpPr>
          <p:cNvPr id="17" name="Shape 15"/>
          <p:cNvSpPr/>
          <p:nvPr/>
        </p:nvSpPr>
        <p:spPr>
          <a:xfrm>
            <a:off x="3739896" y="2816352"/>
            <a:ext cx="1033272" cy="237744"/>
          </a:xfrm>
          <a:prstGeom prst="roundRect">
            <a:avLst>
              <a:gd name="adj" fmla="val 30769"/>
            </a:avLst>
          </a:prstGeom>
          <a:solidFill>
            <a:srgbClr val="FFFFFF"/>
          </a:solidFill>
          <a:ln w="12700">
            <a:solidFill>
              <a:srgbClr val="FFFFFF">
                <a:alpha val="0"/>
              </a:srgbClr>
            </a:solidFill>
            <a:prstDash val="solid"/>
          </a:ln>
        </p:spPr>
        <p:txBody>
          <a:bodyPr/>
          <a:lstStyle/>
          <a:p>
            <a:endParaRPr lang="de-AT"/>
          </a:p>
        </p:txBody>
      </p:sp>
      <p:sp>
        <p:nvSpPr>
          <p:cNvPr id="25" name="Shape 23"/>
          <p:cNvSpPr/>
          <p:nvPr/>
        </p:nvSpPr>
        <p:spPr>
          <a:xfrm>
            <a:off x="6437376" y="2816352"/>
            <a:ext cx="1033272" cy="237744"/>
          </a:xfrm>
          <a:prstGeom prst="roundRect">
            <a:avLst>
              <a:gd name="adj" fmla="val 30769"/>
            </a:avLst>
          </a:prstGeom>
          <a:solidFill>
            <a:srgbClr val="FFFFFF"/>
          </a:solidFill>
          <a:ln w="12700">
            <a:solidFill>
              <a:srgbClr val="FFFFFF">
                <a:alpha val="0"/>
              </a:srgbClr>
            </a:solidFill>
            <a:prstDash val="solid"/>
          </a:ln>
        </p:spPr>
        <p:txBody>
          <a:bodyPr/>
          <a:lstStyle/>
          <a:p>
            <a:endParaRPr lang="de-AT"/>
          </a:p>
        </p:txBody>
      </p:sp>
      <p:sp>
        <p:nvSpPr>
          <p:cNvPr id="26" name="Text 24"/>
          <p:cNvSpPr/>
          <p:nvPr/>
        </p:nvSpPr>
        <p:spPr>
          <a:xfrm>
            <a:off x="6510528" y="2864757"/>
            <a:ext cx="886968" cy="146304"/>
          </a:xfrm>
          <a:prstGeom prst="rect">
            <a:avLst/>
          </a:prstGeom>
          <a:noFill/>
          <a:ln/>
        </p:spPr>
        <p:txBody>
          <a:bodyPr wrap="square" lIns="381" tIns="381" rIns="381" bIns="381" rtlCol="0" anchor="t">
            <a:normAutofit/>
          </a:bodyPr>
          <a:lstStyle/>
          <a:p>
            <a:endParaRPr lang="en-US" sz="850" b="1">
              <a:solidFill>
                <a:srgbClr val="9A1B2F"/>
              </a:solidFill>
              <a:latin typeface="Roboto Light"/>
              <a:ea typeface="Roboto Light"/>
              <a:cs typeface="Roboto Light"/>
            </a:endParaRPr>
          </a:p>
        </p:txBody>
      </p:sp>
      <p:sp>
        <p:nvSpPr>
          <p:cNvPr id="48" name="Text 46"/>
          <p:cNvSpPr/>
          <p:nvPr/>
        </p:nvSpPr>
        <p:spPr>
          <a:xfrm>
            <a:off x="841248" y="6199632"/>
            <a:ext cx="6675120" cy="146304"/>
          </a:xfrm>
          <a:prstGeom prst="rect">
            <a:avLst/>
          </a:prstGeom>
          <a:noFill/>
          <a:ln/>
        </p:spPr>
        <p:txBody>
          <a:bodyPr wrap="square" lIns="381" tIns="381" rIns="381" bIns="381" rtlCol="0" anchor="t">
            <a:normAutofit/>
          </a:bodyPr>
          <a:lstStyle/>
          <a:p>
            <a:pPr marL="0" indent="0" algn="l">
              <a:buNone/>
            </a:pPr>
            <a:endParaRPr lang="en-US" sz="750">
              <a:solidFill>
                <a:srgbClr val="8B9296"/>
              </a:solidFill>
              <a:latin typeface="Aptos"/>
            </a:endParaRPr>
          </a:p>
        </p:txBody>
      </p:sp>
      <p:sp>
        <p:nvSpPr>
          <p:cNvPr id="52" name="Title 51"/>
          <p:cNvSpPr>
            <a:spLocks noGrp="1"/>
          </p:cNvSpPr>
          <p:nvPr/>
        </p:nvSpPr>
        <p:spPr>
          <a:xfrm>
            <a:off x="836998" y="292641"/>
            <a:ext cx="10528526" cy="1308050"/>
          </a:xfrm>
          <a:prstGeom prst="rect">
            <a:avLst/>
          </a:prstGeom>
        </p:spPr>
        <p:txBody>
          <a:bodyPr/>
          <a:lstStyle/>
          <a:p>
            <a:r>
              <a:rPr lang="en-US" sz="2600">
                <a:solidFill>
                  <a:srgbClr val="F2F3F6"/>
                </a:solidFill>
              </a:rPr>
              <a:t>Read Me</a:t>
            </a:r>
            <a:br>
              <a:rPr lang="en-US" dirty="0">
                <a:solidFill>
                  <a:srgbClr val="E8ECF4"/>
                </a:solidFill>
              </a:rPr>
            </a:br>
            <a:r>
              <a:rPr lang="en-US" sz="1200">
                <a:solidFill>
                  <a:srgbClr val="F2F3F6"/>
                </a:solidFill>
                <a:latin typeface="Montserrat"/>
              </a:rPr>
              <a:t>License Utilization</a:t>
            </a:r>
            <a:endParaRPr lang="en-US" sz="1200">
              <a:solidFill>
                <a:srgbClr val="737B7F"/>
              </a:solidFill>
              <a:latin typeface="Aptos"/>
            </a:endParaRPr>
          </a:p>
          <a:p>
            <a:endParaRPr lang="en-US"/>
          </a:p>
        </p:txBody>
      </p:sp>
      <p:grpSp>
        <p:nvGrpSpPr>
          <p:cNvPr id="2" name="Group 1"/>
          <p:cNvGrpSpPr/>
          <p:nvPr/>
        </p:nvGrpSpPr>
        <p:grpSpPr>
          <a:xfrm>
            <a:off x="655167" y="2179891"/>
            <a:ext cx="10881360" cy="3617405"/>
            <a:chOff x="667512" y="2435923"/>
            <a:chExt cx="10881360" cy="3617405"/>
          </a:xfrm>
        </p:grpSpPr>
        <p:grpSp>
          <p:nvGrpSpPr>
            <p:cNvPr id="4" name="Group 3"/>
            <p:cNvGrpSpPr/>
            <p:nvPr/>
          </p:nvGrpSpPr>
          <p:grpSpPr>
            <a:xfrm>
              <a:off x="763524" y="2435923"/>
              <a:ext cx="10506456" cy="1836039"/>
              <a:chOff x="758952" y="2414016"/>
              <a:chExt cx="10506456" cy="1836039"/>
            </a:xfrm>
          </p:grpSpPr>
          <p:sp>
            <p:nvSpPr>
              <p:cNvPr id="21" name="Shape 4"/>
              <p:cNvSpPr/>
              <p:nvPr/>
            </p:nvSpPr>
            <p:spPr>
              <a:xfrm>
                <a:off x="763524" y="2414016"/>
                <a:ext cx="2414016" cy="1755648"/>
              </a:xfrm>
              <a:prstGeom prst="roundRect">
                <a:avLst>
                  <a:gd name="adj" fmla="val 4167"/>
                </a:avLst>
              </a:prstGeom>
              <a:solidFill>
                <a:srgbClr val="F4F6F8"/>
              </a:solidFill>
              <a:ln w="12700">
                <a:solidFill>
                  <a:srgbClr val="DDE4E8"/>
                </a:solidFill>
                <a:prstDash val="solid"/>
              </a:ln>
              <a:effectLst>
                <a:outerShdw blurRad="12700" dist="50800" dir="2700000" algn="bl" rotWithShape="0">
                  <a:srgbClr val="D9DDE0">
                    <a:alpha val="15000"/>
                  </a:srgbClr>
                </a:outerShdw>
              </a:effectLst>
            </p:spPr>
            <p:txBody>
              <a:bodyPr/>
              <a:lstStyle/>
              <a:p>
                <a:endParaRPr lang="de-AT"/>
              </a:p>
            </p:txBody>
          </p:sp>
          <p:sp>
            <p:nvSpPr>
              <p:cNvPr id="22" name="Shape 5"/>
              <p:cNvSpPr/>
              <p:nvPr/>
            </p:nvSpPr>
            <p:spPr>
              <a:xfrm>
                <a:off x="758952" y="2414016"/>
                <a:ext cx="73152" cy="1755648"/>
              </a:xfrm>
              <a:prstGeom prst="rect">
                <a:avLst/>
              </a:prstGeom>
              <a:solidFill>
                <a:srgbClr val="A70F2B"/>
              </a:solidFill>
              <a:ln w="12700">
                <a:solidFill>
                  <a:srgbClr val="A70F2B"/>
                </a:solidFill>
                <a:prstDash val="solid"/>
              </a:ln>
            </p:spPr>
            <p:txBody>
              <a:bodyPr/>
              <a:lstStyle/>
              <a:p>
                <a:endParaRPr lang="de-AT"/>
              </a:p>
            </p:txBody>
          </p:sp>
          <p:sp>
            <p:nvSpPr>
              <p:cNvPr id="23" name="Text 7"/>
              <p:cNvSpPr/>
              <p:nvPr/>
            </p:nvSpPr>
            <p:spPr>
              <a:xfrm>
                <a:off x="969264" y="2713863"/>
                <a:ext cx="1133856" cy="109728"/>
              </a:xfrm>
              <a:prstGeom prst="rect">
                <a:avLst/>
              </a:prstGeom>
              <a:noFill/>
              <a:ln/>
            </p:spPr>
            <p:txBody>
              <a:bodyPr wrap="square" lIns="0" tIns="0" rIns="0" bIns="0" rtlCol="0" anchor="ctr"/>
              <a:lstStyle/>
              <a:p>
                <a:pPr marL="0" indent="0" algn="ctr">
                  <a:buNone/>
                </a:pPr>
                <a:r>
                  <a:rPr lang="en-US" sz="1050" b="1" dirty="0">
                    <a:solidFill>
                      <a:srgbClr val="A70F2B"/>
                    </a:solidFill>
                    <a:latin typeface="Roboto" panose="02000000000000000000" pitchFamily="2" charset="0"/>
                    <a:ea typeface="Roboto" panose="02000000000000000000" pitchFamily="2" charset="0"/>
                    <a:cs typeface="Aptos" pitchFamily="34" charset="-120"/>
                  </a:rPr>
                  <a:t>License Base</a:t>
                </a:r>
                <a:endParaRPr lang="en-US" sz="1050" dirty="0">
                  <a:latin typeface="Roboto" panose="02000000000000000000" pitchFamily="2" charset="0"/>
                  <a:ea typeface="Roboto" panose="02000000000000000000" pitchFamily="2" charset="0"/>
                </a:endParaRPr>
              </a:p>
            </p:txBody>
          </p:sp>
          <p:sp>
            <p:nvSpPr>
              <p:cNvPr id="24" name="Text 8"/>
              <p:cNvSpPr/>
              <p:nvPr/>
            </p:nvSpPr>
            <p:spPr>
              <a:xfrm>
                <a:off x="969264" y="2965323"/>
                <a:ext cx="2002536" cy="347472"/>
              </a:xfrm>
              <a:prstGeom prst="rect">
                <a:avLst/>
              </a:prstGeom>
              <a:noFill/>
              <a:ln/>
            </p:spPr>
            <p:txBody>
              <a:bodyPr wrap="square" rtlCol="0" anchor="ctr">
                <a:normAutofit/>
              </a:bodyPr>
              <a:lstStyle/>
              <a:p>
                <a:pPr marL="0" indent="0">
                  <a:buNone/>
                </a:pPr>
                <a:r>
                  <a:rPr lang="en-US" sz="1550" dirty="0">
                    <a:solidFill>
                      <a:srgbClr val="2D333A"/>
                    </a:solidFill>
                    <a:latin typeface="Roboto" panose="02000000000000000000" pitchFamily="2" charset="0"/>
                    <a:ea typeface="Roboto" panose="02000000000000000000" pitchFamily="2" charset="0"/>
                    <a:cs typeface="Aptos" pitchFamily="34" charset="-120"/>
                  </a:rPr>
                  <a:t>Active licenses</a:t>
                </a:r>
                <a:endParaRPr lang="en-US" sz="1550" dirty="0">
                  <a:latin typeface="Roboto" panose="02000000000000000000" pitchFamily="2" charset="0"/>
                  <a:ea typeface="Roboto" panose="02000000000000000000" pitchFamily="2" charset="0"/>
                </a:endParaRPr>
              </a:p>
            </p:txBody>
          </p:sp>
          <p:sp>
            <p:nvSpPr>
              <p:cNvPr id="27" name="Text 9"/>
              <p:cNvSpPr/>
              <p:nvPr/>
            </p:nvSpPr>
            <p:spPr>
              <a:xfrm>
                <a:off x="969264" y="3277171"/>
                <a:ext cx="2002536" cy="182880"/>
              </a:xfrm>
              <a:prstGeom prst="rect">
                <a:avLst/>
              </a:prstGeom>
              <a:noFill/>
              <a:ln/>
            </p:spPr>
            <p:txBody>
              <a:bodyPr wrap="square" rtlCol="0" anchor="ctr">
                <a:normAutofit fontScale="77500" lnSpcReduction="20000"/>
              </a:bodyPr>
              <a:lstStyle/>
              <a:p>
                <a:pPr marL="0" indent="0">
                  <a:buNone/>
                </a:pPr>
                <a:r>
                  <a:rPr lang="en-US" sz="950" b="1" dirty="0">
                    <a:solidFill>
                      <a:srgbClr val="A70F2B"/>
                    </a:solidFill>
                    <a:latin typeface="Roboto" panose="02000000000000000000" pitchFamily="2" charset="0"/>
                    <a:ea typeface="Roboto" panose="02000000000000000000" pitchFamily="2" charset="0"/>
                    <a:cs typeface="Aptos" pitchFamily="34" charset="-120"/>
                  </a:rPr>
                  <a:t>Denominator</a:t>
                </a:r>
                <a:endParaRPr lang="en-US" sz="950" dirty="0">
                  <a:latin typeface="Roboto" panose="02000000000000000000" pitchFamily="2" charset="0"/>
                  <a:ea typeface="Roboto" panose="02000000000000000000" pitchFamily="2" charset="0"/>
                </a:endParaRPr>
              </a:p>
            </p:txBody>
          </p:sp>
          <p:sp>
            <p:nvSpPr>
              <p:cNvPr id="28" name="Text 10"/>
              <p:cNvSpPr/>
              <p:nvPr/>
            </p:nvSpPr>
            <p:spPr>
              <a:xfrm>
                <a:off x="969264" y="3436239"/>
                <a:ext cx="2002536" cy="813816"/>
              </a:xfrm>
              <a:prstGeom prst="rect">
                <a:avLst/>
              </a:prstGeom>
              <a:noFill/>
              <a:ln/>
            </p:spPr>
            <p:txBody>
              <a:bodyPr wrap="square" rtlCol="0" anchor="t">
                <a:normAutofit/>
              </a:bodyPr>
              <a:lstStyle/>
              <a:p>
                <a:pPr marL="0" indent="0">
                  <a:buNone/>
                </a:pPr>
                <a:r>
                  <a:rPr lang="en-US" sz="800" dirty="0">
                    <a:solidFill>
                      <a:srgbClr val="59616A"/>
                    </a:solidFill>
                    <a:latin typeface="Roboto" panose="02000000000000000000" pitchFamily="2" charset="0"/>
                    <a:ea typeface="Roboto" panose="02000000000000000000" pitchFamily="2" charset="0"/>
                    <a:cs typeface="Aptos" pitchFamily="34" charset="-120"/>
                  </a:rPr>
                  <a:t>Total available PlanTrack licenses assigned to the entity or group. Used as the base for the utilization calculation.</a:t>
                </a:r>
                <a:endParaRPr lang="en-US" sz="800" dirty="0">
                  <a:latin typeface="Roboto" panose="02000000000000000000" pitchFamily="2" charset="0"/>
                  <a:ea typeface="Roboto" panose="02000000000000000000" pitchFamily="2" charset="0"/>
                </a:endParaRPr>
              </a:p>
            </p:txBody>
          </p:sp>
          <p:sp>
            <p:nvSpPr>
              <p:cNvPr id="29" name="Text 11"/>
              <p:cNvSpPr/>
              <p:nvPr/>
            </p:nvSpPr>
            <p:spPr>
              <a:xfrm>
                <a:off x="969264" y="3907917"/>
                <a:ext cx="2002536" cy="109728"/>
              </a:xfrm>
              <a:prstGeom prst="rect">
                <a:avLst/>
              </a:prstGeom>
              <a:noFill/>
              <a:ln/>
            </p:spPr>
            <p:txBody>
              <a:bodyPr wrap="square" rtlCol="0" anchor="ctr">
                <a:noAutofit/>
              </a:bodyPr>
              <a:lstStyle/>
              <a:p>
                <a:pPr marL="0" indent="0">
                  <a:buNone/>
                </a:pPr>
                <a:r>
                  <a:rPr lang="en-US" sz="700" b="1" dirty="0">
                    <a:solidFill>
                      <a:srgbClr val="59616A"/>
                    </a:solidFill>
                    <a:latin typeface="Roboto" panose="02000000000000000000" pitchFamily="2" charset="0"/>
                    <a:ea typeface="Roboto" panose="02000000000000000000" pitchFamily="2" charset="0"/>
                    <a:cs typeface="Aptos" pitchFamily="34" charset="-120"/>
                  </a:rPr>
                  <a:t>Base: active licenses</a:t>
                </a:r>
                <a:endParaRPr lang="en-US" sz="700" dirty="0">
                  <a:latin typeface="Roboto" panose="02000000000000000000" pitchFamily="2" charset="0"/>
                  <a:ea typeface="Roboto" panose="02000000000000000000" pitchFamily="2" charset="0"/>
                </a:endParaRPr>
              </a:p>
            </p:txBody>
          </p:sp>
          <p:sp>
            <p:nvSpPr>
              <p:cNvPr id="30" name="Shape 12"/>
              <p:cNvSpPr/>
              <p:nvPr/>
            </p:nvSpPr>
            <p:spPr>
              <a:xfrm>
                <a:off x="3456432" y="2414016"/>
                <a:ext cx="2414016" cy="1755648"/>
              </a:xfrm>
              <a:prstGeom prst="roundRect">
                <a:avLst>
                  <a:gd name="adj" fmla="val 4167"/>
                </a:avLst>
              </a:prstGeom>
              <a:solidFill>
                <a:srgbClr val="EAF2F8"/>
              </a:solidFill>
              <a:ln w="12700">
                <a:solidFill>
                  <a:srgbClr val="DDE4E8"/>
                </a:solidFill>
                <a:prstDash val="solid"/>
              </a:ln>
              <a:effectLst>
                <a:outerShdw blurRad="12700" dist="50800" dir="2700000" algn="bl" rotWithShape="0">
                  <a:srgbClr val="D9DDE0">
                    <a:alpha val="15000"/>
                  </a:srgbClr>
                </a:outerShdw>
              </a:effectLst>
            </p:spPr>
            <p:txBody>
              <a:bodyPr/>
              <a:lstStyle/>
              <a:p>
                <a:endParaRPr lang="de-AT">
                  <a:latin typeface="Roboto" panose="02000000000000000000" pitchFamily="2" charset="0"/>
                  <a:ea typeface="Roboto" panose="02000000000000000000" pitchFamily="2" charset="0"/>
                </a:endParaRPr>
              </a:p>
            </p:txBody>
          </p:sp>
          <p:sp>
            <p:nvSpPr>
              <p:cNvPr id="31" name="Shape 13"/>
              <p:cNvSpPr/>
              <p:nvPr/>
            </p:nvSpPr>
            <p:spPr>
              <a:xfrm>
                <a:off x="3456432" y="2414016"/>
                <a:ext cx="73152" cy="1755648"/>
              </a:xfrm>
              <a:prstGeom prst="rect">
                <a:avLst/>
              </a:prstGeom>
              <a:solidFill>
                <a:srgbClr val="A70F2B"/>
              </a:solidFill>
              <a:ln w="12700">
                <a:solidFill>
                  <a:srgbClr val="A70F2B"/>
                </a:solidFill>
                <a:prstDash val="solid"/>
              </a:ln>
            </p:spPr>
            <p:txBody>
              <a:bodyPr/>
              <a:lstStyle/>
              <a:p>
                <a:endParaRPr lang="de-AT"/>
              </a:p>
            </p:txBody>
          </p:sp>
          <p:sp>
            <p:nvSpPr>
              <p:cNvPr id="32" name="Shape 14"/>
              <p:cNvSpPr/>
              <p:nvPr/>
            </p:nvSpPr>
            <p:spPr>
              <a:xfrm>
                <a:off x="3666744" y="2615184"/>
                <a:ext cx="1133856" cy="310896"/>
              </a:xfrm>
              <a:prstGeom prst="roundRect">
                <a:avLst>
                  <a:gd name="adj" fmla="val 23529"/>
                </a:avLst>
              </a:prstGeom>
              <a:solidFill>
                <a:srgbClr val="FFFFFF"/>
              </a:solidFill>
              <a:ln w="12700">
                <a:solidFill>
                  <a:srgbClr val="FFFFFF"/>
                </a:solidFill>
                <a:prstDash val="solid"/>
              </a:ln>
            </p:spPr>
            <p:txBody>
              <a:bodyPr/>
              <a:lstStyle/>
              <a:p>
                <a:endParaRPr lang="de-AT" sz="1050">
                  <a:latin typeface="Roboto" panose="02000000000000000000" pitchFamily="2" charset="0"/>
                  <a:ea typeface="Roboto" panose="02000000000000000000" pitchFamily="2" charset="0"/>
                </a:endParaRPr>
              </a:p>
            </p:txBody>
          </p:sp>
          <p:sp>
            <p:nvSpPr>
              <p:cNvPr id="33" name="Text 15"/>
              <p:cNvSpPr/>
              <p:nvPr/>
            </p:nvSpPr>
            <p:spPr>
              <a:xfrm>
                <a:off x="3666744" y="2705767"/>
                <a:ext cx="1133856" cy="109728"/>
              </a:xfrm>
              <a:prstGeom prst="rect">
                <a:avLst/>
              </a:prstGeom>
              <a:noFill/>
              <a:ln/>
            </p:spPr>
            <p:txBody>
              <a:bodyPr wrap="square" lIns="0" tIns="0" rIns="0" bIns="0" rtlCol="0" anchor="ctr"/>
              <a:lstStyle/>
              <a:p>
                <a:pPr marL="0" indent="0" algn="ctr">
                  <a:buNone/>
                </a:pPr>
                <a:r>
                  <a:rPr lang="en-US" sz="1050" b="1" dirty="0">
                    <a:solidFill>
                      <a:srgbClr val="A70F2B"/>
                    </a:solidFill>
                    <a:latin typeface="Roboto" panose="02000000000000000000" pitchFamily="2" charset="0"/>
                    <a:ea typeface="Roboto" panose="02000000000000000000" pitchFamily="2" charset="0"/>
                    <a:cs typeface="Aptos" pitchFamily="34" charset="-120"/>
                  </a:rPr>
                  <a:t>Completion Data</a:t>
                </a:r>
                <a:endParaRPr lang="en-US" sz="1050" dirty="0">
                  <a:latin typeface="Roboto" panose="02000000000000000000" pitchFamily="2" charset="0"/>
                  <a:ea typeface="Roboto" panose="02000000000000000000" pitchFamily="2" charset="0"/>
                </a:endParaRPr>
              </a:p>
            </p:txBody>
          </p:sp>
          <p:sp>
            <p:nvSpPr>
              <p:cNvPr id="34" name="Text 16"/>
              <p:cNvSpPr/>
              <p:nvPr/>
            </p:nvSpPr>
            <p:spPr>
              <a:xfrm>
                <a:off x="3662172" y="3006471"/>
                <a:ext cx="2002536" cy="347472"/>
              </a:xfrm>
              <a:prstGeom prst="rect">
                <a:avLst/>
              </a:prstGeom>
              <a:noFill/>
              <a:ln/>
            </p:spPr>
            <p:txBody>
              <a:bodyPr wrap="square" rtlCol="0" anchor="ctr">
                <a:normAutofit/>
              </a:bodyPr>
              <a:lstStyle/>
              <a:p>
                <a:pPr marL="0" indent="0">
                  <a:buNone/>
                </a:pPr>
                <a:r>
                  <a:rPr lang="en-US" sz="1550" dirty="0">
                    <a:solidFill>
                      <a:srgbClr val="2D333A"/>
                    </a:solidFill>
                    <a:latin typeface="Roboto" panose="02000000000000000000" pitchFamily="2" charset="0"/>
                    <a:ea typeface="Roboto" panose="02000000000000000000" pitchFamily="2" charset="0"/>
                    <a:cs typeface="Aptos" pitchFamily="34" charset="-120"/>
                  </a:rPr>
                  <a:t>Course completions</a:t>
                </a:r>
                <a:endParaRPr lang="en-US" sz="1550" dirty="0">
                  <a:latin typeface="Roboto" panose="02000000000000000000" pitchFamily="2" charset="0"/>
                  <a:ea typeface="Roboto" panose="02000000000000000000" pitchFamily="2" charset="0"/>
                </a:endParaRPr>
              </a:p>
            </p:txBody>
          </p:sp>
          <p:sp>
            <p:nvSpPr>
              <p:cNvPr id="35" name="Text 17"/>
              <p:cNvSpPr/>
              <p:nvPr/>
            </p:nvSpPr>
            <p:spPr>
              <a:xfrm>
                <a:off x="3666744" y="3343275"/>
                <a:ext cx="2002536" cy="182880"/>
              </a:xfrm>
              <a:prstGeom prst="rect">
                <a:avLst/>
              </a:prstGeom>
              <a:noFill/>
              <a:ln/>
            </p:spPr>
            <p:txBody>
              <a:bodyPr wrap="square" rtlCol="0" anchor="ctr">
                <a:normAutofit fontScale="77500" lnSpcReduction="20000"/>
              </a:bodyPr>
              <a:lstStyle/>
              <a:p>
                <a:pPr marL="0" indent="0">
                  <a:buNone/>
                </a:pPr>
                <a:r>
                  <a:rPr lang="en-US" sz="950" b="1" dirty="0">
                    <a:solidFill>
                      <a:srgbClr val="A70F2B"/>
                    </a:solidFill>
                    <a:latin typeface="Roboto" panose="02000000000000000000" pitchFamily="2" charset="0"/>
                    <a:ea typeface="Roboto" panose="02000000000000000000" pitchFamily="2" charset="0"/>
                    <a:cs typeface="Aptos" pitchFamily="34" charset="-120"/>
                  </a:rPr>
                  <a:t>Numerator</a:t>
                </a:r>
                <a:endParaRPr lang="en-US" sz="950" dirty="0">
                  <a:latin typeface="Roboto" panose="02000000000000000000" pitchFamily="2" charset="0"/>
                  <a:ea typeface="Roboto" panose="02000000000000000000" pitchFamily="2" charset="0"/>
                </a:endParaRPr>
              </a:p>
            </p:txBody>
          </p:sp>
          <p:sp>
            <p:nvSpPr>
              <p:cNvPr id="36" name="Text 18"/>
              <p:cNvSpPr/>
              <p:nvPr/>
            </p:nvSpPr>
            <p:spPr>
              <a:xfrm>
                <a:off x="3662171" y="3484626"/>
                <a:ext cx="2133791" cy="219456"/>
              </a:xfrm>
              <a:prstGeom prst="rect">
                <a:avLst/>
              </a:prstGeom>
              <a:noFill/>
              <a:ln/>
            </p:spPr>
            <p:txBody>
              <a:bodyPr wrap="square" rtlCol="0" anchor="t">
                <a:noAutofit/>
              </a:bodyPr>
              <a:lstStyle/>
              <a:p>
                <a:pPr marL="0" indent="0">
                  <a:buNone/>
                </a:pPr>
                <a:r>
                  <a:rPr lang="en-US" sz="800" dirty="0">
                    <a:solidFill>
                      <a:srgbClr val="59616A"/>
                    </a:solidFill>
                    <a:latin typeface="Roboto" panose="02000000000000000000" pitchFamily="2" charset="0"/>
                    <a:ea typeface="Roboto" panose="02000000000000000000" pitchFamily="2" charset="0"/>
                    <a:cs typeface="Aptos" pitchFamily="34" charset="-120"/>
                  </a:rPr>
                  <a:t>Recorded Data &amp; AI course completions. Completion counts can be split more granularly than the license base.</a:t>
                </a:r>
                <a:endParaRPr lang="en-US" sz="800" dirty="0">
                  <a:latin typeface="Roboto" panose="02000000000000000000" pitchFamily="2" charset="0"/>
                  <a:ea typeface="Roboto" panose="02000000000000000000" pitchFamily="2" charset="0"/>
                </a:endParaRPr>
              </a:p>
            </p:txBody>
          </p:sp>
          <p:sp>
            <p:nvSpPr>
              <p:cNvPr id="37" name="Text 19"/>
              <p:cNvSpPr/>
              <p:nvPr/>
            </p:nvSpPr>
            <p:spPr>
              <a:xfrm>
                <a:off x="3662172" y="3976306"/>
                <a:ext cx="2002536" cy="109728"/>
              </a:xfrm>
              <a:prstGeom prst="rect">
                <a:avLst/>
              </a:prstGeom>
              <a:noFill/>
              <a:ln/>
            </p:spPr>
            <p:txBody>
              <a:bodyPr wrap="square" rtlCol="0" anchor="ctr">
                <a:noAutofit/>
              </a:bodyPr>
              <a:lstStyle/>
              <a:p>
                <a:pPr marL="0" indent="0">
                  <a:buNone/>
                </a:pPr>
                <a:r>
                  <a:rPr lang="en-US" sz="700" b="1" dirty="0">
                    <a:solidFill>
                      <a:srgbClr val="59616A"/>
                    </a:solidFill>
                    <a:latin typeface="Roboto" panose="02000000000000000000" pitchFamily="2" charset="0"/>
                    <a:ea typeface="Roboto" panose="02000000000000000000" pitchFamily="2" charset="0"/>
                    <a:cs typeface="Aptos" pitchFamily="34" charset="-120"/>
                  </a:rPr>
                  <a:t>Metric: completions</a:t>
                </a:r>
                <a:endParaRPr lang="en-US" sz="700" dirty="0">
                  <a:latin typeface="Roboto" panose="02000000000000000000" pitchFamily="2" charset="0"/>
                  <a:ea typeface="Roboto" panose="02000000000000000000" pitchFamily="2" charset="0"/>
                </a:endParaRPr>
              </a:p>
            </p:txBody>
          </p:sp>
          <p:sp>
            <p:nvSpPr>
              <p:cNvPr id="38" name="Shape 20"/>
              <p:cNvSpPr/>
              <p:nvPr/>
            </p:nvSpPr>
            <p:spPr>
              <a:xfrm>
                <a:off x="6153912" y="2414016"/>
                <a:ext cx="2414016" cy="1755648"/>
              </a:xfrm>
              <a:prstGeom prst="roundRect">
                <a:avLst>
                  <a:gd name="adj" fmla="val 4167"/>
                </a:avLst>
              </a:prstGeom>
              <a:solidFill>
                <a:srgbClr val="EAF5F1"/>
              </a:solidFill>
              <a:ln w="12700">
                <a:solidFill>
                  <a:srgbClr val="DDE4E8"/>
                </a:solidFill>
                <a:prstDash val="solid"/>
              </a:ln>
              <a:effectLst>
                <a:outerShdw blurRad="12700" dist="50800" dir="2700000" algn="bl" rotWithShape="0">
                  <a:srgbClr val="D9DDE0">
                    <a:alpha val="15000"/>
                  </a:srgbClr>
                </a:outerShdw>
              </a:effectLst>
            </p:spPr>
            <p:txBody>
              <a:bodyPr/>
              <a:lstStyle/>
              <a:p>
                <a:endParaRPr lang="de-AT"/>
              </a:p>
            </p:txBody>
          </p:sp>
          <p:sp>
            <p:nvSpPr>
              <p:cNvPr id="39" name="Shape 21"/>
              <p:cNvSpPr/>
              <p:nvPr/>
            </p:nvSpPr>
            <p:spPr>
              <a:xfrm>
                <a:off x="6153912" y="2414016"/>
                <a:ext cx="73152" cy="1755648"/>
              </a:xfrm>
              <a:prstGeom prst="rect">
                <a:avLst/>
              </a:prstGeom>
              <a:solidFill>
                <a:srgbClr val="A70F2B"/>
              </a:solidFill>
              <a:ln w="12700">
                <a:solidFill>
                  <a:srgbClr val="A70F2B"/>
                </a:solidFill>
                <a:prstDash val="solid"/>
              </a:ln>
            </p:spPr>
            <p:txBody>
              <a:bodyPr/>
              <a:lstStyle/>
              <a:p>
                <a:endParaRPr lang="de-AT"/>
              </a:p>
            </p:txBody>
          </p:sp>
          <p:sp>
            <p:nvSpPr>
              <p:cNvPr id="40" name="Text 23"/>
              <p:cNvSpPr/>
              <p:nvPr/>
            </p:nvSpPr>
            <p:spPr>
              <a:xfrm>
                <a:off x="6364224" y="2713863"/>
                <a:ext cx="1133856" cy="109728"/>
              </a:xfrm>
              <a:prstGeom prst="rect">
                <a:avLst/>
              </a:prstGeom>
              <a:noFill/>
              <a:ln/>
            </p:spPr>
            <p:txBody>
              <a:bodyPr wrap="square" lIns="0" tIns="0" rIns="0" bIns="0" rtlCol="0" anchor="ctr"/>
              <a:lstStyle/>
              <a:p>
                <a:pPr marL="0" indent="0" algn="ctr">
                  <a:buNone/>
                </a:pPr>
                <a:r>
                  <a:rPr lang="en-US" sz="1050" b="1" dirty="0">
                    <a:solidFill>
                      <a:srgbClr val="A70F2B"/>
                    </a:solidFill>
                    <a:latin typeface="Roboto" panose="02000000000000000000" pitchFamily="2" charset="0"/>
                    <a:ea typeface="Roboto" panose="02000000000000000000" pitchFamily="2" charset="0"/>
                    <a:cs typeface="Aptos" pitchFamily="34" charset="-120"/>
                  </a:rPr>
                  <a:t>Utilization KPI</a:t>
                </a:r>
                <a:endParaRPr lang="en-US" sz="1050" dirty="0">
                  <a:latin typeface="Roboto" panose="02000000000000000000" pitchFamily="2" charset="0"/>
                  <a:ea typeface="Roboto" panose="02000000000000000000" pitchFamily="2" charset="0"/>
                </a:endParaRPr>
              </a:p>
            </p:txBody>
          </p:sp>
          <p:sp>
            <p:nvSpPr>
              <p:cNvPr id="41" name="Text 24"/>
              <p:cNvSpPr/>
              <p:nvPr/>
            </p:nvSpPr>
            <p:spPr>
              <a:xfrm>
                <a:off x="6364224" y="3035808"/>
                <a:ext cx="2002536" cy="347472"/>
              </a:xfrm>
              <a:prstGeom prst="rect">
                <a:avLst/>
              </a:prstGeom>
              <a:noFill/>
              <a:ln/>
            </p:spPr>
            <p:txBody>
              <a:bodyPr wrap="square" rtlCol="0" anchor="ctr">
                <a:normAutofit/>
              </a:bodyPr>
              <a:lstStyle/>
              <a:p>
                <a:pPr marL="0" indent="0">
                  <a:buNone/>
                </a:pPr>
                <a:r>
                  <a:rPr lang="en-US" sz="1550" dirty="0">
                    <a:solidFill>
                      <a:srgbClr val="2D333A"/>
                    </a:solidFill>
                    <a:latin typeface="Roboto" panose="02000000000000000000" pitchFamily="2" charset="0"/>
                    <a:ea typeface="Roboto" panose="02000000000000000000" pitchFamily="2" charset="0"/>
                    <a:cs typeface="Aptos" pitchFamily="34" charset="-120"/>
                  </a:rPr>
                  <a:t>Usage ratio</a:t>
                </a:r>
                <a:endParaRPr lang="en-US" sz="1550" dirty="0">
                  <a:latin typeface="Roboto" panose="02000000000000000000" pitchFamily="2" charset="0"/>
                  <a:ea typeface="Roboto" panose="02000000000000000000" pitchFamily="2" charset="0"/>
                </a:endParaRPr>
              </a:p>
            </p:txBody>
          </p:sp>
          <p:sp>
            <p:nvSpPr>
              <p:cNvPr id="42" name="Text 25"/>
              <p:cNvSpPr/>
              <p:nvPr/>
            </p:nvSpPr>
            <p:spPr>
              <a:xfrm>
                <a:off x="6364224" y="3419856"/>
                <a:ext cx="2002536" cy="182880"/>
              </a:xfrm>
              <a:prstGeom prst="rect">
                <a:avLst/>
              </a:prstGeom>
              <a:noFill/>
              <a:ln/>
            </p:spPr>
            <p:txBody>
              <a:bodyPr wrap="square" rtlCol="0" anchor="ctr">
                <a:normAutofit fontScale="77500" lnSpcReduction="20000"/>
              </a:bodyPr>
              <a:lstStyle/>
              <a:p>
                <a:pPr marL="0" indent="0">
                  <a:buNone/>
                </a:pPr>
                <a:r>
                  <a:rPr lang="en-US" sz="950" b="1" dirty="0">
                    <a:solidFill>
                      <a:srgbClr val="A70F2B"/>
                    </a:solidFill>
                    <a:latin typeface="Roboto" panose="02000000000000000000" pitchFamily="2" charset="0"/>
                    <a:ea typeface="Roboto" panose="02000000000000000000" pitchFamily="2" charset="0"/>
                    <a:cs typeface="Aptos" pitchFamily="34" charset="-120"/>
                  </a:rPr>
                  <a:t>Calculation logic</a:t>
                </a:r>
                <a:endParaRPr lang="en-US" sz="950" dirty="0">
                  <a:latin typeface="Roboto" panose="02000000000000000000" pitchFamily="2" charset="0"/>
                  <a:ea typeface="Roboto" panose="02000000000000000000" pitchFamily="2" charset="0"/>
                </a:endParaRPr>
              </a:p>
            </p:txBody>
          </p:sp>
          <p:sp>
            <p:nvSpPr>
              <p:cNvPr id="43" name="Text 26"/>
              <p:cNvSpPr/>
              <p:nvPr/>
            </p:nvSpPr>
            <p:spPr>
              <a:xfrm>
                <a:off x="6364224" y="3537775"/>
                <a:ext cx="2002536" cy="219456"/>
              </a:xfrm>
              <a:prstGeom prst="rect">
                <a:avLst/>
              </a:prstGeom>
              <a:noFill/>
              <a:ln/>
            </p:spPr>
            <p:txBody>
              <a:bodyPr wrap="square" rtlCol="0" anchor="t">
                <a:noAutofit/>
              </a:bodyPr>
              <a:lstStyle/>
              <a:p>
                <a:pPr marL="0" indent="0">
                  <a:buNone/>
                </a:pPr>
                <a:r>
                  <a:rPr lang="en-US" sz="800" dirty="0">
                    <a:solidFill>
                      <a:srgbClr val="59616A"/>
                    </a:solidFill>
                    <a:latin typeface="Roboto" panose="02000000000000000000" pitchFamily="2" charset="0"/>
                    <a:ea typeface="Roboto" panose="02000000000000000000" pitchFamily="2" charset="0"/>
                    <a:cs typeface="Aptos" pitchFamily="34" charset="-120"/>
                  </a:rPr>
                  <a:t>Utilization shows the share of assigned licenses that resulted in a recorded Data &amp; AI course completion.</a:t>
                </a:r>
                <a:endParaRPr lang="en-US" sz="800" dirty="0">
                  <a:latin typeface="Roboto" panose="02000000000000000000" pitchFamily="2" charset="0"/>
                  <a:ea typeface="Roboto" panose="02000000000000000000" pitchFamily="2" charset="0"/>
                </a:endParaRPr>
              </a:p>
            </p:txBody>
          </p:sp>
          <p:sp>
            <p:nvSpPr>
              <p:cNvPr id="44" name="Text 27"/>
              <p:cNvSpPr/>
              <p:nvPr/>
            </p:nvSpPr>
            <p:spPr>
              <a:xfrm>
                <a:off x="6364224" y="4041648"/>
                <a:ext cx="2002536" cy="109728"/>
              </a:xfrm>
              <a:prstGeom prst="rect">
                <a:avLst/>
              </a:prstGeom>
              <a:noFill/>
              <a:ln/>
            </p:spPr>
            <p:txBody>
              <a:bodyPr wrap="square" rtlCol="0" anchor="ctr">
                <a:noAutofit/>
              </a:bodyPr>
              <a:lstStyle/>
              <a:p>
                <a:pPr marL="0" indent="0">
                  <a:buNone/>
                </a:pPr>
                <a:r>
                  <a:rPr lang="en-US" sz="700" b="1" dirty="0">
                    <a:solidFill>
                      <a:srgbClr val="59616A"/>
                    </a:solidFill>
                    <a:latin typeface="Roboto" panose="02000000000000000000" pitchFamily="2" charset="0"/>
                    <a:ea typeface="Roboto" panose="02000000000000000000" pitchFamily="2" charset="0"/>
                    <a:cs typeface="Aptos" pitchFamily="34" charset="-120"/>
                  </a:rPr>
                  <a:t>Formula: completions ÷ licenses</a:t>
                </a:r>
                <a:endParaRPr lang="en-US" sz="700" dirty="0">
                  <a:latin typeface="Roboto" panose="02000000000000000000" pitchFamily="2" charset="0"/>
                  <a:ea typeface="Roboto" panose="02000000000000000000" pitchFamily="2" charset="0"/>
                </a:endParaRPr>
              </a:p>
            </p:txBody>
          </p:sp>
          <p:sp>
            <p:nvSpPr>
              <p:cNvPr id="45" name="Shape 28"/>
              <p:cNvSpPr/>
              <p:nvPr/>
            </p:nvSpPr>
            <p:spPr>
              <a:xfrm>
                <a:off x="8851392" y="2414016"/>
                <a:ext cx="2414016" cy="1755648"/>
              </a:xfrm>
              <a:prstGeom prst="roundRect">
                <a:avLst>
                  <a:gd name="adj" fmla="val 4167"/>
                </a:avLst>
              </a:prstGeom>
              <a:solidFill>
                <a:srgbClr val="F8F1E6"/>
              </a:solidFill>
              <a:ln w="12700">
                <a:solidFill>
                  <a:srgbClr val="DDE4E8"/>
                </a:solidFill>
                <a:prstDash val="solid"/>
              </a:ln>
              <a:effectLst>
                <a:outerShdw blurRad="12700" dist="50800" dir="2700000" algn="bl" rotWithShape="0">
                  <a:srgbClr val="D9DDE0">
                    <a:alpha val="15000"/>
                  </a:srgbClr>
                </a:outerShdw>
              </a:effectLst>
            </p:spPr>
            <p:txBody>
              <a:bodyPr/>
              <a:lstStyle/>
              <a:p>
                <a:endParaRPr lang="de-AT">
                  <a:latin typeface="Roboto" panose="02000000000000000000" pitchFamily="2" charset="0"/>
                  <a:ea typeface="Roboto" panose="02000000000000000000" pitchFamily="2" charset="0"/>
                </a:endParaRPr>
              </a:p>
            </p:txBody>
          </p:sp>
          <p:sp>
            <p:nvSpPr>
              <p:cNvPr id="46" name="Shape 29"/>
              <p:cNvSpPr/>
              <p:nvPr/>
            </p:nvSpPr>
            <p:spPr>
              <a:xfrm>
                <a:off x="8851392" y="2414016"/>
                <a:ext cx="73152" cy="1755648"/>
              </a:xfrm>
              <a:prstGeom prst="rect">
                <a:avLst/>
              </a:prstGeom>
              <a:solidFill>
                <a:srgbClr val="A70F2B"/>
              </a:solidFill>
              <a:ln w="12700">
                <a:solidFill>
                  <a:srgbClr val="A70F2B"/>
                </a:solidFill>
                <a:prstDash val="solid"/>
              </a:ln>
            </p:spPr>
            <p:txBody>
              <a:bodyPr/>
              <a:lstStyle/>
              <a:p>
                <a:endParaRPr lang="de-AT"/>
              </a:p>
            </p:txBody>
          </p:sp>
          <p:sp>
            <p:nvSpPr>
              <p:cNvPr id="47" name="Text 31"/>
              <p:cNvSpPr/>
              <p:nvPr/>
            </p:nvSpPr>
            <p:spPr>
              <a:xfrm>
                <a:off x="9061704" y="2713863"/>
                <a:ext cx="1133856" cy="109728"/>
              </a:xfrm>
              <a:prstGeom prst="rect">
                <a:avLst/>
              </a:prstGeom>
              <a:noFill/>
              <a:ln/>
            </p:spPr>
            <p:txBody>
              <a:bodyPr wrap="square" lIns="0" tIns="0" rIns="0" bIns="0" rtlCol="0" anchor="ctr"/>
              <a:lstStyle/>
              <a:p>
                <a:pPr marL="0" indent="0" algn="ctr">
                  <a:buNone/>
                </a:pPr>
                <a:r>
                  <a:rPr lang="en-US" sz="1050" b="1" dirty="0">
                    <a:solidFill>
                      <a:srgbClr val="A70F2B"/>
                    </a:solidFill>
                    <a:latin typeface="Roboto" panose="02000000000000000000" pitchFamily="2" charset="0"/>
                    <a:ea typeface="Roboto" panose="02000000000000000000" pitchFamily="2" charset="0"/>
                    <a:cs typeface="Aptos" pitchFamily="34" charset="-120"/>
                  </a:rPr>
                  <a:t>Detailed View</a:t>
                </a:r>
                <a:endParaRPr lang="en-US" sz="1050" dirty="0">
                  <a:latin typeface="Roboto" panose="02000000000000000000" pitchFamily="2" charset="0"/>
                  <a:ea typeface="Roboto" panose="02000000000000000000" pitchFamily="2" charset="0"/>
                </a:endParaRPr>
              </a:p>
            </p:txBody>
          </p:sp>
          <p:sp>
            <p:nvSpPr>
              <p:cNvPr id="49" name="Text 32"/>
              <p:cNvSpPr/>
              <p:nvPr/>
            </p:nvSpPr>
            <p:spPr>
              <a:xfrm>
                <a:off x="9061704" y="3035808"/>
                <a:ext cx="2002536" cy="347472"/>
              </a:xfrm>
              <a:prstGeom prst="rect">
                <a:avLst/>
              </a:prstGeom>
              <a:noFill/>
              <a:ln/>
            </p:spPr>
            <p:txBody>
              <a:bodyPr wrap="square" rtlCol="0" anchor="ctr">
                <a:normAutofit/>
              </a:bodyPr>
              <a:lstStyle/>
              <a:p>
                <a:pPr marL="0" indent="0">
                  <a:buNone/>
                </a:pPr>
                <a:r>
                  <a:rPr lang="en-US" sz="1550" dirty="0">
                    <a:solidFill>
                      <a:srgbClr val="2D333A"/>
                    </a:solidFill>
                    <a:latin typeface="Roboto" panose="02000000000000000000" pitchFamily="2" charset="0"/>
                    <a:ea typeface="Roboto" panose="02000000000000000000" pitchFamily="2" charset="0"/>
                    <a:cs typeface="Aptos" pitchFamily="34" charset="-120"/>
                  </a:rPr>
                  <a:t>Entity-level split</a:t>
                </a:r>
                <a:endParaRPr lang="en-US" sz="1550" dirty="0">
                  <a:latin typeface="Roboto" panose="02000000000000000000" pitchFamily="2" charset="0"/>
                  <a:ea typeface="Roboto" panose="02000000000000000000" pitchFamily="2" charset="0"/>
                </a:endParaRPr>
              </a:p>
            </p:txBody>
          </p:sp>
          <p:sp>
            <p:nvSpPr>
              <p:cNvPr id="50" name="Text 33"/>
              <p:cNvSpPr/>
              <p:nvPr/>
            </p:nvSpPr>
            <p:spPr>
              <a:xfrm>
                <a:off x="9061704" y="3419856"/>
                <a:ext cx="2002536" cy="182880"/>
              </a:xfrm>
              <a:prstGeom prst="rect">
                <a:avLst/>
              </a:prstGeom>
              <a:noFill/>
              <a:ln/>
            </p:spPr>
            <p:txBody>
              <a:bodyPr wrap="square" rtlCol="0" anchor="ctr">
                <a:normAutofit fontScale="77500" lnSpcReduction="20000"/>
              </a:bodyPr>
              <a:lstStyle/>
              <a:p>
                <a:pPr marL="0" indent="0">
                  <a:buNone/>
                </a:pPr>
                <a:r>
                  <a:rPr lang="en-US" sz="950" b="1" dirty="0">
                    <a:solidFill>
                      <a:srgbClr val="A70F2B"/>
                    </a:solidFill>
                    <a:latin typeface="Roboto" panose="02000000000000000000" pitchFamily="2" charset="0"/>
                    <a:ea typeface="Roboto" panose="02000000000000000000" pitchFamily="2" charset="0"/>
                    <a:cs typeface="Aptos" pitchFamily="34" charset="-120"/>
                  </a:rPr>
                  <a:t>Granular perspective</a:t>
                </a:r>
                <a:endParaRPr lang="en-US" sz="950" dirty="0">
                  <a:latin typeface="Roboto" panose="02000000000000000000" pitchFamily="2" charset="0"/>
                  <a:ea typeface="Roboto" panose="02000000000000000000" pitchFamily="2" charset="0"/>
                </a:endParaRPr>
              </a:p>
            </p:txBody>
          </p:sp>
          <p:sp>
            <p:nvSpPr>
              <p:cNvPr id="51" name="Text 34"/>
              <p:cNvSpPr/>
              <p:nvPr/>
            </p:nvSpPr>
            <p:spPr>
              <a:xfrm>
                <a:off x="9061704" y="3537775"/>
                <a:ext cx="2077784" cy="219456"/>
              </a:xfrm>
              <a:prstGeom prst="rect">
                <a:avLst/>
              </a:prstGeom>
              <a:noFill/>
              <a:ln/>
            </p:spPr>
            <p:txBody>
              <a:bodyPr wrap="square" rtlCol="0" anchor="t">
                <a:noAutofit/>
              </a:bodyPr>
              <a:lstStyle/>
              <a:p>
                <a:pPr marL="0" indent="0">
                  <a:buNone/>
                </a:pPr>
                <a:r>
                  <a:rPr lang="en-US" sz="800" dirty="0">
                    <a:solidFill>
                      <a:srgbClr val="59616A"/>
                    </a:solidFill>
                    <a:latin typeface="Roboto" panose="02000000000000000000" pitchFamily="2" charset="0"/>
                    <a:ea typeface="Roboto" panose="02000000000000000000" pitchFamily="2" charset="0"/>
                    <a:cs typeface="Aptos" pitchFamily="34" charset="-120"/>
                  </a:rPr>
                  <a:t>Sub-entities are shown separately where available, so per-country views may differ from grouped license ownership.</a:t>
                </a:r>
                <a:endParaRPr lang="en-US" sz="800" dirty="0">
                  <a:latin typeface="Roboto" panose="02000000000000000000" pitchFamily="2" charset="0"/>
                  <a:ea typeface="Roboto" panose="02000000000000000000" pitchFamily="2" charset="0"/>
                </a:endParaRPr>
              </a:p>
            </p:txBody>
          </p:sp>
          <p:sp>
            <p:nvSpPr>
              <p:cNvPr id="53" name="Text 35"/>
              <p:cNvSpPr/>
              <p:nvPr/>
            </p:nvSpPr>
            <p:spPr>
              <a:xfrm>
                <a:off x="9061704" y="4041648"/>
                <a:ext cx="2002536" cy="109728"/>
              </a:xfrm>
              <a:prstGeom prst="rect">
                <a:avLst/>
              </a:prstGeom>
              <a:noFill/>
              <a:ln/>
            </p:spPr>
            <p:txBody>
              <a:bodyPr wrap="square" rtlCol="0" anchor="ctr">
                <a:noAutofit/>
              </a:bodyPr>
              <a:lstStyle/>
              <a:p>
                <a:pPr marL="0" indent="0">
                  <a:buNone/>
                </a:pPr>
                <a:r>
                  <a:rPr lang="en-US" sz="700" b="1" dirty="0">
                    <a:solidFill>
                      <a:srgbClr val="59616A"/>
                    </a:solidFill>
                    <a:latin typeface="Roboto" panose="02000000000000000000" pitchFamily="2" charset="0"/>
                    <a:ea typeface="Roboto" panose="02000000000000000000" pitchFamily="2" charset="0"/>
                    <a:cs typeface="Aptos" pitchFamily="34" charset="-120"/>
                  </a:rPr>
                  <a:t>Use: interpret trends carefully</a:t>
                </a:r>
                <a:endParaRPr lang="en-US" sz="700" dirty="0">
                  <a:latin typeface="Roboto" panose="02000000000000000000" pitchFamily="2" charset="0"/>
                  <a:ea typeface="Roboto" panose="02000000000000000000" pitchFamily="2" charset="0"/>
                </a:endParaRPr>
              </a:p>
            </p:txBody>
          </p:sp>
        </p:grpSp>
        <p:sp>
          <p:nvSpPr>
            <p:cNvPr id="7" name="Shape 36"/>
            <p:cNvSpPr/>
            <p:nvPr/>
          </p:nvSpPr>
          <p:spPr>
            <a:xfrm>
              <a:off x="667512" y="4370832"/>
              <a:ext cx="10881360" cy="1078992"/>
            </a:xfrm>
            <a:prstGeom prst="roundRect">
              <a:avLst>
                <a:gd name="adj" fmla="val 6780"/>
              </a:avLst>
            </a:prstGeom>
            <a:solidFill>
              <a:srgbClr val="FFFFFF"/>
            </a:solidFill>
            <a:ln w="12700">
              <a:solidFill>
                <a:srgbClr val="DDE4E8"/>
              </a:solidFill>
              <a:prstDash val="solid"/>
            </a:ln>
            <a:effectLst>
              <a:outerShdw blurRad="12700" dist="50800" dir="2700000" algn="bl" rotWithShape="0">
                <a:srgbClr val="D9DDE0">
                  <a:alpha val="15000"/>
                </a:srgbClr>
              </a:outerShdw>
            </a:effectLst>
          </p:spPr>
          <p:txBody>
            <a:bodyPr/>
            <a:lstStyle/>
            <a:p>
              <a:endParaRPr lang="de-AT"/>
            </a:p>
          </p:txBody>
        </p:sp>
        <p:sp>
          <p:nvSpPr>
            <p:cNvPr id="8" name="Shape 37"/>
            <p:cNvSpPr/>
            <p:nvPr/>
          </p:nvSpPr>
          <p:spPr>
            <a:xfrm>
              <a:off x="667512" y="4370832"/>
              <a:ext cx="73152" cy="1078992"/>
            </a:xfrm>
            <a:prstGeom prst="rect">
              <a:avLst/>
            </a:prstGeom>
            <a:solidFill>
              <a:srgbClr val="A70F2B"/>
            </a:solidFill>
            <a:ln w="12700">
              <a:solidFill>
                <a:srgbClr val="A70F2B"/>
              </a:solidFill>
              <a:prstDash val="solid"/>
            </a:ln>
          </p:spPr>
          <p:txBody>
            <a:bodyPr/>
            <a:lstStyle/>
            <a:p>
              <a:endParaRPr lang="de-AT"/>
            </a:p>
          </p:txBody>
        </p:sp>
        <p:sp>
          <p:nvSpPr>
            <p:cNvPr id="10" name="Text 38"/>
            <p:cNvSpPr/>
            <p:nvPr/>
          </p:nvSpPr>
          <p:spPr>
            <a:xfrm>
              <a:off x="877824" y="4526280"/>
              <a:ext cx="2103120" cy="201168"/>
            </a:xfrm>
            <a:prstGeom prst="rect">
              <a:avLst/>
            </a:prstGeom>
            <a:noFill/>
            <a:ln/>
          </p:spPr>
          <p:txBody>
            <a:bodyPr wrap="square" lIns="0" tIns="0" rIns="0" bIns="0" rtlCol="0" anchor="ctr"/>
            <a:lstStyle/>
            <a:p>
              <a:pPr marL="0" indent="0">
                <a:buNone/>
              </a:pPr>
              <a:r>
                <a:rPr lang="en-US" sz="1020" b="1" dirty="0">
                  <a:solidFill>
                    <a:srgbClr val="A70F2B"/>
                  </a:solidFill>
                  <a:latin typeface="Roboto" panose="02000000000000000000" pitchFamily="2" charset="0"/>
                  <a:ea typeface="Roboto" panose="02000000000000000000" pitchFamily="2" charset="0"/>
                  <a:cs typeface="Aptos" pitchFamily="34" charset="-120"/>
                </a:rPr>
                <a:t>Important data limitations</a:t>
              </a:r>
              <a:endParaRPr lang="en-US" sz="1020" dirty="0">
                <a:latin typeface="Roboto" panose="02000000000000000000" pitchFamily="2" charset="0"/>
                <a:ea typeface="Roboto" panose="02000000000000000000" pitchFamily="2" charset="0"/>
              </a:endParaRPr>
            </a:p>
          </p:txBody>
        </p:sp>
        <p:sp>
          <p:nvSpPr>
            <p:cNvPr id="11" name="Text 39"/>
            <p:cNvSpPr/>
            <p:nvPr/>
          </p:nvSpPr>
          <p:spPr>
            <a:xfrm>
              <a:off x="896112" y="4919472"/>
              <a:ext cx="960120" cy="164592"/>
            </a:xfrm>
            <a:prstGeom prst="rect">
              <a:avLst/>
            </a:prstGeom>
            <a:noFill/>
            <a:ln/>
          </p:spPr>
          <p:txBody>
            <a:bodyPr wrap="square" lIns="0" tIns="0" rIns="0" bIns="0" rtlCol="0" anchor="ctr"/>
            <a:lstStyle/>
            <a:p>
              <a:pPr marL="0" indent="0" algn="ctr">
                <a:buNone/>
              </a:pPr>
              <a:r>
                <a:rPr lang="en-US" sz="710" b="1" dirty="0">
                  <a:solidFill>
                    <a:srgbClr val="59616A"/>
                  </a:solidFill>
                  <a:latin typeface="Roboto" panose="02000000000000000000" pitchFamily="2" charset="0"/>
                  <a:ea typeface="Roboto" panose="02000000000000000000" pitchFamily="2" charset="0"/>
                  <a:cs typeface="Aptos" pitchFamily="34" charset="-120"/>
                </a:rPr>
                <a:t>Woodgrove Benelux</a:t>
              </a:r>
              <a:endParaRPr lang="en-US" sz="710" dirty="0">
                <a:latin typeface="Roboto" panose="02000000000000000000" pitchFamily="2" charset="0"/>
                <a:ea typeface="Roboto" panose="02000000000000000000" pitchFamily="2" charset="0"/>
              </a:endParaRPr>
            </a:p>
          </p:txBody>
        </p:sp>
        <p:sp>
          <p:nvSpPr>
            <p:cNvPr id="12" name="Text 40"/>
            <p:cNvSpPr/>
            <p:nvPr/>
          </p:nvSpPr>
          <p:spPr>
            <a:xfrm>
              <a:off x="1993392" y="4800600"/>
              <a:ext cx="2697480" cy="347472"/>
            </a:xfrm>
            <a:prstGeom prst="rect">
              <a:avLst/>
            </a:prstGeom>
            <a:noFill/>
            <a:ln/>
          </p:spPr>
          <p:txBody>
            <a:bodyPr wrap="square" lIns="0" tIns="0" rIns="0" bIns="0" rtlCol="0" anchor="ctr">
              <a:normAutofit/>
            </a:bodyPr>
            <a:lstStyle/>
            <a:p>
              <a:pPr marL="0" indent="0" algn="ctr">
                <a:buNone/>
              </a:pPr>
              <a:r>
                <a:rPr lang="en-US" sz="720" dirty="0">
                  <a:solidFill>
                    <a:srgbClr val="59616A"/>
                  </a:solidFill>
                  <a:latin typeface="Roboto" panose="02000000000000000000" pitchFamily="2" charset="0"/>
                  <a:ea typeface="Roboto" panose="02000000000000000000" pitchFamily="2" charset="0"/>
                  <a:cs typeface="Aptos" pitchFamily="34" charset="-120"/>
                </a:rPr>
                <a:t>NL / PT / ES share one grouped license count, while course completions are reported separately by country.</a:t>
              </a:r>
              <a:endParaRPr lang="en-US" sz="720" dirty="0">
                <a:latin typeface="Roboto" panose="02000000000000000000" pitchFamily="2" charset="0"/>
                <a:ea typeface="Roboto" panose="02000000000000000000" pitchFamily="2" charset="0"/>
              </a:endParaRPr>
            </a:p>
          </p:txBody>
        </p:sp>
        <p:sp>
          <p:nvSpPr>
            <p:cNvPr id="13" name="Shape 41"/>
            <p:cNvSpPr/>
            <p:nvPr/>
          </p:nvSpPr>
          <p:spPr>
            <a:xfrm>
              <a:off x="4983480" y="4535424"/>
              <a:ext cx="0" cy="658368"/>
            </a:xfrm>
            <a:prstGeom prst="line">
              <a:avLst/>
            </a:prstGeom>
            <a:noFill/>
            <a:ln w="12700">
              <a:solidFill>
                <a:srgbClr val="DDE4E8"/>
              </a:solidFill>
              <a:prstDash val="solid"/>
            </a:ln>
          </p:spPr>
          <p:txBody>
            <a:bodyPr/>
            <a:lstStyle/>
            <a:p>
              <a:endParaRPr lang="de-AT"/>
            </a:p>
          </p:txBody>
        </p:sp>
        <p:sp>
          <p:nvSpPr>
            <p:cNvPr id="14" name="Text 42"/>
            <p:cNvSpPr/>
            <p:nvPr/>
          </p:nvSpPr>
          <p:spPr>
            <a:xfrm>
              <a:off x="5207508" y="4837176"/>
              <a:ext cx="914400" cy="164592"/>
            </a:xfrm>
            <a:prstGeom prst="rect">
              <a:avLst/>
            </a:prstGeom>
            <a:noFill/>
            <a:ln/>
          </p:spPr>
          <p:txBody>
            <a:bodyPr wrap="square" lIns="0" tIns="0" rIns="0" bIns="0" rtlCol="0" anchor="ctr"/>
            <a:lstStyle/>
            <a:p>
              <a:pPr marL="0" indent="0" algn="ctr">
                <a:buNone/>
              </a:pPr>
              <a:r>
                <a:rPr lang="en-US" sz="710" b="1" dirty="0">
                  <a:solidFill>
                    <a:srgbClr val="59616A"/>
                  </a:solidFill>
                  <a:latin typeface="Roboto" panose="02000000000000000000" pitchFamily="2" charset="0"/>
                  <a:ea typeface="Roboto" panose="02000000000000000000" pitchFamily="2" charset="0"/>
                  <a:cs typeface="Aptos" pitchFamily="34" charset="-120"/>
                </a:rPr>
                <a:t>Adatum</a:t>
              </a:r>
              <a:endParaRPr lang="en-US" sz="710" dirty="0">
                <a:latin typeface="Roboto" panose="02000000000000000000" pitchFamily="2" charset="0"/>
                <a:ea typeface="Roboto" panose="02000000000000000000" pitchFamily="2" charset="0"/>
              </a:endParaRPr>
            </a:p>
          </p:txBody>
        </p:sp>
        <p:sp>
          <p:nvSpPr>
            <p:cNvPr id="15" name="Text 43"/>
            <p:cNvSpPr/>
            <p:nvPr/>
          </p:nvSpPr>
          <p:spPr>
            <a:xfrm>
              <a:off x="6345936" y="4800600"/>
              <a:ext cx="2057400" cy="347472"/>
            </a:xfrm>
            <a:prstGeom prst="rect">
              <a:avLst/>
            </a:prstGeom>
            <a:noFill/>
            <a:ln/>
          </p:spPr>
          <p:txBody>
            <a:bodyPr wrap="square" lIns="0" tIns="0" rIns="0" bIns="0" rtlCol="0" anchor="ctr">
              <a:normAutofit/>
            </a:bodyPr>
            <a:lstStyle/>
            <a:p>
              <a:pPr marL="0" indent="0" algn="ctr">
                <a:buNone/>
              </a:pPr>
              <a:r>
                <a:rPr lang="en-US" sz="720" dirty="0">
                  <a:solidFill>
                    <a:srgbClr val="59616A"/>
                  </a:solidFill>
                  <a:latin typeface="Roboto" panose="02000000000000000000" pitchFamily="2" charset="0"/>
                  <a:ea typeface="Roboto" panose="02000000000000000000" pitchFamily="2" charset="0"/>
                  <a:cs typeface="Aptos" pitchFamily="34" charset="-120"/>
                </a:rPr>
                <a:t>Only a general Adatum entry is available; the data does not distinguish Property separately.</a:t>
              </a:r>
              <a:endParaRPr lang="en-US" sz="720" dirty="0">
                <a:latin typeface="Roboto" panose="02000000000000000000" pitchFamily="2" charset="0"/>
                <a:ea typeface="Roboto" panose="02000000000000000000" pitchFamily="2" charset="0"/>
              </a:endParaRPr>
            </a:p>
          </p:txBody>
        </p:sp>
        <p:sp>
          <p:nvSpPr>
            <p:cNvPr id="16" name="Shape 44"/>
            <p:cNvSpPr/>
            <p:nvPr/>
          </p:nvSpPr>
          <p:spPr>
            <a:xfrm>
              <a:off x="8641080" y="4535424"/>
              <a:ext cx="0" cy="658368"/>
            </a:xfrm>
            <a:prstGeom prst="line">
              <a:avLst/>
            </a:prstGeom>
            <a:noFill/>
            <a:ln w="12700">
              <a:solidFill>
                <a:srgbClr val="DDE4E8"/>
              </a:solidFill>
              <a:prstDash val="solid"/>
            </a:ln>
          </p:spPr>
          <p:txBody>
            <a:bodyPr/>
            <a:lstStyle/>
            <a:p>
              <a:endParaRPr lang="de-AT"/>
            </a:p>
          </p:txBody>
        </p:sp>
        <p:sp>
          <p:nvSpPr>
            <p:cNvPr id="18" name="Text 45"/>
            <p:cNvSpPr/>
            <p:nvPr/>
          </p:nvSpPr>
          <p:spPr>
            <a:xfrm>
              <a:off x="8778240" y="4828032"/>
              <a:ext cx="960120" cy="164592"/>
            </a:xfrm>
            <a:prstGeom prst="rect">
              <a:avLst/>
            </a:prstGeom>
            <a:noFill/>
            <a:ln/>
          </p:spPr>
          <p:txBody>
            <a:bodyPr wrap="square" lIns="0" tIns="0" rIns="0" bIns="0" rtlCol="0" anchor="ctr"/>
            <a:lstStyle/>
            <a:p>
              <a:pPr marL="0" indent="0" algn="ctr">
                <a:buNone/>
              </a:pPr>
              <a:r>
                <a:rPr lang="en-US" sz="710" b="1" dirty="0">
                  <a:solidFill>
                    <a:srgbClr val="59616A"/>
                  </a:solidFill>
                  <a:latin typeface="Roboto" panose="02000000000000000000" pitchFamily="2" charset="0"/>
                  <a:ea typeface="Roboto" panose="02000000000000000000" pitchFamily="2" charset="0"/>
                  <a:cs typeface="Aptos" pitchFamily="34" charset="-120"/>
                </a:rPr>
                <a:t>NULL companies</a:t>
              </a:r>
              <a:endParaRPr lang="en-US" sz="710" dirty="0">
                <a:latin typeface="Roboto" panose="02000000000000000000" pitchFamily="2" charset="0"/>
                <a:ea typeface="Roboto" panose="02000000000000000000" pitchFamily="2" charset="0"/>
              </a:endParaRPr>
            </a:p>
          </p:txBody>
        </p:sp>
        <p:sp>
          <p:nvSpPr>
            <p:cNvPr id="19" name="Text 46"/>
            <p:cNvSpPr/>
            <p:nvPr/>
          </p:nvSpPr>
          <p:spPr>
            <a:xfrm>
              <a:off x="9930383" y="4681728"/>
              <a:ext cx="1495701" cy="530352"/>
            </a:xfrm>
            <a:prstGeom prst="rect">
              <a:avLst/>
            </a:prstGeom>
            <a:noFill/>
            <a:ln/>
          </p:spPr>
          <p:txBody>
            <a:bodyPr wrap="square" lIns="0" tIns="0" rIns="0" bIns="0" rtlCol="0" anchor="ctr">
              <a:normAutofit/>
            </a:bodyPr>
            <a:lstStyle/>
            <a:p>
              <a:pPr marL="0" indent="0" algn="ctr">
                <a:buNone/>
              </a:pPr>
              <a:r>
                <a:rPr lang="en-US" sz="650" dirty="0">
                  <a:solidFill>
                    <a:srgbClr val="59616A"/>
                  </a:solidFill>
                  <a:latin typeface="Roboto" panose="02000000000000000000" pitchFamily="2" charset="0"/>
                  <a:ea typeface="Roboto" panose="02000000000000000000" pitchFamily="2" charset="0"/>
                  <a:cs typeface="Aptos" pitchFamily="34" charset="-120"/>
                </a:rPr>
                <a:t>Some users have no assigned company. Known cases include Proseware (DE), Lucerne Life (TR), and a few non-insurance users without an admin.</a:t>
              </a:r>
              <a:endParaRPr lang="en-US" sz="650" dirty="0">
                <a:latin typeface="Roboto" panose="02000000000000000000" pitchFamily="2" charset="0"/>
                <a:ea typeface="Roboto" panose="02000000000000000000" pitchFamily="2" charset="0"/>
              </a:endParaRPr>
            </a:p>
          </p:txBody>
        </p:sp>
        <p:sp>
          <p:nvSpPr>
            <p:cNvPr id="20" name="Text 47"/>
            <p:cNvSpPr/>
            <p:nvPr/>
          </p:nvSpPr>
          <p:spPr>
            <a:xfrm>
              <a:off x="758952" y="5797296"/>
              <a:ext cx="10012680" cy="256032"/>
            </a:xfrm>
            <a:prstGeom prst="rect">
              <a:avLst/>
            </a:prstGeom>
            <a:noFill/>
            <a:ln/>
          </p:spPr>
          <p:txBody>
            <a:bodyPr wrap="square" lIns="0" tIns="0" rIns="0" bIns="0" rtlCol="0" anchor="ctr">
              <a:normAutofit/>
            </a:bodyPr>
            <a:lstStyle/>
            <a:p>
              <a:pPr marL="0" indent="0">
                <a:buNone/>
              </a:pPr>
              <a:r>
                <a:rPr lang="en-US" sz="700" dirty="0">
                  <a:solidFill>
                    <a:srgbClr val="E8ECF4"/>
                  </a:solidFill>
                  <a:latin typeface="Roboto" panose="02000000000000000000" pitchFamily="2" charset="0"/>
                  <a:ea typeface="Roboto" panose="02000000000000000000" pitchFamily="2" charset="0"/>
                  <a:cs typeface="Aptos" pitchFamily="34" charset="-120"/>
                </a:rPr>
                <a:t>Reading the detailed chart: Utilization % = Course Completions ÷ Active Licenses × 129. Companies with 0% have licenses assigned but no recorded completions. More detailed mapping is currently unavailable.</a:t>
              </a:r>
              <a:endParaRPr lang="en-US" sz="700" dirty="0">
                <a:latin typeface="Roboto" panose="02000000000000000000" pitchFamily="2" charset="0"/>
                <a:ea typeface="Roboto" panose="02000000000000000000" pitchFamily="2" charset="0"/>
              </a:endParaRPr>
            </a:p>
          </p:txBody>
        </p:sp>
      </p:grpSp>
      <p:sp>
        <p:nvSpPr>
          <p:cNvPr id="54" name="Date Placeholder 53"/>
          <p:cNvSpPr>
            <a:spLocks noGrp="1"/>
          </p:cNvSpPr>
          <p:nvPr/>
        </p:nvSpPr>
        <p:spPr>
          <a:xfrm>
            <a:off x="11063125" y="181996"/>
            <a:ext cx="873637" cy="153888"/>
          </a:xfrm>
          <a:prstGeom prst="rect">
            <a:avLst/>
          </a:prstGeom>
        </p:spPr>
        <p:txBody>
          <a:bodyPr/>
          <a:lstStyle/>
          <a:p>
            <a:r>
              <a:rPr lang="de-DE" sz="900">
                <a:solidFill>
                  <a:srgbClr val="9aa1b2"/>
                </a:solidFill>
              </a:rPr>
              <a:t>Demo data</a:t>
            </a:r>
            <a:endParaRPr lang="de-AT"/>
          </a:p>
        </p:txBody>
      </p:sp>
      <p:sp>
        <p:nvSpPr>
          <p:cNvPr id="55" name="Footer Placeholder 54"/>
          <p:cNvSpPr>
            <a:spLocks noGrp="1"/>
          </p:cNvSpPr>
          <p:nvPr/>
        </p:nvSpPr>
        <p:spPr>
          <a:xfrm>
            <a:off x="1466850" y="6587737"/>
            <a:ext cx="6953250" cy="184666"/>
          </a:xfrm>
          <a:prstGeom prst="rect">
            <a:avLst/>
          </a:prstGeom>
        </p:spPr>
        <p:txBody>
          <a:bodyPr/>
          <a:lstStyle/>
          <a:p>
            <a:r>
              <a:rPr lang="de-AT" sz="900">
                <a:solidFill>
                  <a:srgbClr val="9aa1b2"/>
                </a:solidFill>
              </a:rPr>
              <a:t>Data &amp; AI @ Contoso </a:t>
            </a:r>
          </a:p>
        </p:txBody>
      </p:sp>
      <p:sp>
        <p:nvSpPr>
          <p:cNvPr id="56" name="Slide Number Placeholder 55"/>
          <p:cNvSpPr>
            <a:spLocks noGrp="1"/>
          </p:cNvSpPr>
          <p:nvPr/>
        </p:nvSpPr>
        <p:spPr>
          <a:xfrm>
            <a:off x="839788" y="6587737"/>
            <a:ext cx="347662" cy="184666"/>
          </a:xfrm>
          <a:prstGeom prst="rect">
            <a:avLst/>
          </a:prstGeom>
        </p:spPr>
        <p:txBody>
          <a:bodyPr/>
          <a:lstStyle/>
          <a:p>
            <a:fld id="{3D9E2BD8-1A72-4EDA-80D1-87938489E536}" type="slidenum">
              <a:rPr lang="de-AT" smtClean="0">
                <a:solidFill>
                  <a:srgbClr val="E8ECF4"/>
                </a:solidFill>
              </a:rPr>
              <a:t>20</a:t>
            </a:fld>
            <a:endParaRPr lang="de-AT"/>
          </a:p>
        </p:txBody>
      </p:sp>
      <p:sp>
        <p:nvSpPr>
          <p:cNvPr id="57"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3" name="Text Placeholder 2"/>
          <p:cNvSpPr>
            <a:spLocks noGrp="1"/>
          </p:cNvSpPr>
          <p:nvPr/>
        </p:nvSpPr>
        <p:spPr>
          <a:xfrm>
            <a:off x="839788" y="6138665"/>
            <a:ext cx="10514012" cy="263149"/>
          </a:xfrm>
          <a:prstGeom prst="rect">
            <a:avLst/>
          </a:prstGeom>
        </p:spPr>
        <p:txBody>
          <a:bodyPr/>
          <a:lstStyle/>
          <a:p>
            <a:endParaRPr lang="de-AT"/>
          </a:p>
        </p:txBody>
      </p:sp>
      <p:sp>
        <p:nvSpPr>
          <p:cNvPr id="4" name="Title 3"/>
          <p:cNvSpPr>
            <a:spLocks noGrp="1"/>
          </p:cNvSpPr>
          <p:nvPr/>
        </p:nvSpPr>
        <p:spPr>
          <a:xfrm>
            <a:off x="876314" y="339158"/>
            <a:ext cx="10514012" cy="1465016"/>
          </a:xfrm>
          <a:prstGeom prst="rect">
            <a:avLst/>
          </a:prstGeom>
        </p:spPr>
        <p:txBody>
          <a:bodyPr/>
          <a:lstStyle/>
          <a:p>
            <a:r>
              <a:rPr lang="de-AT" sz="4000" dirty="0">
                <a:solidFill>
                  <a:srgbClr val="F2F3F6"/>
                </a:solidFill>
              </a:rPr>
              <a:t>License </a:t>
            </a:r>
            <a:r>
              <a:rPr lang="de-AT" sz="4000" dirty="0" err="1">
                <a:solidFill>
                  <a:srgbClr val="F2F3F6"/>
                </a:solidFill>
              </a:rPr>
              <a:t>Utilization</a:t>
            </a:r>
            <a:r>
              <a:rPr lang="de-AT" sz="4000" dirty="0">
                <a:solidFill>
                  <a:srgbClr val="F2F3F6"/>
                </a:solidFill>
              </a:rPr>
              <a:t> &amp; Engagement </a:t>
            </a:r>
            <a:br>
              <a:rPr lang="en-US" sz="4000" dirty="0">
                <a:solidFill>
                  <a:srgbClr val="9AA2A5"/>
                </a:solidFill>
                <a:ea typeface="Aptos" pitchFamily="34" charset="-122"/>
                <a:cs typeface="Aptos Display" pitchFamily="34" charset="-120"/>
              </a:rPr>
            </a:br>
            <a:r>
              <a:rPr lang="de-AT" sz="2400" dirty="0">
                <a:solidFill>
                  <a:srgbClr val="F2F3F6"/>
                </a:solidFill>
              </a:rPr>
              <a:t>How </a:t>
            </a:r>
            <a:r>
              <a:rPr lang="de-AT" sz="2400" dirty="0" err="1">
                <a:solidFill>
                  <a:srgbClr val="F2F3F6"/>
                </a:solidFill>
              </a:rPr>
              <a:t>effectively</a:t>
            </a:r>
            <a:r>
              <a:rPr lang="de-AT" sz="2400" dirty="0">
                <a:solidFill>
                  <a:srgbClr val="F2F3F6"/>
                </a:solidFill>
              </a:rPr>
              <a:t> </a:t>
            </a:r>
            <a:r>
              <a:rPr lang="de-AT" sz="2400" dirty="0" err="1">
                <a:solidFill>
                  <a:srgbClr val="F2F3F6"/>
                </a:solidFill>
              </a:rPr>
              <a:t>entities</a:t>
            </a:r>
            <a:r>
              <a:rPr lang="de-AT" sz="2400" dirty="0">
                <a:solidFill>
                  <a:srgbClr val="F2F3F6"/>
                </a:solidFill>
              </a:rPr>
              <a:t> </a:t>
            </a:r>
            <a:r>
              <a:rPr lang="de-AT" sz="2400" dirty="0" err="1">
                <a:solidFill>
                  <a:srgbClr val="F2F3F6"/>
                </a:solidFill>
              </a:rPr>
              <a:t>convert</a:t>
            </a:r>
            <a:r>
              <a:rPr lang="de-AT" sz="2400" dirty="0">
                <a:solidFill>
                  <a:srgbClr val="F2F3F6"/>
                </a:solidFill>
              </a:rPr>
              <a:t> </a:t>
            </a:r>
            <a:r>
              <a:rPr lang="de-AT" sz="2400" dirty="0" err="1">
                <a:solidFill>
                  <a:srgbClr val="F2F3F6"/>
                </a:solidFill>
              </a:rPr>
              <a:t>licenses</a:t>
            </a:r>
            <a:r>
              <a:rPr lang="de-AT" sz="2400" dirty="0">
                <a:solidFill>
                  <a:srgbClr val="F2F3F6"/>
                </a:solidFill>
              </a:rPr>
              <a:t> </a:t>
            </a:r>
            <a:r>
              <a:rPr lang="de-AT" sz="2400" dirty="0" err="1">
                <a:solidFill>
                  <a:srgbClr val="F2F3F6"/>
                </a:solidFill>
              </a:rPr>
              <a:t>into</a:t>
            </a:r>
            <a:r>
              <a:rPr lang="de-AT" sz="2400" dirty="0">
                <a:solidFill>
                  <a:srgbClr val="F2F3F6"/>
                </a:solidFill>
              </a:rPr>
              <a:t> </a:t>
            </a:r>
            <a:r>
              <a:rPr lang="de-AT" sz="2400" dirty="0" err="1">
                <a:solidFill>
                  <a:srgbClr val="F2F3F6"/>
                </a:solidFill>
              </a:rPr>
              <a:t>training</a:t>
            </a:r>
            <a:r>
              <a:rPr lang="de-AT" sz="2400" dirty="0">
                <a:solidFill>
                  <a:srgbClr val="F2F3F6"/>
                </a:solidFill>
              </a:rPr>
              <a:t> </a:t>
            </a:r>
            <a:r>
              <a:rPr lang="de-AT" sz="2400" dirty="0" err="1">
                <a:solidFill>
                  <a:srgbClr val="F2F3F6"/>
                </a:solidFill>
              </a:rPr>
              <a:t>activity</a:t>
            </a:r>
            <a:br>
              <a:rPr lang="en-US" sz="2400" dirty="0">
                <a:solidFill>
                  <a:srgbClr val="E8ECF4"/>
                </a:solidFill>
              </a:rPr>
            </a:br>
            <a:br>
              <a:rPr lang="en-US" sz="2400" dirty="0">
                <a:solidFill>
                  <a:srgbClr val="E8ECF4"/>
                </a:solidFill>
              </a:rPr>
            </a:br>
            <a:endParaRPr lang="de-AT" sz="2400" dirty="0"/>
          </a:p>
        </p:txBody>
      </p:sp>
      <p:sp>
        <p:nvSpPr>
          <p:cNvPr id="5" name="Date Placeholder 4"/>
          <p:cNvSpPr>
            <a:spLocks noGrp="1"/>
          </p:cNvSpPr>
          <p:nvPr/>
        </p:nvSpPr>
        <p:spPr>
          <a:xfrm>
            <a:off x="11063125" y="181996"/>
            <a:ext cx="873637" cy="153888"/>
          </a:xfrm>
          <a:prstGeom prst="rect">
            <a:avLst/>
          </a:prstGeom>
        </p:spPr>
        <p:txBody>
          <a:bodyPr/>
          <a:lstStyle/>
          <a:p>
            <a:r>
              <a:rPr lang="de-DE" sz="900">
                <a:solidFill>
                  <a:srgbClr val="9aa1b2"/>
                </a:solidFill>
              </a:rPr>
              <a:t>Demo data</a:t>
            </a:r>
            <a:endParaRPr lang="en-GB"/>
          </a:p>
        </p:txBody>
      </p:sp>
      <p:sp>
        <p:nvSpPr>
          <p:cNvPr id="6" name="Footer Placeholder 5"/>
          <p:cNvSpPr>
            <a:spLocks noGrp="1"/>
          </p:cNvSpPr>
          <p:nvPr/>
        </p:nvSpPr>
        <p:spPr>
          <a:xfrm>
            <a:off x="1436787" y="6583761"/>
            <a:ext cx="6953250" cy="36933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aa1b2"/>
                </a:solidFill>
                <a:effectLst/>
                <a:uLnTx/>
                <a:uFillTx/>
                <a:latin typeface="Roboto Light"/>
                <a:ea typeface="+mn-ea"/>
                <a:cs typeface="+mn-cs"/>
              </a:rPr>
              <a:t>Data &amp; AI @ Contoso</a:t>
            </a:r>
          </a:p>
          <a:p>
            <a:endParaRPr lang="en-GB"/>
          </a:p>
        </p:txBody>
      </p:sp>
      <p:sp>
        <p:nvSpPr>
          <p:cNvPr id="7" name="Slide Number Placeholder 6"/>
          <p:cNvSpPr>
            <a:spLocks noGrp="1"/>
          </p:cNvSpPr>
          <p:nvPr/>
        </p:nvSpPr>
        <p:spPr>
          <a:xfrm>
            <a:off x="839788" y="6587737"/>
            <a:ext cx="347662" cy="184666"/>
          </a:xfrm>
          <a:prstGeom prst="rect">
            <a:avLst/>
          </a:prstGeom>
        </p:spPr>
        <p:txBody>
          <a:bodyPr/>
          <a:lstStyle/>
          <a:p>
            <a:pPr algn="l"/>
            <a:fld id="{64E38502-06D2-4E51-82FE-464E052045F9}" type="slidenum">
              <a:rPr lang="en-GB" smtClean="0">
                <a:solidFill>
                  <a:srgbClr val="E8ECF4"/>
                </a:solidFill>
              </a:rPr>
              <a:pPr algn="l"/>
              <a:t>21</a:t>
            </a:fld>
            <a:endParaRPr lang="en-GB"/>
          </a:p>
        </p:txBody>
      </p:sp>
      <p:sp>
        <p:nvSpPr>
          <p:cNvPr id="35" name="Text 25"/>
          <p:cNvSpPr/>
          <p:nvPr/>
        </p:nvSpPr>
        <p:spPr>
          <a:xfrm>
            <a:off x="1015902" y="5664981"/>
            <a:ext cx="6862102" cy="612385"/>
          </a:xfrm>
          <a:prstGeom prst="rect">
            <a:avLst/>
          </a:prstGeom>
          <a:noFill/>
          <a:ln/>
        </p:spPr>
        <p:txBody>
          <a:bodyPr wrap="square" lIns="0" tIns="0" rIns="0" bIns="0" rtlCol="0" anchor="ctr">
            <a:noAutofit/>
          </a:bodyPr>
          <a:lstStyle/>
          <a:p>
            <a:endParaRPr lang="en-US" sz="1100"/>
          </a:p>
        </p:txBody>
      </p:sp>
      <p:sp>
        <p:nvSpPr>
          <p:cNvPr id="28" name="Shape 19"/>
          <p:cNvSpPr/>
          <p:nvPr/>
        </p:nvSpPr>
        <p:spPr>
          <a:xfrm>
            <a:off x="638932" y="2442052"/>
            <a:ext cx="5003970" cy="3037006"/>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r>
              <a:rPr lang="de-AT" sz="1200" b="1" dirty="0"/>
              <a:t>License </a:t>
            </a:r>
            <a:r>
              <a:rPr lang="de-AT" sz="1200" b="1" dirty="0" err="1"/>
              <a:t>Utilization</a:t>
            </a:r>
            <a:r>
              <a:rPr lang="de-AT" sz="1200" b="1" dirty="0"/>
              <a:t> </a:t>
            </a:r>
            <a:r>
              <a:rPr lang="de-AT" sz="1200" b="1" dirty="0" err="1"/>
              <a:t>by</a:t>
            </a:r>
            <a:r>
              <a:rPr lang="de-AT" sz="1200" b="1" dirty="0"/>
              <a:t> Company (</a:t>
            </a:r>
            <a:r>
              <a:rPr lang="de-AT" sz="1200" b="1" dirty="0" err="1"/>
              <a:t>Grouped</a:t>
            </a:r>
            <a:r>
              <a:rPr lang="de-AT" sz="1200" b="1" dirty="0"/>
              <a:t>)</a:t>
            </a:r>
          </a:p>
        </p:txBody>
      </p:sp>
      <p:sp>
        <p:nvSpPr>
          <p:cNvPr id="37" name="Shape 19"/>
          <p:cNvSpPr/>
          <p:nvPr/>
        </p:nvSpPr>
        <p:spPr>
          <a:xfrm>
            <a:off x="6059154" y="2477333"/>
            <a:ext cx="5003971" cy="3001725"/>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r>
              <a:rPr lang="en-US" sz="1200" b="1" dirty="0"/>
              <a:t>License Utilization by Company (Detailed)</a:t>
            </a:r>
            <a:endParaRPr lang="de-AT" sz="1200" b="1" dirty="0"/>
          </a:p>
        </p:txBody>
      </p:sp>
      <p:grpSp>
        <p:nvGrpSpPr>
          <p:cNvPr id="59" name="Group 58"/>
          <p:cNvGrpSpPr/>
          <p:nvPr/>
        </p:nvGrpSpPr>
        <p:grpSpPr>
          <a:xfrm>
            <a:off x="1368940" y="1443512"/>
            <a:ext cx="8677656" cy="898097"/>
            <a:chOff x="2691420" y="1417870"/>
            <a:chExt cx="8677656" cy="898097"/>
          </a:xfrm>
        </p:grpSpPr>
        <p:grpSp>
          <p:nvGrpSpPr>
            <p:cNvPr id="10" name="Group 9"/>
            <p:cNvGrpSpPr/>
            <p:nvPr/>
          </p:nvGrpSpPr>
          <p:grpSpPr>
            <a:xfrm>
              <a:off x="2691420" y="1447287"/>
              <a:ext cx="6455664" cy="868680"/>
              <a:chOff x="1306068" y="1858345"/>
              <a:chExt cx="6455664" cy="868680"/>
            </a:xfrm>
          </p:grpSpPr>
          <p:sp>
            <p:nvSpPr>
              <p:cNvPr id="11" name="Shape 4"/>
              <p:cNvSpPr/>
              <p:nvPr/>
            </p:nvSpPr>
            <p:spPr>
              <a:xfrm>
                <a:off x="1306068"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2" name="kpi:dual_companies"/>
              <p:cNvSpPr/>
              <p:nvPr/>
            </p:nvSpPr>
            <p:spPr>
              <a:xfrm>
                <a:off x="1443228"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E4002B"/>
                    </a:solidFill>
                    <a:ea typeface="Roboto Light"/>
                    <a:cs typeface="Roboto Light"/>
                  </a:rPr>
                  <a:t>2065</a:t>
                </a:r>
              </a:p>
            </p:txBody>
          </p:sp>
          <p:sp>
            <p:nvSpPr>
              <p:cNvPr id="13" name="Text 6"/>
              <p:cNvSpPr/>
              <p:nvPr/>
            </p:nvSpPr>
            <p:spPr>
              <a:xfrm>
                <a:off x="1379220" y="2379553"/>
                <a:ext cx="1865376" cy="182880"/>
              </a:xfrm>
              <a:prstGeom prst="rect">
                <a:avLst/>
              </a:prstGeom>
              <a:noFill/>
              <a:ln/>
            </p:spPr>
            <p:txBody>
              <a:bodyPr wrap="square" lIns="0" tIns="0" rIns="0" bIns="0" rtlCol="0" anchor="ctr">
                <a:normAutofit/>
              </a:bodyPr>
              <a:lstStyle/>
              <a:p>
                <a:pPr algn="ctr"/>
                <a:r>
                  <a:rPr lang="de-AT" sz="900" b="1" dirty="0">
                    <a:solidFill>
                      <a:schemeClr val="accent1"/>
                    </a:solidFill>
                    <a:effectLst/>
                  </a:rPr>
                  <a:t>Total </a:t>
                </a:r>
                <a:r>
                  <a:rPr lang="de-AT" sz="900" b="1" dirty="0" err="1">
                    <a:solidFill>
                      <a:schemeClr val="accent1"/>
                    </a:solidFill>
                    <a:effectLst/>
                  </a:rPr>
                  <a:t>Active</a:t>
                </a:r>
                <a:r>
                  <a:rPr lang="de-AT" sz="900" b="1" dirty="0">
                    <a:solidFill>
                      <a:schemeClr val="accent1"/>
                    </a:solidFill>
                    <a:effectLst/>
                  </a:rPr>
                  <a:t> </a:t>
                </a:r>
                <a:r>
                  <a:rPr lang="de-AT" sz="900" b="1" dirty="0" err="1">
                    <a:solidFill>
                      <a:schemeClr val="accent1"/>
                    </a:solidFill>
                    <a:effectLst/>
                  </a:rPr>
                  <a:t>Licenses</a:t>
                </a:r>
                <a:endParaRPr lang="de-AT" sz="900" b="1" dirty="0">
                  <a:solidFill>
                    <a:schemeClr val="accent1"/>
                  </a:solidFill>
                  <a:ea typeface="Roboto Light"/>
                  <a:cs typeface="Roboto Light"/>
                </a:endParaRPr>
              </a:p>
            </p:txBody>
          </p:sp>
          <p:grpSp>
            <p:nvGrpSpPr>
              <p:cNvPr id="14" name="Group 13"/>
              <p:cNvGrpSpPr/>
              <p:nvPr/>
            </p:nvGrpSpPr>
            <p:grpSpPr>
              <a:xfrm>
                <a:off x="3528060" y="1858345"/>
                <a:ext cx="4233672" cy="868680"/>
                <a:chOff x="3528060" y="1858345"/>
                <a:chExt cx="4233672" cy="868680"/>
              </a:xfrm>
            </p:grpSpPr>
            <p:sp>
              <p:nvSpPr>
                <p:cNvPr id="15" name="Shape 7"/>
                <p:cNvSpPr/>
                <p:nvPr/>
              </p:nvSpPr>
              <p:spPr>
                <a:xfrm>
                  <a:off x="3528060"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6" name="kpi:dual_participation_rate"/>
                <p:cNvSpPr/>
                <p:nvPr/>
              </p:nvSpPr>
              <p:spPr>
                <a:xfrm>
                  <a:off x="3665220"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8C3A62"/>
                      </a:solidFill>
                    </a:rPr>
                    <a:t>108</a:t>
                  </a:r>
                </a:p>
              </p:txBody>
            </p:sp>
            <p:sp>
              <p:nvSpPr>
                <p:cNvPr id="17" name="Text 9"/>
                <p:cNvSpPr/>
                <p:nvPr/>
              </p:nvSpPr>
              <p:spPr>
                <a:xfrm>
                  <a:off x="3601212" y="2417089"/>
                  <a:ext cx="1865376" cy="182880"/>
                </a:xfrm>
                <a:prstGeom prst="rect">
                  <a:avLst/>
                </a:prstGeom>
                <a:noFill/>
                <a:ln/>
              </p:spPr>
              <p:txBody>
                <a:bodyPr wrap="square" lIns="0" tIns="0" rIns="0" bIns="0" rtlCol="0" anchor="ctr">
                  <a:noAutofit/>
                </a:bodyPr>
                <a:lstStyle/>
                <a:p>
                  <a:pPr algn="ctr"/>
                  <a:r>
                    <a:rPr lang="en-US" sz="900" b="1" dirty="0">
                      <a:solidFill>
                        <a:srgbClr val="7E8789"/>
                      </a:solidFill>
                    </a:rPr>
                    <a:t>Total Completions</a:t>
                  </a:r>
                </a:p>
              </p:txBody>
            </p:sp>
            <p:grpSp>
              <p:nvGrpSpPr>
                <p:cNvPr id="18" name="Group 17"/>
                <p:cNvGrpSpPr/>
                <p:nvPr/>
              </p:nvGrpSpPr>
              <p:grpSpPr>
                <a:xfrm>
                  <a:off x="5750052" y="1858345"/>
                  <a:ext cx="2011680" cy="868680"/>
                  <a:chOff x="5750052" y="1858345"/>
                  <a:chExt cx="2011680" cy="868680"/>
                </a:xfrm>
              </p:grpSpPr>
              <p:sp>
                <p:nvSpPr>
                  <p:cNvPr id="19" name="Shape 10"/>
                  <p:cNvSpPr/>
                  <p:nvPr/>
                </p:nvSpPr>
                <p:spPr>
                  <a:xfrm>
                    <a:off x="5750052"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20" name="kpi:dual_countries"/>
                  <p:cNvSpPr/>
                  <p:nvPr/>
                </p:nvSpPr>
                <p:spPr>
                  <a:xfrm>
                    <a:off x="5887212" y="2036587"/>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0D8492"/>
                        </a:solidFill>
                      </a:rPr>
                      <a:t>31</a:t>
                    </a:r>
                  </a:p>
                </p:txBody>
              </p:sp>
              <p:sp>
                <p:nvSpPr>
                  <p:cNvPr id="21" name="Text 12"/>
                  <p:cNvSpPr/>
                  <p:nvPr/>
                </p:nvSpPr>
                <p:spPr>
                  <a:xfrm>
                    <a:off x="5823204" y="2379553"/>
                    <a:ext cx="1865376" cy="182880"/>
                  </a:xfrm>
                  <a:prstGeom prst="rect">
                    <a:avLst/>
                  </a:prstGeom>
                  <a:noFill/>
                  <a:ln/>
                </p:spPr>
                <p:txBody>
                  <a:bodyPr wrap="square" lIns="0" tIns="0" rIns="0" bIns="0" rtlCol="0" anchor="ctr">
                    <a:normAutofit/>
                  </a:bodyPr>
                  <a:lstStyle/>
                  <a:p>
                    <a:pPr algn="ctr"/>
                    <a:endParaRPr lang="en-US" sz="950" b="1">
                      <a:solidFill>
                        <a:srgbClr val="7A8285"/>
                      </a:solidFill>
                    </a:endParaRPr>
                  </a:p>
                </p:txBody>
              </p:sp>
            </p:grpSp>
          </p:grpSp>
        </p:grpSp>
        <p:sp>
          <p:nvSpPr>
            <p:cNvPr id="24" name="Text 9"/>
            <p:cNvSpPr/>
            <p:nvPr/>
          </p:nvSpPr>
          <p:spPr>
            <a:xfrm>
              <a:off x="7272564" y="2007637"/>
              <a:ext cx="1865376" cy="182880"/>
            </a:xfrm>
            <a:prstGeom prst="rect">
              <a:avLst/>
            </a:prstGeom>
            <a:noFill/>
            <a:ln/>
          </p:spPr>
          <p:txBody>
            <a:bodyPr wrap="square" lIns="0" tIns="0" rIns="0" bIns="0" rtlCol="0" anchor="ctr">
              <a:noAutofit/>
            </a:bodyPr>
            <a:lstStyle/>
            <a:p>
              <a:pPr algn="ctr"/>
              <a:r>
                <a:rPr lang="en-US" sz="900" b="1" dirty="0">
                  <a:solidFill>
                    <a:srgbClr val="7E8789"/>
                  </a:solidFill>
                </a:rPr>
                <a:t>Utilization %</a:t>
              </a:r>
            </a:p>
          </p:txBody>
        </p:sp>
        <p:sp>
          <p:nvSpPr>
            <p:cNvPr id="55" name="Shape 7"/>
            <p:cNvSpPr/>
            <p:nvPr/>
          </p:nvSpPr>
          <p:spPr>
            <a:xfrm>
              <a:off x="9357396" y="1417870"/>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56" name="Text 9"/>
            <p:cNvSpPr/>
            <p:nvPr/>
          </p:nvSpPr>
          <p:spPr>
            <a:xfrm>
              <a:off x="9442704" y="2008135"/>
              <a:ext cx="1865376" cy="182880"/>
            </a:xfrm>
            <a:prstGeom prst="rect">
              <a:avLst/>
            </a:prstGeom>
            <a:noFill/>
            <a:ln/>
          </p:spPr>
          <p:txBody>
            <a:bodyPr wrap="square" lIns="0" tIns="0" rIns="0" bIns="0" rtlCol="0" anchor="ctr">
              <a:noAutofit/>
            </a:bodyPr>
            <a:lstStyle/>
            <a:p>
              <a:pPr algn="ctr"/>
              <a:r>
                <a:rPr lang="en-US" sz="900" b="1" dirty="0">
                  <a:solidFill>
                    <a:srgbClr val="7E8789"/>
                  </a:solidFill>
                </a:rPr>
                <a:t>Companies With Licenses</a:t>
              </a:r>
            </a:p>
          </p:txBody>
        </p:sp>
        <p:sp>
          <p:nvSpPr>
            <p:cNvPr id="57" name="kpi:dual_group_headcount_rate"/>
            <p:cNvSpPr/>
            <p:nvPr/>
          </p:nvSpPr>
          <p:spPr>
            <a:xfrm>
              <a:off x="9515856" y="1629505"/>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E66D00"/>
                  </a:solidFill>
                </a:rPr>
                <a:t>39</a:t>
              </a:r>
            </a:p>
          </p:txBody>
        </p:sp>
      </p:grpSp>
      <p:pic>
        <p:nvPicPr>
          <p:cNvPr id="9" name="Picture 8"/>
          <p:cNvPicPr>
            <a:picLocks noChangeAspect="1"/>
          </p:cNvPicPr>
          <p:nvPr/>
        </p:nvPicPr>
        <p:blipFill>
          <a:blip r:embed="rId2"/>
          <a:stretch>
            <a:fillRect/>
          </a:stretch>
        </p:blipFill>
        <p:spPr>
          <a:xfrm>
            <a:off x="698932" y="3131700"/>
            <a:ext cx="4883970" cy="1743191"/>
          </a:xfrm>
          <a:prstGeom prst="rect">
            <a:avLst/>
          </a:prstGeom>
        </p:spPr>
      </p:pic>
      <p:pic>
        <p:nvPicPr>
          <p:cNvPr id="22" name="Picture 21"/>
          <p:cNvPicPr>
            <a:picLocks noChangeAspect="1"/>
          </p:cNvPicPr>
          <p:nvPr/>
        </p:nvPicPr>
        <p:blipFill>
          <a:blip r:embed="rId3"/>
          <a:stretch>
            <a:fillRect/>
          </a:stretch>
        </p:blipFill>
        <p:spPr>
          <a:xfrm>
            <a:off x="6133320" y="3040084"/>
            <a:ext cx="4830575" cy="1688829"/>
          </a:xfrm>
          <a:prstGeom prst="rect">
            <a:avLst/>
          </a:prstGeom>
        </p:spPr>
      </p:pic>
      <p:sp>
        <p:nvSpPr>
          <p:cNvPr id="60"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3" name="Text Placeholder 2"/>
          <p:cNvSpPr>
            <a:spLocks noGrp="1"/>
          </p:cNvSpPr>
          <p:nvPr/>
        </p:nvSpPr>
        <p:spPr>
          <a:xfrm>
            <a:off x="839788" y="6138665"/>
            <a:ext cx="10514012" cy="263149"/>
          </a:xfrm>
          <a:prstGeom prst="rect">
            <a:avLst/>
          </a:prstGeom>
        </p:spPr>
        <p:txBody>
          <a:bodyPr/>
          <a:lstStyle/>
          <a:p>
            <a:endParaRPr lang="de-AT"/>
          </a:p>
        </p:txBody>
      </p:sp>
      <p:sp>
        <p:nvSpPr>
          <p:cNvPr id="4" name="Title 3"/>
          <p:cNvSpPr>
            <a:spLocks noGrp="1"/>
          </p:cNvSpPr>
          <p:nvPr/>
        </p:nvSpPr>
        <p:spPr>
          <a:xfrm>
            <a:off x="876314" y="339158"/>
            <a:ext cx="10514012" cy="1465016"/>
          </a:xfrm>
          <a:prstGeom prst="rect">
            <a:avLst/>
          </a:prstGeom>
        </p:spPr>
        <p:txBody>
          <a:bodyPr/>
          <a:lstStyle/>
          <a:p>
            <a:r>
              <a:rPr lang="de-AT" sz="4000" dirty="0">
                <a:solidFill>
                  <a:srgbClr val="F2F3F6"/>
                </a:solidFill>
              </a:rPr>
              <a:t>License </a:t>
            </a:r>
            <a:r>
              <a:rPr lang="de-AT" sz="4000" dirty="0" err="1">
                <a:solidFill>
                  <a:srgbClr val="F2F3F6"/>
                </a:solidFill>
              </a:rPr>
              <a:t>Allocation</a:t>
            </a:r>
            <a:r>
              <a:rPr lang="de-AT" sz="4000" dirty="0">
                <a:solidFill>
                  <a:srgbClr val="F2F3F6"/>
                </a:solidFill>
              </a:rPr>
              <a:t> &amp; Coverage </a:t>
            </a:r>
            <a:br>
              <a:rPr lang="en-US" sz="2400" dirty="0">
                <a:solidFill>
                  <a:srgbClr val="9AA2A5"/>
                </a:solidFill>
                <a:ea typeface="Aptos" pitchFamily="34" charset="-122"/>
                <a:cs typeface="Aptos Display" pitchFamily="34" charset="-120"/>
              </a:rPr>
            </a:br>
            <a:r>
              <a:rPr lang="de-AT" sz="2400" dirty="0" err="1">
                <a:solidFill>
                  <a:schemeClr val="accent1"/>
                </a:solidFill>
                <a:ea typeface="Aptos" pitchFamily="34" charset="-122"/>
                <a:cs typeface="Aptos Display" pitchFamily="34" charset="-120"/>
              </a:rPr>
              <a:t>A</a:t>
            </a:r>
            <a:r>
              <a:rPr lang="de-AT" sz="2400" dirty="0" err="1">
                <a:solidFill>
                  <a:srgbClr val="F2F3F6"/>
                </a:solidFill>
              </a:rPr>
              <a:t>ctive</a:t>
            </a:r>
            <a:r>
              <a:rPr lang="de-AT" sz="2400" dirty="0">
                <a:solidFill>
                  <a:srgbClr val="F2F3F6"/>
                </a:solidFill>
              </a:rPr>
              <a:t> </a:t>
            </a:r>
            <a:r>
              <a:rPr lang="de-AT" sz="2400" dirty="0" err="1">
                <a:solidFill>
                  <a:srgbClr val="F2F3F6"/>
                </a:solidFill>
              </a:rPr>
              <a:t>license</a:t>
            </a:r>
            <a:r>
              <a:rPr lang="de-AT" sz="2400" dirty="0">
                <a:solidFill>
                  <a:srgbClr val="F2F3F6"/>
                </a:solidFill>
              </a:rPr>
              <a:t> pool </a:t>
            </a:r>
            <a:r>
              <a:rPr lang="de-AT" sz="2400" dirty="0" err="1">
                <a:solidFill>
                  <a:srgbClr val="F2F3F6"/>
                </a:solidFill>
              </a:rPr>
              <a:t>distribution</a:t>
            </a:r>
            <a:r>
              <a:rPr lang="de-AT" sz="2400" dirty="0">
                <a:solidFill>
                  <a:srgbClr val="F2F3F6"/>
                </a:solidFill>
              </a:rPr>
              <a:t> </a:t>
            </a:r>
            <a:r>
              <a:rPr lang="de-AT" sz="2400" dirty="0" err="1">
                <a:solidFill>
                  <a:srgbClr val="F2F3F6"/>
                </a:solidFill>
              </a:rPr>
              <a:t>across</a:t>
            </a:r>
            <a:r>
              <a:rPr lang="de-AT" sz="2400" dirty="0">
                <a:solidFill>
                  <a:srgbClr val="F2F3F6"/>
                </a:solidFill>
              </a:rPr>
              <a:t> </a:t>
            </a:r>
            <a:r>
              <a:rPr lang="de-AT" sz="2400" dirty="0" err="1">
                <a:solidFill>
                  <a:srgbClr val="F2F3F6"/>
                </a:solidFill>
              </a:rPr>
              <a:t>entities</a:t>
            </a:r>
            <a:r>
              <a:rPr lang="de-AT" sz="2400" dirty="0">
                <a:solidFill>
                  <a:srgbClr val="F2F3F6"/>
                </a:solidFill>
              </a:rPr>
              <a:t> and countries</a:t>
            </a:r>
            <a:br>
              <a:rPr lang="en-US" sz="2400" dirty="0">
                <a:solidFill>
                  <a:srgbClr val="E8ECF4"/>
                </a:solidFill>
              </a:rPr>
            </a:br>
            <a:br>
              <a:rPr lang="en-US" sz="2400" dirty="0">
                <a:solidFill>
                  <a:srgbClr val="E8ECF4"/>
                </a:solidFill>
              </a:rPr>
            </a:br>
            <a:endParaRPr lang="de-AT" sz="2400" dirty="0"/>
          </a:p>
        </p:txBody>
      </p:sp>
      <p:sp>
        <p:nvSpPr>
          <p:cNvPr id="5" name="Date Placeholder 4"/>
          <p:cNvSpPr>
            <a:spLocks noGrp="1"/>
          </p:cNvSpPr>
          <p:nvPr/>
        </p:nvSpPr>
        <p:spPr>
          <a:xfrm>
            <a:off x="11063125" y="181996"/>
            <a:ext cx="873637" cy="153888"/>
          </a:xfrm>
          <a:prstGeom prst="rect">
            <a:avLst/>
          </a:prstGeom>
        </p:spPr>
        <p:txBody>
          <a:bodyPr/>
          <a:lstStyle/>
          <a:p>
            <a:r>
              <a:rPr lang="de-DE" sz="900">
                <a:solidFill>
                  <a:srgbClr val="9aa1b2"/>
                </a:solidFill>
              </a:rPr>
              <a:t>Demo data</a:t>
            </a:r>
            <a:endParaRPr lang="en-GB"/>
          </a:p>
        </p:txBody>
      </p:sp>
      <p:sp>
        <p:nvSpPr>
          <p:cNvPr id="6" name="Footer Placeholder 5"/>
          <p:cNvSpPr>
            <a:spLocks noGrp="1"/>
          </p:cNvSpPr>
          <p:nvPr/>
        </p:nvSpPr>
        <p:spPr>
          <a:xfrm>
            <a:off x="1436787" y="6583761"/>
            <a:ext cx="6953250" cy="36933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aa1b2"/>
                </a:solidFill>
                <a:effectLst/>
                <a:uLnTx/>
                <a:uFillTx/>
                <a:latin typeface="Roboto Light"/>
                <a:ea typeface="+mn-ea"/>
                <a:cs typeface="+mn-cs"/>
              </a:rPr>
              <a:t>Data &amp; AI @ Contoso</a:t>
            </a:r>
          </a:p>
          <a:p>
            <a:endParaRPr lang="en-GB"/>
          </a:p>
        </p:txBody>
      </p:sp>
      <p:sp>
        <p:nvSpPr>
          <p:cNvPr id="7" name="Slide Number Placeholder 6"/>
          <p:cNvSpPr>
            <a:spLocks noGrp="1"/>
          </p:cNvSpPr>
          <p:nvPr/>
        </p:nvSpPr>
        <p:spPr>
          <a:xfrm>
            <a:off x="839788" y="6587737"/>
            <a:ext cx="347662" cy="184666"/>
          </a:xfrm>
          <a:prstGeom prst="rect">
            <a:avLst/>
          </a:prstGeom>
        </p:spPr>
        <p:txBody>
          <a:bodyPr/>
          <a:lstStyle/>
          <a:p>
            <a:pPr algn="l"/>
            <a:fld id="{64E38502-06D2-4E51-82FE-464E052045F9}" type="slidenum">
              <a:rPr lang="en-GB" smtClean="0">
                <a:solidFill>
                  <a:srgbClr val="E8ECF4"/>
                </a:solidFill>
              </a:rPr>
              <a:pPr algn="l"/>
              <a:t>22</a:t>
            </a:fld>
            <a:endParaRPr lang="en-GB"/>
          </a:p>
        </p:txBody>
      </p:sp>
      <p:sp>
        <p:nvSpPr>
          <p:cNvPr id="35" name="Text 25"/>
          <p:cNvSpPr/>
          <p:nvPr/>
        </p:nvSpPr>
        <p:spPr>
          <a:xfrm>
            <a:off x="1015902" y="5664981"/>
            <a:ext cx="6862102" cy="612385"/>
          </a:xfrm>
          <a:prstGeom prst="rect">
            <a:avLst/>
          </a:prstGeom>
          <a:noFill/>
          <a:ln/>
        </p:spPr>
        <p:txBody>
          <a:bodyPr wrap="square" lIns="0" tIns="0" rIns="0" bIns="0" rtlCol="0" anchor="ctr">
            <a:noAutofit/>
          </a:bodyPr>
          <a:lstStyle/>
          <a:p>
            <a:endParaRPr lang="en-US" sz="1100"/>
          </a:p>
        </p:txBody>
      </p:sp>
      <p:sp>
        <p:nvSpPr>
          <p:cNvPr id="28" name="Shape 19"/>
          <p:cNvSpPr/>
          <p:nvPr/>
        </p:nvSpPr>
        <p:spPr>
          <a:xfrm>
            <a:off x="638932" y="2442052"/>
            <a:ext cx="5003970" cy="3037006"/>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r>
              <a:rPr lang="de-AT" sz="1200" b="1" dirty="0" err="1">
                <a:effectLst/>
              </a:rPr>
              <a:t>Active</a:t>
            </a:r>
            <a:r>
              <a:rPr lang="de-AT" sz="1200" b="1" dirty="0">
                <a:effectLst/>
              </a:rPr>
              <a:t> </a:t>
            </a:r>
            <a:r>
              <a:rPr lang="de-AT" sz="1200" b="1" dirty="0" err="1">
                <a:effectLst/>
              </a:rPr>
              <a:t>Licenses</a:t>
            </a:r>
            <a:r>
              <a:rPr lang="de-AT" sz="1200" b="1" dirty="0">
                <a:effectLst/>
              </a:rPr>
              <a:t> </a:t>
            </a:r>
            <a:r>
              <a:rPr lang="de-AT" sz="1200" b="1" dirty="0" err="1">
                <a:effectLst/>
              </a:rPr>
              <a:t>by</a:t>
            </a:r>
            <a:r>
              <a:rPr lang="de-AT" sz="1200" b="1" dirty="0">
                <a:effectLst/>
              </a:rPr>
              <a:t> Company</a:t>
            </a:r>
            <a:endParaRPr lang="de-AT" sz="1200" b="1" dirty="0"/>
          </a:p>
        </p:txBody>
      </p:sp>
      <p:sp>
        <p:nvSpPr>
          <p:cNvPr id="37" name="Shape 19"/>
          <p:cNvSpPr/>
          <p:nvPr/>
        </p:nvSpPr>
        <p:spPr>
          <a:xfrm>
            <a:off x="6059154" y="2477333"/>
            <a:ext cx="5003971" cy="3001725"/>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r>
              <a:rPr lang="de-AT" sz="1200" b="1" dirty="0" err="1"/>
              <a:t>Active</a:t>
            </a:r>
            <a:r>
              <a:rPr lang="de-AT" sz="1200" b="1" dirty="0"/>
              <a:t> </a:t>
            </a:r>
            <a:r>
              <a:rPr lang="de-AT" sz="1200" b="1" dirty="0" err="1"/>
              <a:t>Licenses</a:t>
            </a:r>
            <a:r>
              <a:rPr lang="de-AT" sz="1200" b="1" dirty="0"/>
              <a:t> </a:t>
            </a:r>
            <a:r>
              <a:rPr lang="de-AT" sz="1200" b="1" dirty="0" err="1"/>
              <a:t>by</a:t>
            </a:r>
            <a:r>
              <a:rPr lang="de-AT" sz="1200" b="1" dirty="0"/>
              <a:t> Country</a:t>
            </a:r>
          </a:p>
        </p:txBody>
      </p:sp>
      <p:grpSp>
        <p:nvGrpSpPr>
          <p:cNvPr id="59" name="Group 58"/>
          <p:cNvGrpSpPr/>
          <p:nvPr/>
        </p:nvGrpSpPr>
        <p:grpSpPr>
          <a:xfrm>
            <a:off x="1368940" y="1443512"/>
            <a:ext cx="8677656" cy="898097"/>
            <a:chOff x="2691420" y="1417870"/>
            <a:chExt cx="8677656" cy="898097"/>
          </a:xfrm>
        </p:grpSpPr>
        <p:grpSp>
          <p:nvGrpSpPr>
            <p:cNvPr id="10" name="Group 9"/>
            <p:cNvGrpSpPr/>
            <p:nvPr/>
          </p:nvGrpSpPr>
          <p:grpSpPr>
            <a:xfrm>
              <a:off x="2691420" y="1447287"/>
              <a:ext cx="6455664" cy="868680"/>
              <a:chOff x="1306068" y="1858345"/>
              <a:chExt cx="6455664" cy="868680"/>
            </a:xfrm>
          </p:grpSpPr>
          <p:sp>
            <p:nvSpPr>
              <p:cNvPr id="11" name="Shape 4"/>
              <p:cNvSpPr/>
              <p:nvPr/>
            </p:nvSpPr>
            <p:spPr>
              <a:xfrm>
                <a:off x="1306068"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2" name="kpi:dual_companies"/>
              <p:cNvSpPr/>
              <p:nvPr/>
            </p:nvSpPr>
            <p:spPr>
              <a:xfrm>
                <a:off x="1443228"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E4002B"/>
                    </a:solidFill>
                    <a:ea typeface="Roboto Light"/>
                    <a:cs typeface="Roboto Light"/>
                  </a:rPr>
                  <a:t>17</a:t>
                </a:r>
              </a:p>
            </p:txBody>
          </p:sp>
          <p:sp>
            <p:nvSpPr>
              <p:cNvPr id="13" name="Text 6"/>
              <p:cNvSpPr/>
              <p:nvPr/>
            </p:nvSpPr>
            <p:spPr>
              <a:xfrm>
                <a:off x="1379220" y="2379553"/>
                <a:ext cx="1865376" cy="182880"/>
              </a:xfrm>
              <a:prstGeom prst="rect">
                <a:avLst/>
              </a:prstGeom>
              <a:noFill/>
              <a:ln/>
            </p:spPr>
            <p:txBody>
              <a:bodyPr wrap="square" lIns="0" tIns="0" rIns="0" bIns="0" rtlCol="0" anchor="ctr">
                <a:normAutofit/>
              </a:bodyPr>
              <a:lstStyle/>
              <a:p>
                <a:pPr algn="ctr"/>
                <a:r>
                  <a:rPr lang="de-AT" sz="900" b="1" dirty="0">
                    <a:solidFill>
                      <a:schemeClr val="accent2"/>
                    </a:solidFill>
                  </a:rPr>
                  <a:t>Companies </a:t>
                </a:r>
                <a:r>
                  <a:rPr lang="de-AT" sz="900" b="1" dirty="0" err="1">
                    <a:solidFill>
                      <a:schemeClr val="accent2"/>
                    </a:solidFill>
                  </a:rPr>
                  <a:t>with</a:t>
                </a:r>
                <a:r>
                  <a:rPr lang="de-AT" sz="900" b="1" dirty="0">
                    <a:solidFill>
                      <a:schemeClr val="accent2"/>
                    </a:solidFill>
                  </a:rPr>
                  <a:t> 0 </a:t>
                </a:r>
                <a:r>
                  <a:rPr lang="de-AT" sz="900" b="1" dirty="0" err="1">
                    <a:solidFill>
                      <a:schemeClr val="accent2"/>
                    </a:solidFill>
                  </a:rPr>
                  <a:t>Completions</a:t>
                </a:r>
                <a:endParaRPr lang="de-AT" sz="900" b="1" dirty="0">
                  <a:solidFill>
                    <a:schemeClr val="accent2"/>
                  </a:solidFill>
                  <a:ea typeface="Roboto Light"/>
                  <a:cs typeface="Roboto Light"/>
                </a:endParaRPr>
              </a:p>
            </p:txBody>
          </p:sp>
          <p:grpSp>
            <p:nvGrpSpPr>
              <p:cNvPr id="14" name="Group 13"/>
              <p:cNvGrpSpPr/>
              <p:nvPr/>
            </p:nvGrpSpPr>
            <p:grpSpPr>
              <a:xfrm>
                <a:off x="3528060" y="1858345"/>
                <a:ext cx="4233672" cy="868680"/>
                <a:chOff x="3528060" y="1858345"/>
                <a:chExt cx="4233672" cy="868680"/>
              </a:xfrm>
            </p:grpSpPr>
            <p:sp>
              <p:nvSpPr>
                <p:cNvPr id="15" name="Shape 7"/>
                <p:cNvSpPr/>
                <p:nvPr/>
              </p:nvSpPr>
              <p:spPr>
                <a:xfrm>
                  <a:off x="3528060"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16" name="kpi:dual_participation_rate"/>
                <p:cNvSpPr/>
                <p:nvPr/>
              </p:nvSpPr>
              <p:spPr>
                <a:xfrm>
                  <a:off x="3665220" y="2004649"/>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8C3A62"/>
                      </a:solidFill>
                    </a:rPr>
                    <a:t>19</a:t>
                  </a:r>
                </a:p>
              </p:txBody>
            </p:sp>
            <p:sp>
              <p:nvSpPr>
                <p:cNvPr id="17" name="Text 9"/>
                <p:cNvSpPr/>
                <p:nvPr/>
              </p:nvSpPr>
              <p:spPr>
                <a:xfrm>
                  <a:off x="3601212" y="2417089"/>
                  <a:ext cx="1865376" cy="182880"/>
                </a:xfrm>
                <a:prstGeom prst="rect">
                  <a:avLst/>
                </a:prstGeom>
                <a:noFill/>
                <a:ln/>
              </p:spPr>
              <p:txBody>
                <a:bodyPr wrap="square" lIns="0" tIns="0" rIns="0" bIns="0" rtlCol="0" anchor="ctr">
                  <a:noAutofit/>
                </a:bodyPr>
                <a:lstStyle/>
                <a:p>
                  <a:pPr algn="ctr"/>
                  <a:r>
                    <a:rPr lang="de-AT" sz="900" b="1" dirty="0">
                      <a:solidFill>
                        <a:schemeClr val="accent2"/>
                      </a:solidFill>
                    </a:rPr>
                    <a:t>Companies </a:t>
                  </a:r>
                  <a:r>
                    <a:rPr lang="de-AT" sz="900" b="1" dirty="0" err="1">
                      <a:solidFill>
                        <a:schemeClr val="accent2"/>
                      </a:solidFill>
                    </a:rPr>
                    <a:t>with</a:t>
                  </a:r>
                  <a:r>
                    <a:rPr lang="de-AT" sz="900" b="1" dirty="0">
                      <a:solidFill>
                        <a:schemeClr val="accent2"/>
                      </a:solidFill>
                    </a:rPr>
                    <a:t> </a:t>
                  </a:r>
                  <a:r>
                    <a:rPr lang="de-AT" sz="900" b="1" dirty="0" err="1">
                      <a:solidFill>
                        <a:schemeClr val="accent2"/>
                      </a:solidFill>
                    </a:rPr>
                    <a:t>Completions</a:t>
                  </a:r>
                  <a:endParaRPr lang="en-US" sz="900" b="1" dirty="0">
                    <a:solidFill>
                      <a:schemeClr val="accent2"/>
                    </a:solidFill>
                  </a:endParaRPr>
                </a:p>
              </p:txBody>
            </p:sp>
            <p:grpSp>
              <p:nvGrpSpPr>
                <p:cNvPr id="18" name="Group 17"/>
                <p:cNvGrpSpPr/>
                <p:nvPr/>
              </p:nvGrpSpPr>
              <p:grpSpPr>
                <a:xfrm>
                  <a:off x="5750052" y="1858345"/>
                  <a:ext cx="2011680" cy="868680"/>
                  <a:chOff x="5750052" y="1858345"/>
                  <a:chExt cx="2011680" cy="868680"/>
                </a:xfrm>
              </p:grpSpPr>
              <p:sp>
                <p:nvSpPr>
                  <p:cNvPr id="19" name="Shape 10"/>
                  <p:cNvSpPr/>
                  <p:nvPr/>
                </p:nvSpPr>
                <p:spPr>
                  <a:xfrm>
                    <a:off x="5750052" y="1858345"/>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20" name="kpi:dual_countries"/>
                  <p:cNvSpPr/>
                  <p:nvPr/>
                </p:nvSpPr>
                <p:spPr>
                  <a:xfrm>
                    <a:off x="5887212" y="2036587"/>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0D8492"/>
                        </a:solidFill>
                      </a:rPr>
                      <a:t>56</a:t>
                    </a:r>
                  </a:p>
                </p:txBody>
              </p:sp>
              <p:sp>
                <p:nvSpPr>
                  <p:cNvPr id="21" name="Text 12"/>
                  <p:cNvSpPr/>
                  <p:nvPr/>
                </p:nvSpPr>
                <p:spPr>
                  <a:xfrm>
                    <a:off x="5823204" y="2379553"/>
                    <a:ext cx="1865376" cy="182880"/>
                  </a:xfrm>
                  <a:prstGeom prst="rect">
                    <a:avLst/>
                  </a:prstGeom>
                  <a:noFill/>
                  <a:ln/>
                </p:spPr>
                <p:txBody>
                  <a:bodyPr wrap="square" lIns="0" tIns="0" rIns="0" bIns="0" rtlCol="0" anchor="ctr">
                    <a:normAutofit/>
                  </a:bodyPr>
                  <a:lstStyle/>
                  <a:p>
                    <a:pPr algn="ctr"/>
                    <a:endParaRPr lang="en-US" sz="950" b="1">
                      <a:solidFill>
                        <a:srgbClr val="7A8285"/>
                      </a:solidFill>
                    </a:endParaRPr>
                  </a:p>
                </p:txBody>
              </p:sp>
            </p:grpSp>
          </p:grpSp>
        </p:grpSp>
        <p:sp>
          <p:nvSpPr>
            <p:cNvPr id="24" name="Text 9"/>
            <p:cNvSpPr/>
            <p:nvPr/>
          </p:nvSpPr>
          <p:spPr>
            <a:xfrm>
              <a:off x="7272564" y="2007637"/>
              <a:ext cx="1865376" cy="182880"/>
            </a:xfrm>
            <a:prstGeom prst="rect">
              <a:avLst/>
            </a:prstGeom>
            <a:noFill/>
            <a:ln/>
          </p:spPr>
          <p:txBody>
            <a:bodyPr wrap="square" lIns="0" tIns="0" rIns="0" bIns="0" rtlCol="0" anchor="ctr">
              <a:noAutofit/>
            </a:bodyPr>
            <a:lstStyle/>
            <a:p>
              <a:pPr algn="ctr"/>
              <a:r>
                <a:rPr lang="en-US" sz="900" b="1" dirty="0">
                  <a:solidFill>
                    <a:srgbClr val="7E8789"/>
                  </a:solidFill>
                </a:rPr>
                <a:t>Avg License Per Company</a:t>
              </a:r>
            </a:p>
          </p:txBody>
        </p:sp>
        <p:sp>
          <p:nvSpPr>
            <p:cNvPr id="55" name="Shape 7"/>
            <p:cNvSpPr/>
            <p:nvPr/>
          </p:nvSpPr>
          <p:spPr>
            <a:xfrm>
              <a:off x="9357396" y="1417870"/>
              <a:ext cx="2011680" cy="868680"/>
            </a:xfrm>
            <a:prstGeom prst="roundRect">
              <a:avLst>
                <a:gd name="adj" fmla="val 12632"/>
              </a:avLst>
            </a:prstGeom>
            <a:solidFill>
              <a:srgbClr val="FFFFFF"/>
            </a:solidFill>
            <a:ln w="10160">
              <a:solidFill>
                <a:srgbClr val="E8ECEE"/>
              </a:solidFill>
              <a:prstDash val="solid"/>
            </a:ln>
            <a:effectLst>
              <a:outerShdw blurRad="19050" dist="50800" dir="2700000" algn="bl" rotWithShape="0">
                <a:srgbClr val="B8BEC2">
                  <a:alpha val="15000"/>
                </a:srgbClr>
              </a:outerShdw>
            </a:effectLst>
          </p:spPr>
          <p:txBody>
            <a:bodyPr/>
            <a:lstStyle/>
            <a:p>
              <a:endParaRPr lang="de-AT"/>
            </a:p>
          </p:txBody>
        </p:sp>
        <p:sp>
          <p:nvSpPr>
            <p:cNvPr id="56" name="Text 9"/>
            <p:cNvSpPr/>
            <p:nvPr/>
          </p:nvSpPr>
          <p:spPr>
            <a:xfrm>
              <a:off x="9442704" y="2008135"/>
              <a:ext cx="1865376" cy="182880"/>
            </a:xfrm>
            <a:prstGeom prst="rect">
              <a:avLst/>
            </a:prstGeom>
            <a:noFill/>
            <a:ln/>
          </p:spPr>
          <p:txBody>
            <a:bodyPr wrap="square" lIns="0" tIns="0" rIns="0" bIns="0" rtlCol="0" anchor="ctr">
              <a:noAutofit/>
            </a:bodyPr>
            <a:lstStyle/>
            <a:p>
              <a:pPr algn="ctr"/>
              <a:r>
                <a:rPr lang="en-US" sz="900" b="1" dirty="0">
                  <a:solidFill>
                    <a:srgbClr val="7E8789"/>
                  </a:solidFill>
                </a:rPr>
                <a:t>Largest License Pool</a:t>
              </a:r>
            </a:p>
          </p:txBody>
        </p:sp>
        <p:sp>
          <p:nvSpPr>
            <p:cNvPr id="57" name="kpi:dual_group_headcount_rate"/>
            <p:cNvSpPr/>
            <p:nvPr/>
          </p:nvSpPr>
          <p:spPr>
            <a:xfrm>
              <a:off x="9515856" y="1629505"/>
              <a:ext cx="1737360" cy="310896"/>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E66D00"/>
                  </a:solidFill>
                </a:rPr>
                <a:t>568</a:t>
              </a:r>
            </a:p>
          </p:txBody>
        </p:sp>
      </p:grpSp>
      <p:pic>
        <p:nvPicPr>
          <p:cNvPr id="2" name="Picture 1"/>
          <p:cNvPicPr>
            <a:picLocks noChangeAspect="1"/>
          </p:cNvPicPr>
          <p:nvPr/>
        </p:nvPicPr>
        <p:blipFill>
          <a:blip r:embed="rId2"/>
          <a:stretch>
            <a:fillRect/>
          </a:stretch>
        </p:blipFill>
        <p:spPr>
          <a:xfrm>
            <a:off x="6119154" y="3112874"/>
            <a:ext cx="4883971" cy="1465016"/>
          </a:xfrm>
          <a:prstGeom prst="rect">
            <a:avLst/>
          </a:prstGeom>
        </p:spPr>
      </p:pic>
      <p:pic>
        <p:nvPicPr>
          <p:cNvPr id="8" name="Picture 7"/>
          <p:cNvPicPr>
            <a:picLocks noChangeAspect="1"/>
          </p:cNvPicPr>
          <p:nvPr/>
        </p:nvPicPr>
        <p:blipFill>
          <a:blip r:embed="rId3"/>
          <a:stretch>
            <a:fillRect/>
          </a:stretch>
        </p:blipFill>
        <p:spPr>
          <a:xfrm>
            <a:off x="718466" y="3108122"/>
            <a:ext cx="4864436" cy="1469768"/>
          </a:xfrm>
          <a:prstGeom prst="rect">
            <a:avLst/>
          </a:prstGeom>
        </p:spPr>
      </p:pic>
      <p:sp>
        <p:nvSpPr>
          <p:cNvPr id="60"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122" name="Shape 40"/>
          <p:cNvSpPr/>
          <p:nvPr/>
        </p:nvSpPr>
        <p:spPr>
          <a:xfrm>
            <a:off x="7801356" y="3906290"/>
            <a:ext cx="3108960" cy="1572768"/>
          </a:xfrm>
          <a:prstGeom prst="roundRect">
            <a:avLst>
              <a:gd name="adj" fmla="val 4070"/>
            </a:avLst>
          </a:prstGeom>
          <a:solidFill>
            <a:srgbClr val="E8F6F5"/>
          </a:solidFill>
          <a:ln w="12700">
            <a:solidFill>
              <a:srgbClr val="DCE3E8"/>
            </a:solidFill>
            <a:prstDash val="solid"/>
          </a:ln>
          <a:effectLst>
            <a:outerShdw blurRad="15240" dist="50800" dir="2700000" algn="bl" rotWithShape="0">
              <a:srgbClr val="AEB8BF">
                <a:alpha val="18000"/>
              </a:srgbClr>
            </a:outerShdw>
          </a:effectLst>
        </p:spPr>
        <p:txBody>
          <a:bodyPr/>
          <a:lstStyle/>
          <a:p>
            <a:endParaRPr lang="de-AT"/>
          </a:p>
        </p:txBody>
      </p:sp>
      <p:sp>
        <p:nvSpPr>
          <p:cNvPr id="118" name="Shape 5"/>
          <p:cNvSpPr/>
          <p:nvPr/>
        </p:nvSpPr>
        <p:spPr>
          <a:xfrm>
            <a:off x="669036" y="1917705"/>
            <a:ext cx="3108960" cy="1572768"/>
          </a:xfrm>
          <a:prstGeom prst="roundRect">
            <a:avLst>
              <a:gd name="adj" fmla="val 4070"/>
            </a:avLst>
          </a:prstGeom>
          <a:solidFill>
            <a:srgbClr val="FFF2D9"/>
          </a:solidFill>
          <a:ln w="12700">
            <a:solidFill>
              <a:srgbClr val="DCE3E8"/>
            </a:solidFill>
            <a:prstDash val="solid"/>
          </a:ln>
          <a:effectLst>
            <a:outerShdw blurRad="15240" dist="50800" dir="2700000" algn="bl" rotWithShape="0">
              <a:srgbClr val="AEB8BF">
                <a:alpha val="18000"/>
              </a:srgbClr>
            </a:outerShdw>
          </a:effectLst>
        </p:spPr>
        <p:txBody>
          <a:bodyPr/>
          <a:lstStyle/>
          <a:p>
            <a:endParaRPr lang="de-AT"/>
          </a:p>
        </p:txBody>
      </p:sp>
      <p:sp>
        <p:nvSpPr>
          <p:cNvPr id="120" name="Shape 19"/>
          <p:cNvSpPr/>
          <p:nvPr/>
        </p:nvSpPr>
        <p:spPr>
          <a:xfrm>
            <a:off x="7801356" y="1917705"/>
            <a:ext cx="3108960" cy="1572768"/>
          </a:xfrm>
          <a:prstGeom prst="roundRect">
            <a:avLst>
              <a:gd name="adj" fmla="val 4070"/>
            </a:avLst>
          </a:prstGeom>
          <a:solidFill>
            <a:srgbClr val="E8F5EF"/>
          </a:solidFill>
          <a:ln w="12700">
            <a:solidFill>
              <a:srgbClr val="DCE3E8"/>
            </a:solidFill>
            <a:prstDash val="solid"/>
          </a:ln>
          <a:effectLst>
            <a:outerShdw blurRad="15240" dist="50800" dir="2700000" algn="bl" rotWithShape="0">
              <a:srgbClr val="AEB8BF">
                <a:alpha val="18000"/>
              </a:srgbClr>
            </a:outerShdw>
          </a:effectLst>
        </p:spPr>
        <p:txBody>
          <a:bodyPr/>
          <a:lstStyle/>
          <a:p>
            <a:endParaRPr lang="de-AT"/>
          </a:p>
        </p:txBody>
      </p:sp>
      <p:sp>
        <p:nvSpPr>
          <p:cNvPr id="3" name="Text Placeholder 2"/>
          <p:cNvSpPr>
            <a:spLocks noGrp="1"/>
          </p:cNvSpPr>
          <p:nvPr/>
        </p:nvSpPr>
        <p:spPr>
          <a:xfrm>
            <a:off x="839788" y="6138665"/>
            <a:ext cx="10514012" cy="263149"/>
          </a:xfrm>
          <a:prstGeom prst="rect">
            <a:avLst/>
          </a:prstGeom>
        </p:spPr>
        <p:txBody>
          <a:bodyPr/>
          <a:lstStyle/>
          <a:p>
            <a:endParaRPr lang="de-AT"/>
          </a:p>
        </p:txBody>
      </p:sp>
      <p:sp>
        <p:nvSpPr>
          <p:cNvPr id="5" name="Date Placeholder 4"/>
          <p:cNvSpPr>
            <a:spLocks noGrp="1"/>
          </p:cNvSpPr>
          <p:nvPr/>
        </p:nvSpPr>
        <p:spPr>
          <a:xfrm>
            <a:off x="11063125" y="181996"/>
            <a:ext cx="873637" cy="153888"/>
          </a:xfrm>
          <a:prstGeom prst="rect">
            <a:avLst/>
          </a:prstGeom>
        </p:spPr>
        <p:txBody>
          <a:bodyPr/>
          <a:lstStyle/>
          <a:p>
            <a:r>
              <a:rPr lang="de-DE" sz="900">
                <a:solidFill>
                  <a:srgbClr val="9aa1b2"/>
                </a:solidFill>
              </a:rPr>
              <a:t>Demo data</a:t>
            </a:r>
            <a:endParaRPr lang="en-GB"/>
          </a:p>
        </p:txBody>
      </p:sp>
      <p:sp>
        <p:nvSpPr>
          <p:cNvPr id="6" name="Footer Placeholder 5"/>
          <p:cNvSpPr>
            <a:spLocks noGrp="1"/>
          </p:cNvSpPr>
          <p:nvPr/>
        </p:nvSpPr>
        <p:spPr>
          <a:xfrm>
            <a:off x="1436787" y="6583761"/>
            <a:ext cx="6953250" cy="36933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aa1b2"/>
                </a:solidFill>
                <a:effectLst/>
                <a:uLnTx/>
                <a:uFillTx/>
                <a:latin typeface="Roboto Light"/>
                <a:ea typeface="+mn-ea"/>
                <a:cs typeface="+mn-cs"/>
              </a:rPr>
              <a:t>Data &amp; AI @ Contoso</a:t>
            </a:r>
          </a:p>
          <a:p>
            <a:endParaRPr lang="en-GB" dirty="0"/>
          </a:p>
        </p:txBody>
      </p:sp>
      <p:sp>
        <p:nvSpPr>
          <p:cNvPr id="7" name="Slide Number Placeholder 6"/>
          <p:cNvSpPr>
            <a:spLocks noGrp="1"/>
          </p:cNvSpPr>
          <p:nvPr/>
        </p:nvSpPr>
        <p:spPr>
          <a:xfrm>
            <a:off x="839788" y="6587737"/>
            <a:ext cx="347662" cy="184666"/>
          </a:xfrm>
          <a:prstGeom prst="rect">
            <a:avLst/>
          </a:prstGeom>
        </p:spPr>
        <p:txBody>
          <a:bodyPr/>
          <a:lstStyle/>
          <a:p>
            <a:pPr algn="l"/>
            <a:fld id="{64E38502-06D2-4E51-82FE-464E052045F9}" type="slidenum">
              <a:rPr lang="en-GB" smtClean="0">
                <a:solidFill>
                  <a:srgbClr val="E8ECF4"/>
                </a:solidFill>
              </a:rPr>
              <a:pPr algn="l"/>
              <a:t>23</a:t>
            </a:fld>
            <a:endParaRPr lang="en-GB"/>
          </a:p>
        </p:txBody>
      </p:sp>
      <p:sp>
        <p:nvSpPr>
          <p:cNvPr id="8" name="Title 7"/>
          <p:cNvSpPr>
            <a:spLocks noGrp="1"/>
          </p:cNvSpPr>
          <p:nvPr/>
        </p:nvSpPr>
        <p:spPr>
          <a:xfrm>
            <a:off x="838994" y="296465"/>
            <a:ext cx="10514012" cy="1098762"/>
          </a:xfrm>
          <a:prstGeom prst="rect">
            <a:avLst/>
          </a:prstGeom>
        </p:spPr>
        <p:txBody>
          <a:bodyPr/>
          <a:lstStyle/>
          <a:p>
            <a:r>
              <a:rPr lang="en-US" sz="4000" dirty="0">
                <a:solidFill>
                  <a:srgbClr val="7E878C"/>
                </a:solidFill>
                <a:ea typeface="Aptos Display" pitchFamily="34" charset="-122"/>
                <a:cs typeface="Aptos Display" pitchFamily="34" charset="-120"/>
              </a:rPr>
              <a:t>Key Findings</a:t>
            </a:r>
            <a:br>
              <a:rPr lang="en-US" dirty="0">
                <a:solidFill>
                  <a:srgbClr val="E8ECF4"/>
                </a:solidFill>
              </a:rPr>
            </a:br>
            <a:endParaRPr lang="de-AT" dirty="0"/>
          </a:p>
        </p:txBody>
      </p:sp>
      <p:sp>
        <p:nvSpPr>
          <p:cNvPr id="25" name="Shape 3"/>
          <p:cNvSpPr/>
          <p:nvPr/>
        </p:nvSpPr>
        <p:spPr>
          <a:xfrm>
            <a:off x="632460" y="1103889"/>
            <a:ext cx="10927080" cy="585216"/>
          </a:xfrm>
          <a:prstGeom prst="roundRect">
            <a:avLst>
              <a:gd name="adj" fmla="val 7813"/>
            </a:avLst>
          </a:prstGeom>
          <a:solidFill>
            <a:srgbClr val="F8FAFC"/>
          </a:solidFill>
          <a:ln w="12700">
            <a:solidFill>
              <a:srgbClr val="D5DFE6"/>
            </a:solidFill>
            <a:prstDash val="solid"/>
          </a:ln>
          <a:effectLst>
            <a:outerShdw blurRad="12700" dist="50800" dir="2700000" algn="bl" rotWithShape="0">
              <a:srgbClr val="D3D8DD">
                <a:alpha val="18000"/>
              </a:srgbClr>
            </a:outerShdw>
          </a:effectLst>
        </p:spPr>
        <p:txBody>
          <a:bodyPr/>
          <a:lstStyle/>
          <a:p>
            <a:endParaRPr lang="de-AT"/>
          </a:p>
        </p:txBody>
      </p:sp>
      <p:sp>
        <p:nvSpPr>
          <p:cNvPr id="27" name="Text 4"/>
          <p:cNvSpPr/>
          <p:nvPr/>
        </p:nvSpPr>
        <p:spPr>
          <a:xfrm>
            <a:off x="842772" y="1250193"/>
            <a:ext cx="10469880" cy="292608"/>
          </a:xfrm>
          <a:prstGeom prst="rect">
            <a:avLst/>
          </a:prstGeom>
          <a:noFill/>
          <a:ln/>
        </p:spPr>
        <p:txBody>
          <a:bodyPr wrap="square" lIns="0" tIns="0" rIns="0" bIns="0" rtlCol="0" anchor="ctr">
            <a:normAutofit fontScale="92500" lnSpcReduction="10000"/>
          </a:bodyPr>
          <a:lstStyle/>
          <a:p>
            <a:pPr marL="0" indent="0">
              <a:buNone/>
            </a:pPr>
            <a:r>
              <a:rPr lang="en-US" sz="1110" b="1" dirty="0">
                <a:solidFill>
                  <a:srgbClr val="A80D2A"/>
                </a:solidFill>
              </a:rPr>
              <a:t>The story is not one simple ranking. </a:t>
            </a:r>
            <a:r>
              <a:rPr lang="en-US" sz="1110" dirty="0">
                <a:solidFill>
                  <a:srgbClr val="26303A"/>
                </a:solidFill>
              </a:rPr>
              <a:t>Licenses are concentrated in large pools, while meaningful learning activity is driven by fewer engaged entities. Read utilization together with license pool size, other learning channels such as Beacon, and data-quality gaps.</a:t>
            </a:r>
            <a:endParaRPr lang="en-US" sz="1110" dirty="0"/>
          </a:p>
        </p:txBody>
      </p:sp>
      <p:sp>
        <p:nvSpPr>
          <p:cNvPr id="30" name="Shape 6"/>
          <p:cNvSpPr/>
          <p:nvPr/>
        </p:nvSpPr>
        <p:spPr>
          <a:xfrm>
            <a:off x="659892" y="1908561"/>
            <a:ext cx="91440" cy="1572768"/>
          </a:xfrm>
          <a:prstGeom prst="rect">
            <a:avLst/>
          </a:prstGeom>
          <a:solidFill>
            <a:srgbClr val="F5A623"/>
          </a:solidFill>
          <a:ln w="12700">
            <a:solidFill>
              <a:srgbClr val="F5A623"/>
            </a:solidFill>
            <a:prstDash val="solid"/>
          </a:ln>
        </p:spPr>
        <p:txBody>
          <a:bodyPr/>
          <a:lstStyle/>
          <a:p>
            <a:endParaRPr lang="de-AT"/>
          </a:p>
        </p:txBody>
      </p:sp>
      <p:sp>
        <p:nvSpPr>
          <p:cNvPr id="32" name="Text 7"/>
          <p:cNvSpPr/>
          <p:nvPr/>
        </p:nvSpPr>
        <p:spPr>
          <a:xfrm>
            <a:off x="861060" y="2073153"/>
            <a:ext cx="310896" cy="27432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34" name="Text 8"/>
          <p:cNvSpPr/>
          <p:nvPr/>
        </p:nvSpPr>
        <p:spPr>
          <a:xfrm>
            <a:off x="1281684" y="2091441"/>
            <a:ext cx="2322576" cy="201168"/>
          </a:xfrm>
          <a:prstGeom prst="rect">
            <a:avLst/>
          </a:prstGeom>
          <a:noFill/>
          <a:ln/>
        </p:spPr>
        <p:txBody>
          <a:bodyPr wrap="square" lIns="0" tIns="0" rIns="0" bIns="0" rtlCol="0" anchor="ctr">
            <a:normAutofit/>
          </a:bodyPr>
          <a:lstStyle/>
          <a:p>
            <a:pPr marL="0" indent="0">
              <a:buNone/>
            </a:pPr>
            <a:r>
              <a:rPr lang="en-US" sz="1020" b="1" dirty="0">
                <a:solidFill>
                  <a:srgbClr val="26303A"/>
                </a:solidFill>
              </a:rPr>
              <a:t>License concentration is extreme</a:t>
            </a:r>
            <a:endParaRPr lang="en-US" sz="1020" dirty="0"/>
          </a:p>
        </p:txBody>
      </p:sp>
      <p:sp>
        <p:nvSpPr>
          <p:cNvPr id="38" name="Text 9"/>
          <p:cNvSpPr/>
          <p:nvPr/>
        </p:nvSpPr>
        <p:spPr>
          <a:xfrm>
            <a:off x="1281684" y="2411481"/>
            <a:ext cx="2322576" cy="155448"/>
          </a:xfrm>
          <a:prstGeom prst="rect">
            <a:avLst/>
          </a:prstGeom>
          <a:noFill/>
          <a:ln/>
        </p:spPr>
        <p:txBody>
          <a:bodyPr wrap="square" lIns="0" tIns="0" rIns="0" bIns="0" rtlCol="0" anchor="ctr">
            <a:normAutofit/>
          </a:bodyPr>
          <a:lstStyle/>
          <a:p>
            <a:pPr marL="0" indent="0">
              <a:buNone/>
            </a:pPr>
            <a:r>
              <a:rPr lang="en-US" sz="800" b="1" i="1" dirty="0"/>
              <a:t>Top-heavy seat allocation</a:t>
            </a:r>
            <a:endParaRPr lang="en-US" sz="800" i="1" dirty="0"/>
          </a:p>
        </p:txBody>
      </p:sp>
      <p:sp>
        <p:nvSpPr>
          <p:cNvPr id="40" name="Text 10"/>
          <p:cNvSpPr/>
          <p:nvPr/>
        </p:nvSpPr>
        <p:spPr>
          <a:xfrm>
            <a:off x="1281684" y="2713233"/>
            <a:ext cx="2322576" cy="256032"/>
          </a:xfrm>
          <a:prstGeom prst="rect">
            <a:avLst/>
          </a:prstGeom>
          <a:noFill/>
          <a:ln/>
        </p:spPr>
        <p:txBody>
          <a:bodyPr wrap="square" lIns="0" tIns="0" rIns="0" bIns="0" rtlCol="0" anchor="ctr">
            <a:normAutofit/>
          </a:bodyPr>
          <a:lstStyle/>
          <a:p>
            <a:pPr marL="0" indent="0">
              <a:buNone/>
            </a:pPr>
            <a:r>
              <a:rPr lang="en-US" sz="1500" b="1" dirty="0">
                <a:solidFill>
                  <a:srgbClr val="A05A00"/>
                </a:solidFill>
              </a:rPr>
              <a:t>54% in top 3</a:t>
            </a:r>
            <a:endParaRPr lang="en-US" sz="1500" dirty="0"/>
          </a:p>
        </p:txBody>
      </p:sp>
      <p:sp>
        <p:nvSpPr>
          <p:cNvPr id="42" name="Text 11"/>
          <p:cNvSpPr/>
          <p:nvPr/>
        </p:nvSpPr>
        <p:spPr>
          <a:xfrm>
            <a:off x="1281684" y="3033273"/>
            <a:ext cx="2322576" cy="347472"/>
          </a:xfrm>
          <a:prstGeom prst="rect">
            <a:avLst/>
          </a:prstGeom>
          <a:noFill/>
          <a:ln/>
        </p:spPr>
        <p:txBody>
          <a:bodyPr wrap="square" lIns="0" tIns="0" rIns="0" bIns="0" rtlCol="0" anchor="ctr">
            <a:normAutofit/>
          </a:bodyPr>
          <a:lstStyle/>
          <a:p>
            <a:pPr marL="0" indent="0">
              <a:buNone/>
            </a:pPr>
            <a:r>
              <a:rPr lang="en-US" sz="660" dirty="0">
                <a:solidFill>
                  <a:srgbClr val="26303A"/>
                </a:solidFill>
              </a:rPr>
              <a:t>Contoso DE, Northwind DE and Fabrikam ES hold 54% of all licenses. Germany alone accounts for 492 active PlanTrack seats — 38% of the total pool.</a:t>
            </a:r>
            <a:endParaRPr lang="en-US" sz="660" dirty="0"/>
          </a:p>
        </p:txBody>
      </p:sp>
      <p:sp>
        <p:nvSpPr>
          <p:cNvPr id="44" name="Shape 12"/>
          <p:cNvSpPr/>
          <p:nvPr/>
        </p:nvSpPr>
        <p:spPr>
          <a:xfrm>
            <a:off x="4226052" y="1908561"/>
            <a:ext cx="3108960" cy="1572768"/>
          </a:xfrm>
          <a:prstGeom prst="roundRect">
            <a:avLst>
              <a:gd name="adj" fmla="val 4070"/>
            </a:avLst>
          </a:prstGeom>
          <a:solidFill>
            <a:srgbClr val="EAF4FF"/>
          </a:solidFill>
          <a:ln w="12700">
            <a:solidFill>
              <a:srgbClr val="DCE3E8"/>
            </a:solidFill>
            <a:prstDash val="solid"/>
          </a:ln>
          <a:effectLst>
            <a:outerShdw blurRad="15240" dist="50800" dir="2700000" algn="bl" rotWithShape="0">
              <a:srgbClr val="AEB8BF">
                <a:alpha val="18000"/>
              </a:srgbClr>
            </a:outerShdw>
          </a:effectLst>
        </p:spPr>
        <p:txBody>
          <a:bodyPr/>
          <a:lstStyle/>
          <a:p>
            <a:endParaRPr lang="de-AT"/>
          </a:p>
        </p:txBody>
      </p:sp>
      <p:sp>
        <p:nvSpPr>
          <p:cNvPr id="46" name="Shape 13"/>
          <p:cNvSpPr/>
          <p:nvPr/>
        </p:nvSpPr>
        <p:spPr>
          <a:xfrm>
            <a:off x="4226052" y="1908561"/>
            <a:ext cx="91440" cy="1572768"/>
          </a:xfrm>
          <a:prstGeom prst="rect">
            <a:avLst/>
          </a:prstGeom>
          <a:solidFill>
            <a:srgbClr val="2F80ED"/>
          </a:solidFill>
          <a:ln w="12700">
            <a:solidFill>
              <a:srgbClr val="2F80ED"/>
            </a:solidFill>
            <a:prstDash val="solid"/>
          </a:ln>
        </p:spPr>
        <p:txBody>
          <a:bodyPr/>
          <a:lstStyle/>
          <a:p>
            <a:endParaRPr lang="de-AT"/>
          </a:p>
        </p:txBody>
      </p:sp>
      <p:sp>
        <p:nvSpPr>
          <p:cNvPr id="48" name="Text 14"/>
          <p:cNvSpPr/>
          <p:nvPr/>
        </p:nvSpPr>
        <p:spPr>
          <a:xfrm>
            <a:off x="4427220" y="2073153"/>
            <a:ext cx="310896" cy="27432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50" name="Text 15"/>
          <p:cNvSpPr/>
          <p:nvPr/>
        </p:nvSpPr>
        <p:spPr>
          <a:xfrm>
            <a:off x="4847844" y="2091441"/>
            <a:ext cx="2322576" cy="201168"/>
          </a:xfrm>
          <a:prstGeom prst="rect">
            <a:avLst/>
          </a:prstGeom>
          <a:noFill/>
          <a:ln/>
        </p:spPr>
        <p:txBody>
          <a:bodyPr wrap="square" lIns="0" tIns="0" rIns="0" bIns="0" rtlCol="0" anchor="ctr">
            <a:normAutofit/>
          </a:bodyPr>
          <a:lstStyle/>
          <a:p>
            <a:pPr marL="0" indent="0">
              <a:buNone/>
            </a:pPr>
            <a:r>
              <a:rPr lang="en-US" sz="1020" b="1" dirty="0">
                <a:solidFill>
                  <a:srgbClr val="26303A"/>
                </a:solidFill>
              </a:rPr>
              <a:t>Utilization paradox: small = active</a:t>
            </a:r>
            <a:endParaRPr lang="en-US" sz="1020" dirty="0"/>
          </a:p>
        </p:txBody>
      </p:sp>
      <p:sp>
        <p:nvSpPr>
          <p:cNvPr id="52" name="Text 16"/>
          <p:cNvSpPr/>
          <p:nvPr/>
        </p:nvSpPr>
        <p:spPr>
          <a:xfrm>
            <a:off x="4847844" y="2411481"/>
            <a:ext cx="2322576" cy="155448"/>
          </a:xfrm>
          <a:prstGeom prst="rect">
            <a:avLst/>
          </a:prstGeom>
          <a:noFill/>
          <a:ln/>
        </p:spPr>
        <p:txBody>
          <a:bodyPr wrap="square" lIns="0" tIns="0" rIns="0" bIns="0" rtlCol="0" anchor="ctr">
            <a:normAutofit/>
          </a:bodyPr>
          <a:lstStyle/>
          <a:p>
            <a:pPr marL="0" indent="0">
              <a:buNone/>
            </a:pPr>
            <a:r>
              <a:rPr lang="en-US" sz="800" b="1" i="1" dirty="0"/>
              <a:t>High rates can come from tiny pools</a:t>
            </a:r>
            <a:endParaRPr lang="en-US" sz="800" i="1" dirty="0"/>
          </a:p>
        </p:txBody>
      </p:sp>
      <p:sp>
        <p:nvSpPr>
          <p:cNvPr id="54" name="Text 17"/>
          <p:cNvSpPr/>
          <p:nvPr/>
        </p:nvSpPr>
        <p:spPr>
          <a:xfrm>
            <a:off x="4847844" y="2713233"/>
            <a:ext cx="2322576" cy="256032"/>
          </a:xfrm>
          <a:prstGeom prst="rect">
            <a:avLst/>
          </a:prstGeom>
          <a:noFill/>
          <a:ln/>
        </p:spPr>
        <p:txBody>
          <a:bodyPr wrap="square" lIns="0" tIns="0" rIns="0" bIns="0" rtlCol="0" anchor="ctr">
            <a:normAutofit/>
          </a:bodyPr>
          <a:lstStyle/>
          <a:p>
            <a:pPr marL="0" indent="0">
              <a:buNone/>
            </a:pPr>
            <a:r>
              <a:rPr lang="en-US" sz="1500" b="1" dirty="0">
                <a:solidFill>
                  <a:srgbClr val="21618C"/>
                </a:solidFill>
              </a:rPr>
              <a:t>64% with 6 seats</a:t>
            </a:r>
            <a:endParaRPr lang="en-US" sz="1500" dirty="0"/>
          </a:p>
        </p:txBody>
      </p:sp>
      <p:sp>
        <p:nvSpPr>
          <p:cNvPr id="60" name="Text 18"/>
          <p:cNvSpPr/>
          <p:nvPr/>
        </p:nvSpPr>
        <p:spPr>
          <a:xfrm>
            <a:off x="4847844" y="3033273"/>
            <a:ext cx="2322576" cy="347472"/>
          </a:xfrm>
          <a:prstGeom prst="rect">
            <a:avLst/>
          </a:prstGeom>
          <a:noFill/>
          <a:ln/>
        </p:spPr>
        <p:txBody>
          <a:bodyPr wrap="square" lIns="0" tIns="0" rIns="0" bIns="0" rtlCol="0" anchor="ctr">
            <a:normAutofit/>
          </a:bodyPr>
          <a:lstStyle/>
          <a:p>
            <a:pPr marL="0" indent="0">
              <a:buNone/>
            </a:pPr>
            <a:r>
              <a:rPr lang="en-US" sz="660" dirty="0">
                <a:solidFill>
                  <a:srgbClr val="26303A"/>
                </a:solidFill>
              </a:rPr>
              <a:t>Litware PL leads by percentage, but from a very small base. The top 5 by utilization average only around 64 licenses each.</a:t>
            </a:r>
            <a:endParaRPr lang="en-US" sz="660" dirty="0"/>
          </a:p>
        </p:txBody>
      </p:sp>
      <p:sp>
        <p:nvSpPr>
          <p:cNvPr id="62" name="Shape 20"/>
          <p:cNvSpPr/>
          <p:nvPr/>
        </p:nvSpPr>
        <p:spPr>
          <a:xfrm>
            <a:off x="7792212" y="1908561"/>
            <a:ext cx="91440" cy="1572768"/>
          </a:xfrm>
          <a:prstGeom prst="rect">
            <a:avLst/>
          </a:prstGeom>
          <a:solidFill>
            <a:srgbClr val="27AE60"/>
          </a:solidFill>
          <a:ln w="12700">
            <a:solidFill>
              <a:srgbClr val="27AE60"/>
            </a:solidFill>
            <a:prstDash val="solid"/>
          </a:ln>
        </p:spPr>
        <p:txBody>
          <a:bodyPr/>
          <a:lstStyle/>
          <a:p>
            <a:endParaRPr lang="de-AT"/>
          </a:p>
        </p:txBody>
      </p:sp>
      <p:sp>
        <p:nvSpPr>
          <p:cNvPr id="64" name="Text 21"/>
          <p:cNvSpPr/>
          <p:nvPr/>
        </p:nvSpPr>
        <p:spPr>
          <a:xfrm>
            <a:off x="7993380" y="2073153"/>
            <a:ext cx="310896" cy="27432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66" name="Text 22"/>
          <p:cNvSpPr/>
          <p:nvPr/>
        </p:nvSpPr>
        <p:spPr>
          <a:xfrm>
            <a:off x="8414004" y="2091441"/>
            <a:ext cx="2322576" cy="201168"/>
          </a:xfrm>
          <a:prstGeom prst="rect">
            <a:avLst/>
          </a:prstGeom>
          <a:noFill/>
          <a:ln/>
        </p:spPr>
        <p:txBody>
          <a:bodyPr wrap="square" lIns="0" tIns="0" rIns="0" bIns="0" rtlCol="0" anchor="ctr">
            <a:normAutofit/>
          </a:bodyPr>
          <a:lstStyle/>
          <a:p>
            <a:pPr marL="0" indent="0">
              <a:buNone/>
            </a:pPr>
            <a:r>
              <a:rPr lang="en-US" sz="1020" b="1" dirty="0">
                <a:solidFill>
                  <a:srgbClr val="26303A"/>
                </a:solidFill>
              </a:rPr>
              <a:t>Fabrikam is the scalable champion</a:t>
            </a:r>
            <a:endParaRPr lang="en-US" sz="1020" dirty="0"/>
          </a:p>
        </p:txBody>
      </p:sp>
      <p:sp>
        <p:nvSpPr>
          <p:cNvPr id="68" name="Text 23"/>
          <p:cNvSpPr/>
          <p:nvPr/>
        </p:nvSpPr>
        <p:spPr>
          <a:xfrm>
            <a:off x="8414004" y="2411481"/>
            <a:ext cx="2322576" cy="155448"/>
          </a:xfrm>
          <a:prstGeom prst="rect">
            <a:avLst/>
          </a:prstGeom>
          <a:noFill/>
          <a:ln/>
        </p:spPr>
        <p:txBody>
          <a:bodyPr wrap="square" lIns="0" tIns="0" rIns="0" bIns="0" rtlCol="0" anchor="ctr">
            <a:normAutofit/>
          </a:bodyPr>
          <a:lstStyle/>
          <a:p>
            <a:pPr marL="0" indent="0">
              <a:buNone/>
            </a:pPr>
            <a:r>
              <a:rPr lang="en-US" sz="800" b="1" i="1" dirty="0"/>
              <a:t>One entity drives the program</a:t>
            </a:r>
            <a:endParaRPr lang="en-US" sz="800" i="1" dirty="0"/>
          </a:p>
        </p:txBody>
      </p:sp>
      <p:sp>
        <p:nvSpPr>
          <p:cNvPr id="70" name="Text 24"/>
          <p:cNvSpPr/>
          <p:nvPr/>
        </p:nvSpPr>
        <p:spPr>
          <a:xfrm>
            <a:off x="8414004" y="2713233"/>
            <a:ext cx="2322576" cy="256032"/>
          </a:xfrm>
          <a:prstGeom prst="rect">
            <a:avLst/>
          </a:prstGeom>
          <a:noFill/>
          <a:ln/>
        </p:spPr>
        <p:txBody>
          <a:bodyPr wrap="square" lIns="0" tIns="0" rIns="0" bIns="0" rtlCol="0" anchor="ctr">
            <a:normAutofit/>
          </a:bodyPr>
          <a:lstStyle/>
          <a:p>
            <a:pPr marL="0" indent="0">
              <a:buNone/>
            </a:pPr>
            <a:r>
              <a:rPr lang="en-US" sz="1500" b="1" dirty="0">
                <a:solidFill>
                  <a:srgbClr val="19724A"/>
                </a:solidFill>
              </a:rPr>
              <a:t>31 of 137 completions</a:t>
            </a:r>
            <a:endParaRPr lang="en-US" sz="1500" dirty="0"/>
          </a:p>
        </p:txBody>
      </p:sp>
      <p:sp>
        <p:nvSpPr>
          <p:cNvPr id="72" name="Text 25"/>
          <p:cNvSpPr/>
          <p:nvPr/>
        </p:nvSpPr>
        <p:spPr>
          <a:xfrm>
            <a:off x="8414004" y="3033273"/>
            <a:ext cx="2322576" cy="347472"/>
          </a:xfrm>
          <a:prstGeom prst="rect">
            <a:avLst/>
          </a:prstGeom>
          <a:noFill/>
          <a:ln/>
        </p:spPr>
        <p:txBody>
          <a:bodyPr wrap="square" lIns="0" tIns="0" rIns="0" bIns="0" rtlCol="0" anchor="ctr">
            <a:normAutofit/>
          </a:bodyPr>
          <a:lstStyle/>
          <a:p>
            <a:pPr marL="0" indent="0">
              <a:buNone/>
            </a:pPr>
            <a:r>
              <a:rPr lang="en-US" sz="660" dirty="0">
                <a:solidFill>
                  <a:srgbClr val="26303A"/>
                </a:solidFill>
              </a:rPr>
              <a:t>Fabrikam combines scale and activity: 235 licenses, 31 completions, 23 unique learners and 30.5% utilization. Without Fabrikam, utilization drops to 4.2%.</a:t>
            </a:r>
            <a:endParaRPr lang="en-US" sz="660" dirty="0"/>
          </a:p>
        </p:txBody>
      </p:sp>
      <p:sp>
        <p:nvSpPr>
          <p:cNvPr id="74" name="Shape 26"/>
          <p:cNvSpPr/>
          <p:nvPr/>
        </p:nvSpPr>
        <p:spPr>
          <a:xfrm>
            <a:off x="659892" y="3911097"/>
            <a:ext cx="3108960" cy="1572768"/>
          </a:xfrm>
          <a:prstGeom prst="roundRect">
            <a:avLst>
              <a:gd name="adj" fmla="val 4070"/>
            </a:avLst>
          </a:prstGeom>
          <a:solidFill>
            <a:srgbClr val="FDECEF"/>
          </a:solidFill>
          <a:ln w="12700">
            <a:solidFill>
              <a:srgbClr val="DCE3E8"/>
            </a:solidFill>
            <a:prstDash val="solid"/>
          </a:ln>
          <a:effectLst>
            <a:outerShdw blurRad="15240" dist="50800" dir="2700000" algn="bl" rotWithShape="0">
              <a:srgbClr val="AEB8BF">
                <a:alpha val="18000"/>
              </a:srgbClr>
            </a:outerShdw>
          </a:effectLst>
        </p:spPr>
        <p:txBody>
          <a:bodyPr/>
          <a:lstStyle/>
          <a:p>
            <a:endParaRPr lang="de-AT"/>
          </a:p>
        </p:txBody>
      </p:sp>
      <p:sp>
        <p:nvSpPr>
          <p:cNvPr id="76" name="Shape 27"/>
          <p:cNvSpPr/>
          <p:nvPr/>
        </p:nvSpPr>
        <p:spPr>
          <a:xfrm>
            <a:off x="659892" y="3911097"/>
            <a:ext cx="91440" cy="1572768"/>
          </a:xfrm>
          <a:prstGeom prst="rect">
            <a:avLst/>
          </a:prstGeom>
          <a:solidFill>
            <a:srgbClr val="C1123C"/>
          </a:solidFill>
          <a:ln w="12700">
            <a:solidFill>
              <a:srgbClr val="C1123C"/>
            </a:solidFill>
            <a:prstDash val="solid"/>
          </a:ln>
        </p:spPr>
        <p:txBody>
          <a:bodyPr/>
          <a:lstStyle/>
          <a:p>
            <a:endParaRPr lang="de-AT"/>
          </a:p>
        </p:txBody>
      </p:sp>
      <p:sp>
        <p:nvSpPr>
          <p:cNvPr id="78" name="Text 28"/>
          <p:cNvSpPr/>
          <p:nvPr/>
        </p:nvSpPr>
        <p:spPr>
          <a:xfrm>
            <a:off x="861060" y="4075689"/>
            <a:ext cx="310896" cy="27432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80" name="Text 29"/>
          <p:cNvSpPr/>
          <p:nvPr/>
        </p:nvSpPr>
        <p:spPr>
          <a:xfrm>
            <a:off x="1281684" y="4093977"/>
            <a:ext cx="2322576" cy="201168"/>
          </a:xfrm>
          <a:prstGeom prst="rect">
            <a:avLst/>
          </a:prstGeom>
          <a:noFill/>
          <a:ln/>
        </p:spPr>
        <p:txBody>
          <a:bodyPr wrap="square" lIns="0" tIns="0" rIns="0" bIns="0" rtlCol="0" anchor="ctr">
            <a:normAutofit/>
          </a:bodyPr>
          <a:lstStyle/>
          <a:p>
            <a:pPr marL="0" indent="0">
              <a:buNone/>
            </a:pPr>
            <a:r>
              <a:rPr lang="en-US" sz="1020" b="1" dirty="0">
                <a:solidFill>
                  <a:srgbClr val="26303A"/>
                </a:solidFill>
              </a:rPr>
              <a:t>Half the companies show zero activity</a:t>
            </a:r>
            <a:endParaRPr lang="en-US" sz="1020" dirty="0"/>
          </a:p>
        </p:txBody>
      </p:sp>
      <p:sp>
        <p:nvSpPr>
          <p:cNvPr id="82" name="Text 30"/>
          <p:cNvSpPr/>
          <p:nvPr/>
        </p:nvSpPr>
        <p:spPr>
          <a:xfrm>
            <a:off x="1281684" y="4414017"/>
            <a:ext cx="2322576" cy="155448"/>
          </a:xfrm>
          <a:prstGeom prst="rect">
            <a:avLst/>
          </a:prstGeom>
          <a:noFill/>
          <a:ln/>
        </p:spPr>
        <p:txBody>
          <a:bodyPr wrap="square" lIns="0" tIns="0" rIns="0" bIns="0" rtlCol="0" anchor="ctr">
            <a:normAutofit/>
          </a:bodyPr>
          <a:lstStyle/>
          <a:p>
            <a:pPr marL="0" indent="0">
              <a:buNone/>
            </a:pPr>
            <a:r>
              <a:rPr lang="en-US" sz="800" b="1" i="1" dirty="0"/>
              <a:t>Large pools still need activation</a:t>
            </a:r>
            <a:endParaRPr lang="en-US" sz="800" i="1" dirty="0"/>
          </a:p>
        </p:txBody>
      </p:sp>
      <p:sp>
        <p:nvSpPr>
          <p:cNvPr id="84" name="Text 31"/>
          <p:cNvSpPr/>
          <p:nvPr/>
        </p:nvSpPr>
        <p:spPr>
          <a:xfrm>
            <a:off x="1281684" y="4715769"/>
            <a:ext cx="2322576" cy="256032"/>
          </a:xfrm>
          <a:prstGeom prst="rect">
            <a:avLst/>
          </a:prstGeom>
          <a:noFill/>
          <a:ln/>
        </p:spPr>
        <p:txBody>
          <a:bodyPr wrap="square" lIns="0" tIns="0" rIns="0" bIns="0" rtlCol="0" anchor="ctr">
            <a:normAutofit/>
          </a:bodyPr>
          <a:lstStyle/>
          <a:p>
            <a:pPr marL="0" indent="0">
              <a:buNone/>
            </a:pPr>
            <a:r>
              <a:rPr lang="en-US" sz="1500" b="1" dirty="0">
                <a:solidFill>
                  <a:srgbClr val="A80D2A"/>
                </a:solidFill>
              </a:rPr>
              <a:t>13 of 38 at 0%</a:t>
            </a:r>
            <a:endParaRPr lang="en-US" sz="1500" dirty="0"/>
          </a:p>
        </p:txBody>
      </p:sp>
      <p:sp>
        <p:nvSpPr>
          <p:cNvPr id="86" name="Text 32"/>
          <p:cNvSpPr/>
          <p:nvPr/>
        </p:nvSpPr>
        <p:spPr>
          <a:xfrm>
            <a:off x="1281684" y="5035809"/>
            <a:ext cx="2322576" cy="347472"/>
          </a:xfrm>
          <a:prstGeom prst="rect">
            <a:avLst/>
          </a:prstGeom>
          <a:noFill/>
          <a:ln/>
        </p:spPr>
        <p:txBody>
          <a:bodyPr wrap="square" lIns="0" tIns="0" rIns="0" bIns="0" rtlCol="0" anchor="ctr">
            <a:normAutofit/>
          </a:bodyPr>
          <a:lstStyle/>
          <a:p>
            <a:pPr marL="0" indent="0">
              <a:buNone/>
            </a:pPr>
            <a:r>
              <a:rPr lang="en-US" sz="660" dirty="0">
                <a:solidFill>
                  <a:srgbClr val="26303A"/>
                </a:solidFill>
              </a:rPr>
              <a:t>Zero-completion entities include Tailspin CZ, Contoso IT DE, Wingtip PL and Adatum PL. Czech Republic shows 182 licenses and 0 completions.</a:t>
            </a:r>
            <a:endParaRPr lang="en-US" sz="660" dirty="0"/>
          </a:p>
        </p:txBody>
      </p:sp>
      <p:sp>
        <p:nvSpPr>
          <p:cNvPr id="88" name="Shape 33"/>
          <p:cNvSpPr/>
          <p:nvPr/>
        </p:nvSpPr>
        <p:spPr>
          <a:xfrm>
            <a:off x="4226052" y="3911097"/>
            <a:ext cx="3108960" cy="1572768"/>
          </a:xfrm>
          <a:prstGeom prst="roundRect">
            <a:avLst>
              <a:gd name="adj" fmla="val 4070"/>
            </a:avLst>
          </a:prstGeom>
          <a:solidFill>
            <a:srgbClr val="F1EAFB"/>
          </a:solidFill>
          <a:ln w="12700">
            <a:solidFill>
              <a:srgbClr val="DCE3E8"/>
            </a:solidFill>
            <a:prstDash val="solid"/>
          </a:ln>
          <a:effectLst>
            <a:outerShdw blurRad="15240" dist="50800" dir="2700000" algn="bl" rotWithShape="0">
              <a:srgbClr val="AEB8BF">
                <a:alpha val="18000"/>
              </a:srgbClr>
            </a:outerShdw>
          </a:effectLst>
        </p:spPr>
        <p:txBody>
          <a:bodyPr/>
          <a:lstStyle/>
          <a:p>
            <a:endParaRPr lang="de-AT"/>
          </a:p>
        </p:txBody>
      </p:sp>
      <p:sp>
        <p:nvSpPr>
          <p:cNvPr id="90" name="Shape 34"/>
          <p:cNvSpPr/>
          <p:nvPr/>
        </p:nvSpPr>
        <p:spPr>
          <a:xfrm>
            <a:off x="4226052" y="3911097"/>
            <a:ext cx="91440" cy="1572768"/>
          </a:xfrm>
          <a:prstGeom prst="rect">
            <a:avLst/>
          </a:prstGeom>
          <a:solidFill>
            <a:srgbClr val="8E44AD"/>
          </a:solidFill>
          <a:ln w="12700">
            <a:solidFill>
              <a:srgbClr val="8E44AD"/>
            </a:solidFill>
            <a:prstDash val="solid"/>
          </a:ln>
        </p:spPr>
        <p:txBody>
          <a:bodyPr/>
          <a:lstStyle/>
          <a:p>
            <a:endParaRPr lang="de-AT"/>
          </a:p>
        </p:txBody>
      </p:sp>
      <p:sp>
        <p:nvSpPr>
          <p:cNvPr id="92" name="Text 35"/>
          <p:cNvSpPr/>
          <p:nvPr/>
        </p:nvSpPr>
        <p:spPr>
          <a:xfrm>
            <a:off x="4427220" y="4075689"/>
            <a:ext cx="310896" cy="27432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94" name="Text 36"/>
          <p:cNvSpPr/>
          <p:nvPr/>
        </p:nvSpPr>
        <p:spPr>
          <a:xfrm>
            <a:off x="4847844" y="4093977"/>
            <a:ext cx="2322576" cy="201168"/>
          </a:xfrm>
          <a:prstGeom prst="rect">
            <a:avLst/>
          </a:prstGeom>
          <a:noFill/>
          <a:ln/>
        </p:spPr>
        <p:txBody>
          <a:bodyPr wrap="square" lIns="0" tIns="0" rIns="0" bIns="0" rtlCol="0" anchor="ctr">
            <a:normAutofit/>
          </a:bodyPr>
          <a:lstStyle/>
          <a:p>
            <a:pPr marL="0" indent="0">
              <a:buNone/>
            </a:pPr>
            <a:r>
              <a:rPr lang="en-US" sz="1020" b="1" dirty="0">
                <a:solidFill>
                  <a:srgbClr val="26303A"/>
                </a:solidFill>
              </a:rPr>
              <a:t>Ghost completions need follow-up</a:t>
            </a:r>
            <a:endParaRPr lang="en-US" sz="1020" dirty="0"/>
          </a:p>
        </p:txBody>
      </p:sp>
      <p:sp>
        <p:nvSpPr>
          <p:cNvPr id="96" name="Text 37"/>
          <p:cNvSpPr/>
          <p:nvPr/>
        </p:nvSpPr>
        <p:spPr>
          <a:xfrm>
            <a:off x="4847844" y="4414017"/>
            <a:ext cx="2322576" cy="155448"/>
          </a:xfrm>
          <a:prstGeom prst="rect">
            <a:avLst/>
          </a:prstGeom>
          <a:noFill/>
          <a:ln/>
        </p:spPr>
        <p:txBody>
          <a:bodyPr wrap="square" lIns="0" tIns="0" rIns="0" bIns="0" rtlCol="0" anchor="ctr">
            <a:normAutofit/>
          </a:bodyPr>
          <a:lstStyle/>
          <a:p>
            <a:pPr marL="0" indent="0">
              <a:buNone/>
            </a:pPr>
            <a:r>
              <a:rPr lang="en-US" sz="800" b="1" i="1" dirty="0"/>
              <a:t>Completion exists without license match</a:t>
            </a:r>
            <a:endParaRPr lang="en-US" sz="800" i="1" dirty="0"/>
          </a:p>
        </p:txBody>
      </p:sp>
      <p:sp>
        <p:nvSpPr>
          <p:cNvPr id="98" name="Text 38"/>
          <p:cNvSpPr/>
          <p:nvPr/>
        </p:nvSpPr>
        <p:spPr>
          <a:xfrm>
            <a:off x="4847844" y="4715769"/>
            <a:ext cx="2322576" cy="256032"/>
          </a:xfrm>
          <a:prstGeom prst="rect">
            <a:avLst/>
          </a:prstGeom>
          <a:noFill/>
          <a:ln/>
        </p:spPr>
        <p:txBody>
          <a:bodyPr wrap="square" lIns="0" tIns="0" rIns="0" bIns="0" rtlCol="0" anchor="ctr">
            <a:normAutofit/>
          </a:bodyPr>
          <a:lstStyle/>
          <a:p>
            <a:pPr marL="0" indent="0">
              <a:buNone/>
            </a:pPr>
            <a:r>
              <a:rPr lang="en-US" sz="1500" b="1" dirty="0">
                <a:solidFill>
                  <a:srgbClr val="663399"/>
                </a:solidFill>
              </a:rPr>
              <a:t>5 entities</a:t>
            </a:r>
            <a:endParaRPr lang="en-US" sz="1500" dirty="0"/>
          </a:p>
        </p:txBody>
      </p:sp>
      <p:sp>
        <p:nvSpPr>
          <p:cNvPr id="100" name="Text 39"/>
          <p:cNvSpPr/>
          <p:nvPr/>
        </p:nvSpPr>
        <p:spPr>
          <a:xfrm>
            <a:off x="4847844" y="5035809"/>
            <a:ext cx="2322576" cy="347472"/>
          </a:xfrm>
          <a:prstGeom prst="rect">
            <a:avLst/>
          </a:prstGeom>
          <a:noFill/>
          <a:ln/>
        </p:spPr>
        <p:txBody>
          <a:bodyPr wrap="square" lIns="0" tIns="0" rIns="0" bIns="0" rtlCol="0" anchor="ctr">
            <a:normAutofit/>
          </a:bodyPr>
          <a:lstStyle/>
          <a:p>
            <a:pPr marL="0" indent="0">
              <a:buNone/>
            </a:pPr>
            <a:r>
              <a:rPr lang="en-US" sz="660" dirty="0">
                <a:solidFill>
                  <a:srgbClr val="26303A"/>
                </a:solidFill>
              </a:rPr>
              <a:t>Contoso PL, Contoso Armenia AM, Proseware DE, Woodgrove NL and Margie PT show completions with 0 mapped licenses, suggesting admin-data gaps.</a:t>
            </a:r>
            <a:endParaRPr lang="en-US" sz="660" dirty="0"/>
          </a:p>
        </p:txBody>
      </p:sp>
      <p:sp>
        <p:nvSpPr>
          <p:cNvPr id="102" name="Shape 41"/>
          <p:cNvSpPr/>
          <p:nvPr/>
        </p:nvSpPr>
        <p:spPr>
          <a:xfrm>
            <a:off x="7792212" y="3911097"/>
            <a:ext cx="91440" cy="1572768"/>
          </a:xfrm>
          <a:prstGeom prst="rect">
            <a:avLst/>
          </a:prstGeom>
          <a:solidFill>
            <a:srgbClr val="16A085"/>
          </a:solidFill>
          <a:ln w="12700">
            <a:solidFill>
              <a:srgbClr val="16A085"/>
            </a:solidFill>
            <a:prstDash val="solid"/>
          </a:ln>
        </p:spPr>
        <p:txBody>
          <a:bodyPr/>
          <a:lstStyle/>
          <a:p>
            <a:endParaRPr lang="de-AT"/>
          </a:p>
        </p:txBody>
      </p:sp>
      <p:sp>
        <p:nvSpPr>
          <p:cNvPr id="104" name="Text 42"/>
          <p:cNvSpPr/>
          <p:nvPr/>
        </p:nvSpPr>
        <p:spPr>
          <a:xfrm>
            <a:off x="7993380" y="4075689"/>
            <a:ext cx="310896" cy="27432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106" name="Text 43"/>
          <p:cNvSpPr/>
          <p:nvPr/>
        </p:nvSpPr>
        <p:spPr>
          <a:xfrm>
            <a:off x="8414004" y="4093977"/>
            <a:ext cx="2322576" cy="201168"/>
          </a:xfrm>
          <a:prstGeom prst="rect">
            <a:avLst/>
          </a:prstGeom>
          <a:noFill/>
          <a:ln/>
        </p:spPr>
        <p:txBody>
          <a:bodyPr wrap="square" lIns="0" tIns="0" rIns="0" bIns="0" rtlCol="0" anchor="ctr">
            <a:normAutofit/>
          </a:bodyPr>
          <a:lstStyle/>
          <a:p>
            <a:pPr marL="0" indent="0">
              <a:buNone/>
            </a:pPr>
            <a:r>
              <a:rPr lang="en-US" sz="1020" b="1" dirty="0">
                <a:solidFill>
                  <a:srgbClr val="26303A"/>
                </a:solidFill>
              </a:rPr>
              <a:t>Geographic disparity is visible</a:t>
            </a:r>
            <a:endParaRPr lang="en-US" sz="1020" dirty="0"/>
          </a:p>
        </p:txBody>
      </p:sp>
      <p:sp>
        <p:nvSpPr>
          <p:cNvPr id="108" name="Text 44"/>
          <p:cNvSpPr/>
          <p:nvPr/>
        </p:nvSpPr>
        <p:spPr>
          <a:xfrm>
            <a:off x="8414004" y="4414017"/>
            <a:ext cx="2322576" cy="155448"/>
          </a:xfrm>
          <a:prstGeom prst="rect">
            <a:avLst/>
          </a:prstGeom>
          <a:noFill/>
          <a:ln/>
        </p:spPr>
        <p:txBody>
          <a:bodyPr wrap="square" lIns="0" tIns="0" rIns="0" bIns="0" rtlCol="0" anchor="ctr">
            <a:normAutofit/>
          </a:bodyPr>
          <a:lstStyle/>
          <a:p>
            <a:pPr marL="0" indent="0">
              <a:buNone/>
            </a:pPr>
            <a:r>
              <a:rPr lang="en-US" sz="800" b="1" i="1" dirty="0"/>
              <a:t>Country-level adoption differs sharply</a:t>
            </a:r>
            <a:endParaRPr lang="en-US" sz="800" i="1" dirty="0"/>
          </a:p>
        </p:txBody>
      </p:sp>
      <p:sp>
        <p:nvSpPr>
          <p:cNvPr id="110" name="Text 45"/>
          <p:cNvSpPr/>
          <p:nvPr/>
        </p:nvSpPr>
        <p:spPr>
          <a:xfrm>
            <a:off x="8414004" y="4715769"/>
            <a:ext cx="2322576" cy="256032"/>
          </a:xfrm>
          <a:prstGeom prst="rect">
            <a:avLst/>
          </a:prstGeom>
          <a:noFill/>
          <a:ln/>
        </p:spPr>
        <p:txBody>
          <a:bodyPr wrap="square" lIns="0" tIns="0" rIns="0" bIns="0" rtlCol="0" anchor="ctr">
            <a:normAutofit/>
          </a:bodyPr>
          <a:lstStyle/>
          <a:p>
            <a:pPr marL="0" indent="0">
              <a:buNone/>
            </a:pPr>
            <a:r>
              <a:rPr lang="en-US" sz="1500" b="1" dirty="0">
                <a:solidFill>
                  <a:srgbClr val="14736F"/>
                </a:solidFill>
              </a:rPr>
              <a:t>ES 30.5% vs PL 0%</a:t>
            </a:r>
            <a:endParaRPr lang="en-US" sz="1500" dirty="0"/>
          </a:p>
        </p:txBody>
      </p:sp>
      <p:sp>
        <p:nvSpPr>
          <p:cNvPr id="112" name="Text 46"/>
          <p:cNvSpPr/>
          <p:nvPr/>
        </p:nvSpPr>
        <p:spPr>
          <a:xfrm>
            <a:off x="8414004" y="5035809"/>
            <a:ext cx="2322576" cy="347472"/>
          </a:xfrm>
          <a:prstGeom prst="rect">
            <a:avLst/>
          </a:prstGeom>
          <a:noFill/>
          <a:ln/>
        </p:spPr>
        <p:txBody>
          <a:bodyPr wrap="square" lIns="0" tIns="0" rIns="0" bIns="0" rtlCol="0" anchor="ctr">
            <a:normAutofit fontScale="92500" lnSpcReduction="10000"/>
          </a:bodyPr>
          <a:lstStyle/>
          <a:p>
            <a:pPr marL="0" indent="0">
              <a:buNone/>
            </a:pPr>
            <a:r>
              <a:rPr lang="en-US" sz="660" dirty="0">
                <a:solidFill>
                  <a:srgbClr val="26303A"/>
                </a:solidFill>
              </a:rPr>
              <a:t>Spain reaches 30.5% utilization. Germany has the largest PlanTrack pool but learners may also train via Beacon / other channels, so read PlanTrack utilization as one signal only. Poland has 171 licenses and no recorded completions.</a:t>
            </a:r>
            <a:endParaRPr lang="en-US" sz="660" dirty="0"/>
          </a:p>
        </p:txBody>
      </p:sp>
      <p:sp>
        <p:nvSpPr>
          <p:cNvPr id="123"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3" name="Textplatzhalter 2"/>
          <p:cNvSpPr>
            <a:spLocks noGrp="1"/>
          </p:cNvSpPr>
          <p:nvPr/>
        </p:nvSpPr>
        <p:spPr>
          <a:xfrm>
            <a:off x="839788" y="6138665"/>
            <a:ext cx="10514012" cy="263149"/>
          </a:xfrm>
          <a:prstGeom prst="rect">
            <a:avLst/>
          </a:prstGeom>
        </p:spPr>
        <p:txBody>
          <a:bodyPr/>
          <a:lstStyle/>
          <a:p>
            <a:endParaRPr lang="de-AT"/>
          </a:p>
        </p:txBody>
      </p:sp>
      <p:sp>
        <p:nvSpPr>
          <p:cNvPr id="4" name="Titel 3"/>
          <p:cNvSpPr>
            <a:spLocks noGrp="1"/>
          </p:cNvSpPr>
          <p:nvPr/>
        </p:nvSpPr>
        <p:spPr>
          <a:xfrm>
            <a:off x="839788" y="654939"/>
            <a:ext cx="10514012" cy="575542"/>
          </a:xfrm>
          <a:prstGeom prst="rect">
            <a:avLst/>
          </a:prstGeom>
        </p:spPr>
        <p:txBody>
          <a:bodyPr/>
          <a:lstStyle/>
          <a:p>
            <a:r>
              <a:rPr lang="de-AT" err="1" sz="2600">
                <a:solidFill>
                  <a:srgbClr val="F2F3F6"/>
                </a:solidFill>
              </a:rPr>
              <a:t>Upcoming</a:t>
            </a:r>
            <a:r>
              <a:rPr lang="de-AT" sz="2600">
                <a:solidFill>
                  <a:srgbClr val="F2F3F6"/>
                </a:solidFill>
              </a:rPr>
              <a:t> Event</a:t>
            </a:r>
          </a:p>
        </p:txBody>
      </p:sp>
      <p:pic>
        <p:nvPicPr>
          <p:cNvPr id="7" name="Grafik 6"/>
          <p:cNvPicPr>
            <a:picLocks noChangeAspect="1"/>
          </p:cNvPicPr>
          <p:nvPr/>
        </p:nvPicPr>
        <p:blipFill>
          <a:blip r:embed="rId2"/>
          <a:stretch>
            <a:fillRect/>
          </a:stretch>
        </p:blipFill>
        <p:spPr>
          <a:xfrm>
            <a:off x="762014" y="1673883"/>
            <a:ext cx="11190293" cy="3219849"/>
          </a:xfrm>
          <a:prstGeom prst="rect">
            <a:avLst/>
          </a:prstGeom>
        </p:spPr>
      </p:pic>
      <p:sp>
        <p:nvSpPr>
          <p:cNvPr id="8"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3" name="Text Placeholder 2"/>
          <p:cNvSpPr>
            <a:spLocks noGrp="1"/>
          </p:cNvSpPr>
          <p:nvPr/>
        </p:nvSpPr>
        <p:spPr>
          <a:xfrm>
            <a:off x="839788" y="6138665"/>
            <a:ext cx="10514012" cy="263149"/>
          </a:xfrm>
          <a:prstGeom prst="rect">
            <a:avLst/>
          </a:prstGeom>
        </p:spPr>
        <p:txBody>
          <a:bodyPr/>
          <a:lstStyle/>
          <a:p>
            <a:endParaRPr lang="de-AT"/>
          </a:p>
        </p:txBody>
      </p:sp>
      <p:sp>
        <p:nvSpPr>
          <p:cNvPr id="4" name="Title 3"/>
          <p:cNvSpPr>
            <a:spLocks noGrp="1"/>
          </p:cNvSpPr>
          <p:nvPr/>
        </p:nvSpPr>
        <p:spPr>
          <a:xfrm>
            <a:off x="876314" y="456186"/>
            <a:ext cx="10514012" cy="575542"/>
          </a:xfrm>
          <a:prstGeom prst="rect">
            <a:avLst/>
          </a:prstGeom>
        </p:spPr>
        <p:txBody>
          <a:bodyPr/>
          <a:lstStyle/>
          <a:p>
            <a:r>
              <a:rPr lang="en-US" sz="2600">
                <a:solidFill>
                  <a:srgbClr val="F2F3F6"/>
                </a:solidFill>
              </a:rPr>
              <a:t>Links for Internal Databricks Sources</a:t>
            </a:r>
            <a:endParaRPr lang="de-AT"/>
          </a:p>
        </p:txBody>
      </p:sp>
      <p:sp>
        <p:nvSpPr>
          <p:cNvPr id="5" name="Date Placeholder 4"/>
          <p:cNvSpPr>
            <a:spLocks noGrp="1"/>
          </p:cNvSpPr>
          <p:nvPr/>
        </p:nvSpPr>
        <p:spPr>
          <a:xfrm>
            <a:off x="11063125" y="181996"/>
            <a:ext cx="873637" cy="153888"/>
          </a:xfrm>
          <a:prstGeom prst="rect">
            <a:avLst/>
          </a:prstGeom>
        </p:spPr>
        <p:txBody>
          <a:bodyPr/>
          <a:lstStyle/>
          <a:p>
            <a:r>
              <a:rPr lang="de-DE" sz="900">
                <a:solidFill>
                  <a:srgbClr val="9aa1b2"/>
                </a:solidFill>
              </a:rPr>
              <a:t>Demo data</a:t>
            </a:r>
            <a:endParaRPr lang="en-GB"/>
          </a:p>
        </p:txBody>
      </p:sp>
      <p:sp>
        <p:nvSpPr>
          <p:cNvPr id="6" name="Footer Placeholder 5"/>
          <p:cNvSpPr>
            <a:spLocks noGrp="1"/>
          </p:cNvSpPr>
          <p:nvPr/>
        </p:nvSpPr>
        <p:spPr>
          <a:xfrm>
            <a:off x="1436787" y="6583761"/>
            <a:ext cx="6953250" cy="36933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aa1b2"/>
                </a:solidFill>
                <a:effectLst/>
                <a:uLnTx/>
                <a:uFillTx/>
                <a:latin typeface="Roboto Light"/>
                <a:ea typeface="+mn-ea"/>
                <a:cs typeface="+mn-cs"/>
              </a:rPr>
              <a:t>Data &amp; AI @ Contoso</a:t>
            </a:r>
          </a:p>
          <a:p>
            <a:endParaRPr lang="en-GB"/>
          </a:p>
        </p:txBody>
      </p:sp>
      <p:sp>
        <p:nvSpPr>
          <p:cNvPr id="7" name="Slide Number Placeholder 6"/>
          <p:cNvSpPr>
            <a:spLocks noGrp="1"/>
          </p:cNvSpPr>
          <p:nvPr/>
        </p:nvSpPr>
        <p:spPr>
          <a:xfrm>
            <a:off x="839788" y="6587737"/>
            <a:ext cx="347662" cy="184666"/>
          </a:xfrm>
          <a:prstGeom prst="rect">
            <a:avLst/>
          </a:prstGeom>
        </p:spPr>
        <p:txBody>
          <a:bodyPr/>
          <a:lstStyle/>
          <a:p>
            <a:pPr algn="l"/>
            <a:fld id="{64E38502-06D2-4E51-82FE-464E052045F9}" type="slidenum">
              <a:rPr lang="en-GB" smtClean="0">
                <a:solidFill>
                  <a:srgbClr val="E8ECF4"/>
                </a:solidFill>
              </a:rPr>
              <a:pPr algn="l"/>
              <a:t>25</a:t>
            </a:fld>
            <a:endParaRPr lang="en-GB"/>
          </a:p>
        </p:txBody>
      </p:sp>
      <p:sp>
        <p:nvSpPr>
          <p:cNvPr id="33" name="Shape 23"/>
          <p:cNvSpPr/>
          <p:nvPr/>
        </p:nvSpPr>
        <p:spPr>
          <a:xfrm>
            <a:off x="831686" y="5766641"/>
            <a:ext cx="6313706" cy="332882"/>
          </a:xfrm>
          <a:prstGeom prst="roundRect">
            <a:avLst>
              <a:gd name="adj" fmla="val 25862"/>
            </a:avLst>
          </a:prstGeom>
          <a:solidFill>
            <a:srgbClr val="FFFFFF"/>
          </a:solidFill>
          <a:ln w="10160">
            <a:solidFill>
              <a:srgbClr val="DDE4E6"/>
            </a:solidFill>
            <a:prstDash val="solid"/>
          </a:ln>
        </p:spPr>
        <p:txBody>
          <a:bodyPr/>
          <a:lstStyle/>
          <a:p>
            <a:r>
              <a:rPr lang="en-US" sz="900" i="1"/>
              <a:t>Access to these links is restricted to the Analytics Team only</a:t>
            </a:r>
            <a:endParaRPr lang="de-AT" sz="900" i="1"/>
          </a:p>
        </p:txBody>
      </p:sp>
      <p:sp>
        <p:nvSpPr>
          <p:cNvPr id="34" name="Shape 24"/>
          <p:cNvSpPr/>
          <p:nvPr/>
        </p:nvSpPr>
        <p:spPr>
          <a:xfrm>
            <a:off x="839788" y="5804443"/>
            <a:ext cx="73053" cy="296597"/>
          </a:xfrm>
          <a:prstGeom prst="rect">
            <a:avLst/>
          </a:prstGeom>
          <a:solidFill>
            <a:srgbClr val="E4002B"/>
          </a:solidFill>
          <a:ln w="12700">
            <a:solidFill>
              <a:srgbClr val="E4002B"/>
            </a:solidFill>
            <a:prstDash val="solid"/>
          </a:ln>
        </p:spPr>
        <p:txBody>
          <a:bodyPr/>
          <a:lstStyle/>
          <a:p>
            <a:endParaRPr lang="de-AT"/>
          </a:p>
        </p:txBody>
      </p:sp>
      <p:sp>
        <p:nvSpPr>
          <p:cNvPr id="35" name="Text 25"/>
          <p:cNvSpPr/>
          <p:nvPr/>
        </p:nvSpPr>
        <p:spPr>
          <a:xfrm>
            <a:off x="1015902" y="5664981"/>
            <a:ext cx="6862102" cy="612385"/>
          </a:xfrm>
          <a:prstGeom prst="rect">
            <a:avLst/>
          </a:prstGeom>
          <a:noFill/>
          <a:ln/>
        </p:spPr>
        <p:txBody>
          <a:bodyPr wrap="square" lIns="0" tIns="0" rIns="0" bIns="0" rtlCol="0" anchor="ctr">
            <a:noAutofit/>
          </a:bodyPr>
          <a:lstStyle/>
          <a:p>
            <a:endParaRPr lang="en-US" sz="1100"/>
          </a:p>
        </p:txBody>
      </p:sp>
      <p:grpSp>
        <p:nvGrpSpPr>
          <p:cNvPr id="22" name="Group 21"/>
          <p:cNvGrpSpPr/>
          <p:nvPr/>
        </p:nvGrpSpPr>
        <p:grpSpPr>
          <a:xfrm>
            <a:off x="1658621" y="2479160"/>
            <a:ext cx="8338913" cy="2212072"/>
            <a:chOff x="831686" y="2447392"/>
            <a:chExt cx="8338913" cy="2212072"/>
          </a:xfrm>
        </p:grpSpPr>
        <p:sp>
          <p:nvSpPr>
            <p:cNvPr id="2" name="Shape 19"/>
            <p:cNvSpPr/>
            <p:nvPr/>
          </p:nvSpPr>
          <p:spPr>
            <a:xfrm>
              <a:off x="5120184" y="2447392"/>
              <a:ext cx="4050415" cy="2212071"/>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pPr algn="ctr"/>
              <a:endParaRPr lang="en-US"/>
            </a:p>
            <a:p>
              <a:pPr algn="ctr"/>
              <a:endParaRPr lang="en-US"/>
            </a:p>
            <a:p>
              <a:pPr algn="ctr"/>
              <a:endParaRPr lang="en-US"/>
            </a:p>
            <a:p>
              <a:pPr algn="ctr"/>
              <a:r>
                <a:rPr lang="en-US" b="1">
                  <a:solidFill>
                    <a:srgbClr val="E66D00"/>
                  </a:solidFill>
                </a:rPr>
                <a:t>Genie Space – Ask Questions</a:t>
              </a:r>
            </a:p>
            <a:p>
              <a:pPr algn="ctr"/>
              <a:endParaRPr lang="en-US"/>
            </a:p>
            <a:p>
              <a:pPr algn="ctr"/>
              <a:r>
                <a:rPr lang="en-US"/>
                <a:t>Analytics Genie Space</a:t>
              </a:r>
              <a:endParaRPr lang="de-AT"/>
            </a:p>
          </p:txBody>
        </p:sp>
        <p:sp>
          <p:nvSpPr>
            <p:cNvPr id="28" name="Shape 19"/>
            <p:cNvSpPr/>
            <p:nvPr/>
          </p:nvSpPr>
          <p:spPr>
            <a:xfrm>
              <a:off x="831686" y="2447393"/>
              <a:ext cx="4050415" cy="2212071"/>
            </a:xfrm>
            <a:prstGeom prst="roundRect">
              <a:avLst>
                <a:gd name="adj" fmla="val 5424"/>
              </a:avLst>
            </a:prstGeom>
            <a:solidFill>
              <a:srgbClr val="FFFFFF"/>
            </a:solidFill>
            <a:ln w="10160">
              <a:solidFill>
                <a:srgbClr val="E3E7EA"/>
              </a:solidFill>
              <a:prstDash val="solid"/>
            </a:ln>
            <a:effectLst>
              <a:outerShdw blurRad="13970" dist="50800" dir="2700000" algn="bl" rotWithShape="0">
                <a:srgbClr val="B6BDC1">
                  <a:alpha val="12000"/>
                </a:srgbClr>
              </a:outerShdw>
            </a:effectLst>
          </p:spPr>
          <p:txBody>
            <a:bodyPr/>
            <a:lstStyle/>
            <a:p>
              <a:pPr algn="ctr"/>
              <a:endParaRPr lang="en-US"/>
            </a:p>
            <a:p>
              <a:pPr algn="ctr"/>
              <a:r>
                <a:rPr lang="en-US" b="1">
                  <a:solidFill>
                    <a:srgbClr val="E66D00"/>
                  </a:solidFill>
                </a:rPr>
                <a:t>Dashboards</a:t>
              </a:r>
            </a:p>
            <a:p>
              <a:pPr algn="ctr"/>
              <a:endParaRPr lang="en-US"/>
            </a:p>
            <a:p>
              <a:pPr algn="ctr"/>
              <a:r>
                <a:rPr lang="en-US"/>
                <a:t>Data and AI Community</a:t>
              </a:r>
              <a:endParaRPr lang="en-US"/>
            </a:p>
            <a:p>
              <a:pPr algn="ctr"/>
              <a:r>
                <a:rPr lang="en-US"/>
                <a:t>Learnings/Trainings</a:t>
              </a:r>
              <a:endParaRPr lang="en-US"/>
            </a:p>
            <a:p>
              <a:pPr algn="ctr"/>
              <a:r>
                <a:rPr lang="en-US"/>
                <a:t> </a:t>
              </a:r>
              <a:r>
                <a:rPr lang="en-US"/>
                <a:t>Community Events</a:t>
              </a:r>
              <a:endParaRPr lang="en-US"/>
            </a:p>
            <a:p>
              <a:pPr algn="ctr"/>
              <a:r>
                <a:rPr lang="en-US"/>
                <a:t>Databricks Trainings and Community</a:t>
              </a:r>
              <a:endParaRPr lang="en-US"/>
            </a:p>
            <a:p>
              <a:endParaRPr lang="en-US"/>
            </a:p>
          </p:txBody>
        </p:sp>
      </p:grpSp>
      <p:sp>
        <p:nvSpPr>
          <p:cNvPr id="36" name="brand footer"/>
          <p:cNvSpPr txBox="1"/>
          <p:nvPr/>
        </p:nvSpPr>
        <p:spPr>
          <a:xfrm>
            <a:off x="9300000" y="6540000"/>
            <a:ext cx="2400000" cy="250000"/>
          </a:xfrm>
          <a:prstGeom prst="rect">
            <a:avLst/>
          </a:prstGeom>
          <a:noFill/>
        </p:spPr>
        <p:txBody>
          <a:bodyPr wrap="none">
            <a:spAutoFit/>
          </a:bodyPr>
          <a:lstStyle/>
          <a:p>
            <a:pPr algn="r"/>
            <a:r>
              <a:rPr sz="900">
                <a:solidFill>
                  <a:srgbClr val="95A1B8"/>
                </a:solidFill>
              </a:rPr>
              <a:t>Contoso Group · demo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and AI KPI Overview (demo)</dc:title>
  <dc:subject/>
  <dc:creator>Demo</dc:creator>
  <cp:keywords/>
  <dc:description/>
  <cp:lastModifiedBy>Demo</cp:lastModifiedBy>
  <cp:revision>1</cp:revision>
  <dcterms:created xsi:type="dcterms:W3CDTF">2013-01-27T09:14:16Z</dcterms:created>
  <dcterms:modified xsi:type="dcterms:W3CDTF">2013-01-27T09:15:58Z</dcterms:modified>
  <cp:category/>
</cp:coreProperties>
</file>