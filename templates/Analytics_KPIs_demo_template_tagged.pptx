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937"/>
                </a:solidFill>
              </a:rPr>
              <a:t>Analytics 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</a:rPr>
              <a:t>Fictional demo deck — Contoso Group</a:t>
            </a:r>
          </a:p>
        </p:txBody>
      </p:sp>
      <p:sp>
        <p:nvSpPr>
          <p:cNvPr id="4" name="kpi:report_month_label"/>
          <p:cNvSpPr txBox="1"/>
          <p:nvPr/>
        </p:nvSpPr>
        <p:spPr>
          <a:xfrm>
            <a:off x="731520" y="4023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D9CDB"/>
                </a:solidFill>
              </a:rPr>
              <a:t>June 2026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Analytics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Total learners</a:t>
            </a:r>
          </a:p>
        </p:txBody>
      </p:sp>
      <p:sp>
        <p:nvSpPr>
          <p:cNvPr id="4" name="kpi:academy_total_learners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Countries</a:t>
            </a:r>
          </a:p>
        </p:txBody>
      </p:sp>
      <p:sp>
        <p:nvSpPr>
          <p:cNvPr id="6" name="kpi:academy_countries"/>
          <p:cNvSpPr txBox="1"/>
          <p:nvPr/>
        </p:nvSpPr>
        <p:spPr>
          <a:xfrm>
            <a:off x="423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Companies</a:t>
            </a:r>
          </a:p>
        </p:txBody>
      </p:sp>
      <p:sp>
        <p:nvSpPr>
          <p:cNvPr id="8" name="kpi:academy_companies"/>
          <p:cNvSpPr txBox="1"/>
          <p:nvPr/>
        </p:nvSpPr>
        <p:spPr>
          <a:xfrm>
            <a:off x="792479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9</a:t>
            </a:r>
          </a:p>
        </p:txBody>
      </p:sp>
      <p:pic>
        <p:nvPicPr>
          <p:cNvPr id="9" name="chart:academy_learners_by_country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108960"/>
          </a:xfrm>
          <a:prstGeom prst="rect">
            <a:avLst/>
          </a:prstGeom>
        </p:spPr>
      </p:pic>
      <p:pic>
        <p:nvPicPr>
          <p:cNvPr id="10" name="chart:academy_learners_by_languag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6517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Databricks Trainings and Lakehouse Guild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Training participants</a:t>
            </a:r>
          </a:p>
        </p:txBody>
      </p:sp>
      <p:sp>
        <p:nvSpPr>
          <p:cNvPr id="4" name="kpi:db_participants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Guild members</a:t>
            </a:r>
          </a:p>
        </p:txBody>
      </p:sp>
      <p:sp>
        <p:nvSpPr>
          <p:cNvPr id="6" name="kpi:db_guild_members"/>
          <p:cNvSpPr txBox="1"/>
          <p:nvPr/>
        </p:nvSpPr>
        <p:spPr>
          <a:xfrm>
            <a:off x="423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Training coverage</a:t>
            </a:r>
          </a:p>
        </p:txBody>
      </p:sp>
      <p:sp>
        <p:nvSpPr>
          <p:cNvPr id="8" name="kpi:db_training_coverage"/>
          <p:cNvSpPr txBox="1"/>
          <p:nvPr/>
        </p:nvSpPr>
        <p:spPr>
          <a:xfrm>
            <a:off x="792479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0.30%</a:t>
            </a:r>
          </a:p>
        </p:txBody>
      </p:sp>
      <p:pic>
        <p:nvPicPr>
          <p:cNvPr id="9" name="chart:db_training_participation_country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108960"/>
          </a:xfrm>
          <a:prstGeom prst="rect">
            <a:avLst/>
          </a:prstGeom>
        </p:spPr>
      </p:pic>
      <p:pic>
        <p:nvPicPr>
          <p:cNvPr id="10" name="chart:db_guild_participation_countr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6517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Analytics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Total registrations</a:t>
            </a:r>
          </a:p>
        </p:txBody>
      </p:sp>
      <p:sp>
        <p:nvSpPr>
          <p:cNvPr id="4" name="kpi:community_total_registrations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Teams members</a:t>
            </a:r>
          </a:p>
        </p:txBody>
      </p:sp>
      <p:sp>
        <p:nvSpPr>
          <p:cNvPr id="6" name="kpi:community_teams_members"/>
          <p:cNvSpPr txBox="1"/>
          <p:nvPr/>
        </p:nvSpPr>
        <p:spPr>
          <a:xfrm>
            <a:off x="423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Countries</a:t>
            </a:r>
          </a:p>
        </p:txBody>
      </p:sp>
      <p:sp>
        <p:nvSpPr>
          <p:cNvPr id="8" name="kpi:community_countries_represented"/>
          <p:cNvSpPr txBox="1"/>
          <p:nvPr/>
        </p:nvSpPr>
        <p:spPr>
          <a:xfrm>
            <a:off x="792479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6</a:t>
            </a:r>
          </a:p>
        </p:txBody>
      </p:sp>
      <p:pic>
        <p:nvPicPr>
          <p:cNvPr id="9" name="chart:community_top_entitie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108960"/>
          </a:xfrm>
          <a:prstGeom prst="rect">
            <a:avLst/>
          </a:prstGeom>
        </p:spPr>
      </p:pic>
      <p:pic>
        <p:nvPicPr>
          <p:cNvPr id="10" name="chart:community_geographic_footpri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6517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Community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Events</a:t>
            </a:r>
          </a:p>
        </p:txBody>
      </p:sp>
      <p:sp>
        <p:nvSpPr>
          <p:cNvPr id="4" name="kpi:events_count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Total participants</a:t>
            </a:r>
          </a:p>
        </p:txBody>
      </p:sp>
      <p:sp>
        <p:nvSpPr>
          <p:cNvPr id="6" name="kpi:events_total_participants"/>
          <p:cNvSpPr txBox="1"/>
          <p:nvPr/>
        </p:nvSpPr>
        <p:spPr>
          <a:xfrm>
            <a:off x="423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Unique participants</a:t>
            </a:r>
          </a:p>
        </p:txBody>
      </p:sp>
      <p:sp>
        <p:nvSpPr>
          <p:cNvPr id="8" name="kpi:events_unique_participants"/>
          <p:cNvSpPr txBox="1"/>
          <p:nvPr/>
        </p:nvSpPr>
        <p:spPr>
          <a:xfrm>
            <a:off x="792479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160</a:t>
            </a:r>
          </a:p>
        </p:txBody>
      </p:sp>
      <p:pic>
        <p:nvPicPr>
          <p:cNvPr id="9" name="chart:events_participants_per_even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108960"/>
          </a:xfrm>
          <a:prstGeom prst="rect">
            <a:avLst/>
          </a:prstGeom>
        </p:spPr>
      </p:pic>
      <p:pic>
        <p:nvPicPr>
          <p:cNvPr id="10" name="chart:events_participation_country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6517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Notes (maintained by hand)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</a:rPr>
              <a:t>This slide is listed under manual_slides in config/deck_layout.json,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</a:rPr>
              <a:t>so even its tagged shapes are never refreshed.</a:t>
            </a:r>
          </a:p>
        </p:txBody>
      </p:sp>
      <p:sp>
        <p:nvSpPr>
          <p:cNvPr id="5" name="kpi:group_employees"/>
          <p:cNvSpPr txBox="1"/>
          <p:nvPr/>
        </p:nvSpPr>
        <p:spPr>
          <a:xfrm>
            <a:off x="548640" y="2560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D9CDB"/>
                </a:solidFill>
              </a:rPr>
              <a:t>Edited by hand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